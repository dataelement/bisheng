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123A6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4303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EE8"/>
            </a:solidFill>
          </a:ln>
        </c:spPr>
        <c:txPr>
          <a:bodyPr/>
          <a:lstStyle/>
          <a:p>
            <a:pPr>
              <a:defRPr sz="1000">
                <a:solidFill>
                  <a:srgbClr val="5F6B7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5DE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F6B7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F6B7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architecture（分层架构）：系统或组织的分层结构，自下而上。页面上的文字均为示例，使用时整体替换。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risk-register（风险登记）：主要风险、等级、应对措施与责任人。页面上的文字均为示例，使用时整体替换。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kicker"/>
          <p:cNvSpPr txBox="1"/>
          <p:nvPr/>
        </p:nvSpPr>
        <p:spPr>
          <a:xfrm>
            <a:off x="914400" y="1498600"/>
            <a:ext cx="787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39A2D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15" name="deco.tab"/>
          <p:cNvSpPr/>
          <p:nvPr/>
        </p:nvSpPr>
        <p:spPr>
          <a:xfrm>
            <a:off x="914400" y="1854200"/>
            <a:ext cx="558800" cy="63500"/>
          </a:xfrm>
          <a:prstGeom prst="rect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itle"/>
          <p:cNvSpPr txBox="1"/>
          <p:nvPr/>
        </p:nvSpPr>
        <p:spPr>
          <a:xfrm>
            <a:off x="914400" y="2057400"/>
            <a:ext cx="787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示例：主标题写一句核心判断或文稿名称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914400" y="3886200"/>
            <a:ext cx="787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C9DE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18" name="org"/>
          <p:cNvSpPr txBox="1"/>
          <p:nvPr/>
        </p:nvSpPr>
        <p:spPr>
          <a:xfrm>
            <a:off x="914400" y="58674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19" name="date"/>
          <p:cNvSpPr txBox="1"/>
          <p:nvPr/>
        </p:nvSpPr>
        <p:spPr>
          <a:xfrm>
            <a:off x="914400" y="6197600"/>
            <a:ext cx="660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B8C9DE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39A2D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23A6B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C7043F9-9E05-511C-8ADA-44367FEA71C7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1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B8C9DE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B8C9DE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18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C86DC308-465F-50B7-B3E8-CEE62F495BEA}" type="slidenum">
              <a:rPr lang="zh-CN" sz="1000">
                <a:solidFill>
                  <a:srgbClr val="B8C9DE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核心观点</a:t>
            </a:r>
          </a:p>
        </p:txBody>
      </p:sp>
      <p:cxnSp>
        <p:nvCxnSpPr>
          <p:cNvPr id="3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8C80EE08-C123-53B8-BD35-0523C4E2CBBB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4303F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F6B7A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70769519-AA6C-55E4-A5F2-3BE0E25FCF09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7E0B6E4-9F08-5DAD-A1A8-96959B0CEA23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F6B7A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8748B65-304A-5AD3-974C-1D41442544A3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C6E8BDC6-0300-50D3-B14B-D912D7BECB48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C4BE9CF-E6C2-5098-8EDA-FE5608DF8627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CCC1D6F-E632-5173-8D38-348CC94325A2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E39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0F4976D-EA66-58C4-B60A-9F6FE9EC94C1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5943F2A-FAAF-56D7-94C4-B9B041325DFC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F9FB96F5-10DB-52DF-A899-916C9A5CEED0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示例：总体架构分四层，自下而上支撑业务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C34E621-F48A-5079-B147-52840DBB815F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ayer1.box"/>
          <p:cNvSpPr/>
          <p:nvPr/>
        </p:nvSpPr>
        <p:spPr>
          <a:xfrm>
            <a:off x="609600" y="14986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ayer1.name"/>
          <p:cNvSpPr txBox="1"/>
          <p:nvPr/>
        </p:nvSpPr>
        <p:spPr>
          <a:xfrm>
            <a:off x="762000" y="14986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示例：应用层</a:t>
            </a:r>
          </a:p>
        </p:txBody>
      </p:sp>
      <p:sp>
        <p:nvSpPr>
          <p:cNvPr id="9" name="layer1.c1bg"/>
          <p:cNvSpPr/>
          <p:nvPr/>
        </p:nvSpPr>
        <p:spPr>
          <a:xfrm>
            <a:off x="2717800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layer1.c1"/>
          <p:cNvSpPr txBox="1"/>
          <p:nvPr/>
        </p:nvSpPr>
        <p:spPr>
          <a:xfrm>
            <a:off x="2870200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11" name="layer1.c2bg"/>
          <p:cNvSpPr/>
          <p:nvPr/>
        </p:nvSpPr>
        <p:spPr>
          <a:xfrm>
            <a:off x="5723466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ayer1.c2"/>
          <p:cNvSpPr txBox="1"/>
          <p:nvPr/>
        </p:nvSpPr>
        <p:spPr>
          <a:xfrm>
            <a:off x="5875866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13" name="layer1.c3bg"/>
          <p:cNvSpPr/>
          <p:nvPr/>
        </p:nvSpPr>
        <p:spPr>
          <a:xfrm>
            <a:off x="8729133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ayer1.c3"/>
          <p:cNvSpPr txBox="1"/>
          <p:nvPr/>
        </p:nvSpPr>
        <p:spPr>
          <a:xfrm>
            <a:off x="8881533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15" name="layer2.box"/>
          <p:cNvSpPr/>
          <p:nvPr/>
        </p:nvSpPr>
        <p:spPr>
          <a:xfrm>
            <a:off x="609600" y="26162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ayer2.name"/>
          <p:cNvSpPr txBox="1"/>
          <p:nvPr/>
        </p:nvSpPr>
        <p:spPr>
          <a:xfrm>
            <a:off x="762000" y="26162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示例：服务层</a:t>
            </a:r>
          </a:p>
        </p:txBody>
      </p:sp>
      <p:sp>
        <p:nvSpPr>
          <p:cNvPr id="17" name="layer2.c1bg"/>
          <p:cNvSpPr/>
          <p:nvPr/>
        </p:nvSpPr>
        <p:spPr>
          <a:xfrm>
            <a:off x="2717800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layer2.c1"/>
          <p:cNvSpPr txBox="1"/>
          <p:nvPr/>
        </p:nvSpPr>
        <p:spPr>
          <a:xfrm>
            <a:off x="2870200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19" name="layer2.c2bg"/>
          <p:cNvSpPr/>
          <p:nvPr/>
        </p:nvSpPr>
        <p:spPr>
          <a:xfrm>
            <a:off x="5723466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ayer2.c2"/>
          <p:cNvSpPr txBox="1"/>
          <p:nvPr/>
        </p:nvSpPr>
        <p:spPr>
          <a:xfrm>
            <a:off x="5875866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21" name="layer2.c3bg"/>
          <p:cNvSpPr/>
          <p:nvPr/>
        </p:nvSpPr>
        <p:spPr>
          <a:xfrm>
            <a:off x="8729133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layer2.c3"/>
          <p:cNvSpPr txBox="1"/>
          <p:nvPr/>
        </p:nvSpPr>
        <p:spPr>
          <a:xfrm>
            <a:off x="8881533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23" name="layer3.box"/>
          <p:cNvSpPr/>
          <p:nvPr/>
        </p:nvSpPr>
        <p:spPr>
          <a:xfrm>
            <a:off x="609600" y="37338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layer3.name"/>
          <p:cNvSpPr txBox="1"/>
          <p:nvPr/>
        </p:nvSpPr>
        <p:spPr>
          <a:xfrm>
            <a:off x="762000" y="37338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示例：数据层</a:t>
            </a:r>
          </a:p>
        </p:txBody>
      </p:sp>
      <p:sp>
        <p:nvSpPr>
          <p:cNvPr id="25" name="layer3.c1bg"/>
          <p:cNvSpPr/>
          <p:nvPr/>
        </p:nvSpPr>
        <p:spPr>
          <a:xfrm>
            <a:off x="2717800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layer3.c1"/>
          <p:cNvSpPr txBox="1"/>
          <p:nvPr/>
        </p:nvSpPr>
        <p:spPr>
          <a:xfrm>
            <a:off x="2870200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27" name="layer3.c2bg"/>
          <p:cNvSpPr/>
          <p:nvPr/>
        </p:nvSpPr>
        <p:spPr>
          <a:xfrm>
            <a:off x="5723466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layer3.c2"/>
          <p:cNvSpPr txBox="1"/>
          <p:nvPr/>
        </p:nvSpPr>
        <p:spPr>
          <a:xfrm>
            <a:off x="5875866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29" name="layer3.c3bg"/>
          <p:cNvSpPr/>
          <p:nvPr/>
        </p:nvSpPr>
        <p:spPr>
          <a:xfrm>
            <a:off x="8729133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layer3.c3"/>
          <p:cNvSpPr txBox="1"/>
          <p:nvPr/>
        </p:nvSpPr>
        <p:spPr>
          <a:xfrm>
            <a:off x="8881533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31" name="layer4.box"/>
          <p:cNvSpPr/>
          <p:nvPr/>
        </p:nvSpPr>
        <p:spPr>
          <a:xfrm>
            <a:off x="609600" y="48514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layer4.name"/>
          <p:cNvSpPr txBox="1"/>
          <p:nvPr/>
        </p:nvSpPr>
        <p:spPr>
          <a:xfrm>
            <a:off x="762000" y="48514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示例：基础设施</a:t>
            </a:r>
          </a:p>
        </p:txBody>
      </p:sp>
      <p:sp>
        <p:nvSpPr>
          <p:cNvPr id="33" name="layer4.c1bg"/>
          <p:cNvSpPr/>
          <p:nvPr/>
        </p:nvSpPr>
        <p:spPr>
          <a:xfrm>
            <a:off x="2717800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layer4.c1"/>
          <p:cNvSpPr txBox="1"/>
          <p:nvPr/>
        </p:nvSpPr>
        <p:spPr>
          <a:xfrm>
            <a:off x="2870200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35" name="layer4.c2bg"/>
          <p:cNvSpPr/>
          <p:nvPr/>
        </p:nvSpPr>
        <p:spPr>
          <a:xfrm>
            <a:off x="5723466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layer4.c2"/>
          <p:cNvSpPr txBox="1"/>
          <p:nvPr/>
        </p:nvSpPr>
        <p:spPr>
          <a:xfrm>
            <a:off x="5875866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37" name="layer4.c3bg"/>
          <p:cNvSpPr/>
          <p:nvPr/>
        </p:nvSpPr>
        <p:spPr>
          <a:xfrm>
            <a:off x="8729133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layer4.c3"/>
          <p:cNvSpPr txBox="1"/>
          <p:nvPr/>
        </p:nvSpPr>
        <p:spPr>
          <a:xfrm>
            <a:off x="8881533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示例：主要风险可控，两项需要重点盯防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C183AD3-8013-53EF-9835-C5707B962D63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deco.h48"/>
          <p:cNvSpPr txBox="1"/>
          <p:nvPr/>
        </p:nvSpPr>
        <p:spPr>
          <a:xfrm>
            <a:off x="609600" y="14986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等级</a:t>
            </a:r>
          </a:p>
        </p:txBody>
      </p:sp>
      <p:sp>
        <p:nvSpPr>
          <p:cNvPr id="8" name="deco.h132"/>
          <p:cNvSpPr txBox="1"/>
          <p:nvPr/>
        </p:nvSpPr>
        <p:spPr>
          <a:xfrm>
            <a:off x="1676400" y="1498600"/>
            <a:ext cx="355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风险</a:t>
            </a:r>
          </a:p>
        </p:txBody>
      </p:sp>
      <p:sp>
        <p:nvSpPr>
          <p:cNvPr id="9" name="deco.h436"/>
          <p:cNvSpPr txBox="1"/>
          <p:nvPr/>
        </p:nvSpPr>
        <p:spPr>
          <a:xfrm>
            <a:off x="5537200" y="14986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应对措施</a:t>
            </a:r>
          </a:p>
        </p:txBody>
      </p:sp>
      <p:sp>
        <p:nvSpPr>
          <p:cNvPr id="10" name="deco.h780"/>
          <p:cNvSpPr txBox="1"/>
          <p:nvPr/>
        </p:nvSpPr>
        <p:spPr>
          <a:xfrm>
            <a:off x="9906000" y="149860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责任人</a:t>
            </a:r>
          </a:p>
        </p:txBody>
      </p:sp>
      <p:cxnSp>
        <p:nvCxnSpPr>
          <p:cNvPr id="11" name="deco.head"/>
          <p:cNvCxnSpPr/>
          <p:nvPr/>
        </p:nvCxnSpPr>
        <p:spPr>
          <a:xfrm>
            <a:off x="609600" y="1828800"/>
            <a:ext cx="10972800" cy="0"/>
          </a:xfrm>
          <a:prstGeom prst="line">
            <a:avLst/>
          </a:prstGeom>
          <a:ln w="15875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sk1.pill"/>
          <p:cNvSpPr/>
          <p:nvPr/>
        </p:nvSpPr>
        <p:spPr>
          <a:xfrm>
            <a:off x="609600" y="21082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sk1.level"/>
          <p:cNvSpPr txBox="1"/>
          <p:nvPr/>
        </p:nvSpPr>
        <p:spPr>
          <a:xfrm>
            <a:off x="609600" y="21082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高</a:t>
            </a:r>
          </a:p>
        </p:txBody>
      </p:sp>
      <p:sp>
        <p:nvSpPr>
          <p:cNvPr id="14" name="risk1.title"/>
          <p:cNvSpPr txBox="1"/>
          <p:nvPr/>
        </p:nvSpPr>
        <p:spPr>
          <a:xfrm>
            <a:off x="1676400" y="20574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示例：风险事项一</a:t>
            </a:r>
          </a:p>
        </p:txBody>
      </p:sp>
      <p:sp>
        <p:nvSpPr>
          <p:cNvPr id="15" name="risk1.desc"/>
          <p:cNvSpPr txBox="1"/>
          <p:nvPr/>
        </p:nvSpPr>
        <p:spPr>
          <a:xfrm>
            <a:off x="1676400" y="2413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16" name="risk1.measure"/>
          <p:cNvSpPr txBox="1"/>
          <p:nvPr/>
        </p:nvSpPr>
        <p:spPr>
          <a:xfrm>
            <a:off x="5537200" y="20574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17" name="risk1.owner"/>
          <p:cNvSpPr txBox="1"/>
          <p:nvPr/>
        </p:nvSpPr>
        <p:spPr>
          <a:xfrm>
            <a:off x="9906000" y="20574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18" name="risk1.rule"/>
          <p:cNvCxnSpPr/>
          <p:nvPr/>
        </p:nvCxnSpPr>
        <p:spPr>
          <a:xfrm>
            <a:off x="609600" y="28956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isk2.pill"/>
          <p:cNvSpPr/>
          <p:nvPr/>
        </p:nvSpPr>
        <p:spPr>
          <a:xfrm>
            <a:off x="609600" y="30988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isk2.level"/>
          <p:cNvSpPr txBox="1"/>
          <p:nvPr/>
        </p:nvSpPr>
        <p:spPr>
          <a:xfrm>
            <a:off x="609600" y="30988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高</a:t>
            </a:r>
          </a:p>
        </p:txBody>
      </p:sp>
      <p:sp>
        <p:nvSpPr>
          <p:cNvPr id="21" name="risk2.title"/>
          <p:cNvSpPr txBox="1"/>
          <p:nvPr/>
        </p:nvSpPr>
        <p:spPr>
          <a:xfrm>
            <a:off x="1676400" y="30480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示例：风险事项二</a:t>
            </a:r>
          </a:p>
        </p:txBody>
      </p:sp>
      <p:sp>
        <p:nvSpPr>
          <p:cNvPr id="22" name="risk2.desc"/>
          <p:cNvSpPr txBox="1"/>
          <p:nvPr/>
        </p:nvSpPr>
        <p:spPr>
          <a:xfrm>
            <a:off x="1676400" y="3403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23" name="risk2.measure"/>
          <p:cNvSpPr txBox="1"/>
          <p:nvPr/>
        </p:nvSpPr>
        <p:spPr>
          <a:xfrm>
            <a:off x="5537200" y="30480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24" name="risk2.owner"/>
          <p:cNvSpPr txBox="1"/>
          <p:nvPr/>
        </p:nvSpPr>
        <p:spPr>
          <a:xfrm>
            <a:off x="9906000" y="30480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25" name="risk2.rule"/>
          <p:cNvCxnSpPr/>
          <p:nvPr/>
        </p:nvCxnSpPr>
        <p:spPr>
          <a:xfrm>
            <a:off x="609600" y="38862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isk3.pill"/>
          <p:cNvSpPr/>
          <p:nvPr/>
        </p:nvSpPr>
        <p:spPr>
          <a:xfrm>
            <a:off x="609600" y="40894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isk3.level"/>
          <p:cNvSpPr txBox="1"/>
          <p:nvPr/>
        </p:nvSpPr>
        <p:spPr>
          <a:xfrm>
            <a:off x="609600" y="40894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中</a:t>
            </a:r>
          </a:p>
        </p:txBody>
      </p:sp>
      <p:sp>
        <p:nvSpPr>
          <p:cNvPr id="28" name="risk3.title"/>
          <p:cNvSpPr txBox="1"/>
          <p:nvPr/>
        </p:nvSpPr>
        <p:spPr>
          <a:xfrm>
            <a:off x="1676400" y="40386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示例：风险事项三</a:t>
            </a:r>
          </a:p>
        </p:txBody>
      </p:sp>
      <p:sp>
        <p:nvSpPr>
          <p:cNvPr id="29" name="risk3.desc"/>
          <p:cNvSpPr txBox="1"/>
          <p:nvPr/>
        </p:nvSpPr>
        <p:spPr>
          <a:xfrm>
            <a:off x="1676400" y="4394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30" name="risk3.measure"/>
          <p:cNvSpPr txBox="1"/>
          <p:nvPr/>
        </p:nvSpPr>
        <p:spPr>
          <a:xfrm>
            <a:off x="5537200" y="40386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31" name="risk3.owner"/>
          <p:cNvSpPr txBox="1"/>
          <p:nvPr/>
        </p:nvSpPr>
        <p:spPr>
          <a:xfrm>
            <a:off x="9906000" y="40386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32" name="risk3.rule"/>
          <p:cNvCxnSpPr/>
          <p:nvPr/>
        </p:nvCxnSpPr>
        <p:spPr>
          <a:xfrm>
            <a:off x="609600" y="48768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sk4.pill"/>
          <p:cNvSpPr/>
          <p:nvPr/>
        </p:nvSpPr>
        <p:spPr>
          <a:xfrm>
            <a:off x="609600" y="50800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isk4.level"/>
          <p:cNvSpPr txBox="1"/>
          <p:nvPr/>
        </p:nvSpPr>
        <p:spPr>
          <a:xfrm>
            <a:off x="609600" y="50800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中</a:t>
            </a:r>
          </a:p>
        </p:txBody>
      </p:sp>
      <p:sp>
        <p:nvSpPr>
          <p:cNvPr id="35" name="risk4.title"/>
          <p:cNvSpPr txBox="1"/>
          <p:nvPr/>
        </p:nvSpPr>
        <p:spPr>
          <a:xfrm>
            <a:off x="1676400" y="50292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示例：风险事项四</a:t>
            </a:r>
          </a:p>
        </p:txBody>
      </p:sp>
      <p:sp>
        <p:nvSpPr>
          <p:cNvPr id="36" name="risk4.desc"/>
          <p:cNvSpPr txBox="1"/>
          <p:nvPr/>
        </p:nvSpPr>
        <p:spPr>
          <a:xfrm>
            <a:off x="16764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37" name="risk4.measure"/>
          <p:cNvSpPr txBox="1"/>
          <p:nvPr/>
        </p:nvSpPr>
        <p:spPr>
          <a:xfrm>
            <a:off x="5537200" y="50292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38" name="risk4.owner"/>
          <p:cNvSpPr txBox="1"/>
          <p:nvPr/>
        </p:nvSpPr>
        <p:spPr>
          <a:xfrm>
            <a:off x="9906000" y="50292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39" name="risk4.rule"/>
          <p:cNvCxnSpPr/>
          <p:nvPr/>
        </p:nvCxnSpPr>
        <p:spPr>
          <a:xfrm>
            <a:off x="609600" y="58674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1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C9DE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1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8C9DE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print">
  <a:themeElements>
    <a:clrScheme name="blueprint">
      <a:dk1>
        <a:srgbClr val="24303F"/>
      </a:dk1>
      <a:lt1>
        <a:srgbClr val="FFFFFF"/>
      </a:lt1>
      <a:dk2>
        <a:srgbClr val="123A6B"/>
      </a:dk2>
      <a:lt2>
        <a:srgbClr val="EEF3F9"/>
      </a:lt2>
      <a:accent1>
        <a:srgbClr val="123A6B"/>
      </a:accent1>
      <a:accent2>
        <a:srgbClr val="E39A2D"/>
      </a:accent2>
      <a:accent3>
        <a:srgbClr val="2E6DA4"/>
      </a:accent3>
      <a:accent4>
        <a:srgbClr val="5F6B7A"/>
      </a:accent4>
      <a:accent5>
        <a:srgbClr val="B8C9DE"/>
      </a:accent5>
      <a:accent6>
        <a:srgbClr val="D5DEE8"/>
      </a:accent6>
      <a:hlink>
        <a:srgbClr val="2E6DA4"/>
      </a:hlink>
      <a:folHlink>
        <a:srgbClr val="5F6B7A"/>
      </a:folHlink>
    </a:clrScheme>
    <a:fontScheme name="blueprint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蓝图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