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示例：营业收入（亿元）</c:v>
                </c:pt>
              </c:strCache>
            </c:strRef>
          </c:tx>
          <c:spPr>
            <a:solidFill>
              <a:srgbClr val="123A6B"/>
            </a:solidFill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24303F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95.4</c:v>
                </c:pt>
                <c:pt idx="2">
                  <c:v>108.7</c:v>
                </c:pt>
                <c:pt idx="3">
                  <c:v>121.3</c:v>
                </c:pt>
                <c:pt idx="4">
                  <c:v>136.0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EE8"/>
            </a:solidFill>
          </a:ln>
        </c:spPr>
        <c:txPr>
          <a:bodyPr/>
          <a:lstStyle/>
          <a:p>
            <a:pPr>
              <a:defRPr sz="1000">
                <a:solidFill>
                  <a:srgbClr val="5F6B7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E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F6B7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cover（封面）：文稿开头；主标题写核心判断或文稿名称。页面上的文字均为示例，使用时整体替换。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agenda（目录）：4–5 个章节的目录。页面上的文字均为示例，使用时整体替换。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section（章节页）：章节过渡，一句话交代本章问题。页面上的文字均为示例，使用时整体替换。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statement（观点页）：一句结论加一段依据，用于关键判断。页面上的文字均为示例，使用时整体替换。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two-column（图文两栏）：左侧要点、右侧照片或截图。页面上的文字均为示例，使用时整体替换。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cards-3（三卡片）：三个并列的举措、成果或特点。页面上的文字均为示例，使用时整体替换。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cards-4（四卡片）：四个维度或四项工作。页面上的文字均为示例，使用时整体替换。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kpi-4（关键指标）：3–4 个关键数字加一句解读。页面上的文字均为示例，使用时整体替换。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chart-insight（图表加解读）：一张趋势或对比图，右侧写读图结论。页面上的文字均为示例，使用时整体替换。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compare（对比）：两个方案、改革前后、我们与对标的对比。页面上的文字均为示例，使用时整体替换。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process（流程）：3–4 个有先后顺序的步骤。页面上的文字均为示例，使用时整体替换。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timeline（时间轴）：3–5 个时间节点的历程或计划。页面上的文字均为示例，使用时整体替换。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table（表格）：任务清单、责任分工、多维对照。页面上的文字均为示例，使用时整体替换。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architecture（分层架构）：系统或组织的分层结构，自下而上。页面上的文字均为示例，使用时整体替换。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risk-register（风险登记）：主要风险、等级、应对措施与责任人。页面上的文字均为示例，使用时整体替换。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closing（结尾页）：致谢与联系方式。页面上的文字均为示例，使用时整体替换。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eco.gv0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.gv1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.gv2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.gv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eco.gv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eco.gv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eco.gv6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eco.gv7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eco.gv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eco.gh0"/>
          <p:cNvCxnSpPr/>
          <p:nvPr/>
        </p:nvCxnSpPr>
        <p:spPr>
          <a:xfrm>
            <a:off x="0" y="1714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eco.gh1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eco.gh2"/>
          <p:cNvCxnSpPr/>
          <p:nvPr/>
        </p:nvCxnSpPr>
        <p:spPr>
          <a:xfrm>
            <a:off x="0" y="5143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kicker"/>
          <p:cNvSpPr txBox="1"/>
          <p:nvPr/>
        </p:nvSpPr>
        <p:spPr>
          <a:xfrm>
            <a:off x="914400" y="1498600"/>
            <a:ext cx="787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39A2D"/>
                </a:solidFill>
                <a:latin typeface="Arial"/>
                <a:ea typeface="微软雅黑"/>
              </a:rPr>
              <a:t>示例 · 2026 年度工作汇报</a:t>
            </a:r>
          </a:p>
        </p:txBody>
      </p:sp>
      <p:sp>
        <p:nvSpPr>
          <p:cNvPr id="15" name="deco.tab"/>
          <p:cNvSpPr/>
          <p:nvPr/>
        </p:nvSpPr>
        <p:spPr>
          <a:xfrm>
            <a:off x="914400" y="1854200"/>
            <a:ext cx="558800" cy="63500"/>
          </a:xfrm>
          <a:prstGeom prst="rect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itle"/>
          <p:cNvSpPr txBox="1"/>
          <p:nvPr/>
        </p:nvSpPr>
        <p:spPr>
          <a:xfrm>
            <a:off x="914400" y="2057400"/>
            <a:ext cx="7874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示例：主标题写一句核心判断或文稿名称</a:t>
            </a:r>
          </a:p>
        </p:txBody>
      </p:sp>
      <p:sp>
        <p:nvSpPr>
          <p:cNvPr id="17" name="subtitle"/>
          <p:cNvSpPr txBox="1"/>
          <p:nvPr/>
        </p:nvSpPr>
        <p:spPr>
          <a:xfrm>
            <a:off x="914400" y="3886200"/>
            <a:ext cx="7874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C9DE"/>
                </a:solidFill>
                <a:latin typeface="Arial"/>
                <a:ea typeface="微软雅黑"/>
              </a:rPr>
              <a:t>示例：副标题补充范围、时间或汇报对象</a:t>
            </a:r>
          </a:p>
        </p:txBody>
      </p:sp>
      <p:sp>
        <p:nvSpPr>
          <p:cNvPr id="18" name="org"/>
          <p:cNvSpPr txBox="1"/>
          <p:nvPr/>
        </p:nvSpPr>
        <p:spPr>
          <a:xfrm>
            <a:off x="914400" y="58674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微软雅黑"/>
              </a:rPr>
              <a:t>示例单位名称</a:t>
            </a:r>
          </a:p>
        </p:txBody>
      </p:sp>
      <p:sp>
        <p:nvSpPr>
          <p:cNvPr id="19" name="date"/>
          <p:cNvSpPr txBox="1"/>
          <p:nvPr/>
        </p:nvSpPr>
        <p:spPr>
          <a:xfrm>
            <a:off x="914400" y="6197600"/>
            <a:ext cx="660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8C9DE"/>
                </a:solidFill>
                <a:latin typeface="Arial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1625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39A2D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23A6B"/>
                </a:solidFill>
                <a:latin typeface="Arial"/>
                <a:ea typeface="微软雅黑"/>
              </a:rPr>
              <a:t>目录</a:t>
            </a:r>
          </a:p>
        </p:txBody>
      </p:sp>
      <p:sp>
        <p:nvSpPr>
          <p:cNvPr id="4" name="item1.no"/>
          <p:cNvSpPr txBox="1"/>
          <p:nvPr/>
        </p:nvSpPr>
        <p:spPr>
          <a:xfrm>
            <a:off x="5334000" y="1524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item1.text"/>
          <p:cNvSpPr txBox="1"/>
          <p:nvPr/>
        </p:nvSpPr>
        <p:spPr>
          <a:xfrm>
            <a:off x="6248400" y="1600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4303F"/>
                </a:solidFill>
                <a:latin typeface="Arial"/>
                <a:ea typeface="微软雅黑"/>
              </a:rPr>
              <a:t>示例：经营概况</a:t>
            </a:r>
          </a:p>
        </p:txBody>
      </p:sp>
      <p:cxnSp>
        <p:nvCxnSpPr>
          <p:cNvPr id="6" name="item1.rule"/>
          <p:cNvCxnSpPr/>
          <p:nvPr/>
        </p:nvCxnSpPr>
        <p:spPr>
          <a:xfrm>
            <a:off x="5334000" y="2235200"/>
            <a:ext cx="62484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tem2.no"/>
          <p:cNvSpPr txBox="1"/>
          <p:nvPr/>
        </p:nvSpPr>
        <p:spPr>
          <a:xfrm>
            <a:off x="5334000" y="2413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" name="item2.text"/>
          <p:cNvSpPr txBox="1"/>
          <p:nvPr/>
        </p:nvSpPr>
        <p:spPr>
          <a:xfrm>
            <a:off x="6248400" y="2489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4303F"/>
                </a:solidFill>
                <a:latin typeface="Arial"/>
                <a:ea typeface="微软雅黑"/>
              </a:rPr>
              <a:t>示例：重点工作进展</a:t>
            </a:r>
          </a:p>
        </p:txBody>
      </p:sp>
      <p:cxnSp>
        <p:nvCxnSpPr>
          <p:cNvPr id="9" name="item2.rule"/>
          <p:cNvCxnSpPr/>
          <p:nvPr/>
        </p:nvCxnSpPr>
        <p:spPr>
          <a:xfrm>
            <a:off x="5334000" y="3124200"/>
            <a:ext cx="62484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tem3.no"/>
          <p:cNvSpPr txBox="1"/>
          <p:nvPr/>
        </p:nvSpPr>
        <p:spPr>
          <a:xfrm>
            <a:off x="5334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1" name="item3.text"/>
          <p:cNvSpPr txBox="1"/>
          <p:nvPr/>
        </p:nvSpPr>
        <p:spPr>
          <a:xfrm>
            <a:off x="6248400" y="3378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4303F"/>
                </a:solidFill>
                <a:latin typeface="Arial"/>
                <a:ea typeface="微软雅黑"/>
              </a:rPr>
              <a:t>示例：问题与原因分析</a:t>
            </a:r>
          </a:p>
        </p:txBody>
      </p:sp>
      <p:cxnSp>
        <p:nvCxnSpPr>
          <p:cNvPr id="12" name="item3.rule"/>
          <p:cNvCxnSpPr/>
          <p:nvPr/>
        </p:nvCxnSpPr>
        <p:spPr>
          <a:xfrm>
            <a:off x="5334000" y="4013200"/>
            <a:ext cx="62484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tem4.no"/>
          <p:cNvSpPr txBox="1"/>
          <p:nvPr/>
        </p:nvSpPr>
        <p:spPr>
          <a:xfrm>
            <a:off x="5334000" y="4191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4" name="item4.text"/>
          <p:cNvSpPr txBox="1"/>
          <p:nvPr/>
        </p:nvSpPr>
        <p:spPr>
          <a:xfrm>
            <a:off x="6248400" y="4267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4303F"/>
                </a:solidFill>
                <a:latin typeface="Arial"/>
                <a:ea typeface="微软雅黑"/>
              </a:rPr>
              <a:t>示例：下一步计划</a:t>
            </a:r>
          </a:p>
        </p:txBody>
      </p:sp>
      <p:cxnSp>
        <p:nvCxnSpPr>
          <p:cNvPr id="15" name="item4.rule"/>
          <p:cNvCxnSpPr/>
          <p:nvPr/>
        </p:nvCxnSpPr>
        <p:spPr>
          <a:xfrm>
            <a:off x="5334000" y="4902200"/>
            <a:ext cx="62484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tem5.no"/>
          <p:cNvSpPr txBox="1"/>
          <p:nvPr/>
        </p:nvSpPr>
        <p:spPr>
          <a:xfrm>
            <a:off x="5334000" y="5080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7" name="item5.text"/>
          <p:cNvSpPr txBox="1"/>
          <p:nvPr/>
        </p:nvSpPr>
        <p:spPr>
          <a:xfrm>
            <a:off x="6248400" y="5156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4303F"/>
                </a:solidFill>
                <a:latin typeface="Arial"/>
                <a:ea typeface="微软雅黑"/>
              </a:rPr>
              <a:t>示例：需协调事项</a:t>
            </a:r>
          </a:p>
        </p:txBody>
      </p:sp>
      <p:cxnSp>
        <p:nvCxnSpPr>
          <p:cNvPr id="18" name="item5.rule"/>
          <p:cNvCxnSpPr/>
          <p:nvPr/>
        </p:nvCxnSpPr>
        <p:spPr>
          <a:xfrm>
            <a:off x="5334000" y="5791200"/>
            <a:ext cx="62484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20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C7043F9-9E05-511C-8ADA-44367FEA71C7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eco.gv0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.gv1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.gv2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.gv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eco.gv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eco.gv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eco.gv6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eco.gv7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eco.gv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eco.gh0"/>
          <p:cNvCxnSpPr/>
          <p:nvPr/>
        </p:nvCxnSpPr>
        <p:spPr>
          <a:xfrm>
            <a:off x="0" y="1714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eco.gh1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eco.gh2"/>
          <p:cNvCxnSpPr/>
          <p:nvPr/>
        </p:nvCxnSpPr>
        <p:spPr>
          <a:xfrm>
            <a:off x="0" y="5143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o"/>
          <p:cNvSpPr txBox="1"/>
          <p:nvPr/>
        </p:nvSpPr>
        <p:spPr>
          <a:xfrm>
            <a:off x="914400" y="1905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E39A2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5" name="title"/>
          <p:cNvSpPr txBox="1"/>
          <p:nvPr/>
        </p:nvSpPr>
        <p:spPr>
          <a:xfrm>
            <a:off x="914400" y="3429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示例：章节标题</a:t>
            </a:r>
          </a:p>
        </p:txBody>
      </p:sp>
      <p:sp>
        <p:nvSpPr>
          <p:cNvPr id="16" name="subtitle"/>
          <p:cNvSpPr txBox="1"/>
          <p:nvPr/>
        </p:nvSpPr>
        <p:spPr>
          <a:xfrm>
            <a:off x="914400" y="43180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B8C9DE"/>
                </a:solidFill>
                <a:latin typeface="Arial"/>
                <a:ea typeface="微软雅黑"/>
              </a:rPr>
              <a:t>示例：一句话说明本章要回答的问题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C9DE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18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C86DC308-465F-50B7-B3E8-CEE62F495BEA}" type="slidenum">
              <a:rPr lang="zh-CN" sz="1000">
                <a:solidFill>
                  <a:srgbClr val="B8C9DE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核心观点</a:t>
            </a:r>
          </a:p>
        </p:txBody>
      </p:sp>
      <p:cxnSp>
        <p:nvCxnSpPr>
          <p:cNvPr id="3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5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8C80EE08-C123-53B8-BD35-0523C4E2CBBB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6" name="deco.quote"/>
          <p:cNvSpPr/>
          <p:nvPr/>
        </p:nvSpPr>
        <p:spPr>
          <a:xfrm>
            <a:off x="609600" y="1701800"/>
            <a:ext cx="508000" cy="63500"/>
          </a:xfrm>
          <a:prstGeom prst="rect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ement"/>
          <p:cNvSpPr txBox="1"/>
          <p:nvPr/>
        </p:nvSpPr>
        <p:spPr>
          <a:xfrm>
            <a:off x="609600" y="19812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24303F"/>
                </a:solidFill>
                <a:latin typeface="Arial"/>
                <a:ea typeface="微软雅黑"/>
              </a:rPr>
              <a:t>示例：用一句完整的话写出本页结论，让听众不看其他内容也能带走它</a:t>
            </a:r>
          </a:p>
        </p:txBody>
      </p:sp>
      <p:sp>
        <p:nvSpPr>
          <p:cNvPr id="8" name="support"/>
          <p:cNvSpPr txBox="1"/>
          <p:nvPr/>
        </p:nvSpPr>
        <p:spPr>
          <a:xfrm>
            <a:off x="609600" y="4267200"/>
            <a:ext cx="83820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F6B7A"/>
                </a:solidFill>
                <a:latin typeface="Arial"/>
                <a:ea typeface="微软雅黑"/>
              </a:rPr>
              <a:t>示例：用一两句话交代支撑这个判断的事实、数据或依据。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609600" y="5969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示例来源：填写数据或材料出处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示例：图文页的标题写本页结论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70769519-AA6C-55E4-A5F2-3BE0E25FCF09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549400"/>
            <a:ext cx="508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示例：先用一句加粗的话点题，再展开要点。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09600" y="24384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0000"/>
              </a:lnSpc>
              <a:buClr>
                <a:srgbClr val="E39A2D"/>
              </a:buClr>
              <a:buFont typeface="Arial"/>
              <a:buChar char="•"/>
            </a:pPr>
            <a:r>
              <a:rPr sz="1500" b="0">
                <a:solidFill>
                  <a:srgbClr val="24303F"/>
                </a:solidFill>
                <a:latin typeface="Arial"/>
                <a:ea typeface="微软雅黑"/>
              </a:rPr>
              <a:t>示例要点一：写事实或做法，一行一个要点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E39A2D"/>
              </a:buClr>
              <a:buFont typeface="Arial"/>
              <a:buChar char="•"/>
            </a:pPr>
            <a:r>
              <a:rPr sz="1500" b="0">
                <a:solidFill>
                  <a:srgbClr val="24303F"/>
                </a:solidFill>
                <a:latin typeface="Arial"/>
                <a:ea typeface="微软雅黑"/>
              </a:rPr>
              <a:t>示例要点二：数字要带单位和期间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E39A2D"/>
              </a:buClr>
              <a:buFont typeface="Arial"/>
              <a:buChar char="•"/>
            </a:pPr>
            <a:r>
              <a:rPr sz="1500" b="0">
                <a:solidFill>
                  <a:srgbClr val="24303F"/>
                </a:solidFill>
                <a:latin typeface="Arial"/>
                <a:ea typeface="微软雅黑"/>
              </a:rPr>
              <a:t>示例要点三：最多五条，放不下就拆页</a:t>
            </a:r>
          </a:p>
        </p:txBody>
      </p:sp>
      <p:sp>
        <p:nvSpPr>
          <p:cNvPr id="9" name="image.box"/>
          <p:cNvSpPr/>
          <p:nvPr/>
        </p:nvSpPr>
        <p:spPr>
          <a:xfrm>
            <a:off x="6096000" y="1498600"/>
            <a:ext cx="5486400" cy="43688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mage.label"/>
          <p:cNvSpPr txBox="1"/>
          <p:nvPr/>
        </p:nvSpPr>
        <p:spPr>
          <a:xfrm>
            <a:off x="6400800" y="35306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示例：图片区，替换为现场照片或产品截图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示例：三个并列要点的总标题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7E0B6E4-9F08-5DAD-A1A8-96959B0CEA23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4986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F6B7A"/>
                </a:solidFill>
                <a:latin typeface="Arial"/>
                <a:ea typeface="微软雅黑"/>
              </a:rPr>
              <a:t>示例：一句话说明这三点之间的关系或共同指向。</a:t>
            </a:r>
          </a:p>
        </p:txBody>
      </p:sp>
      <p:sp>
        <p:nvSpPr>
          <p:cNvPr id="8" name="card1.bg"/>
          <p:cNvSpPr/>
          <p:nvPr/>
        </p:nvSpPr>
        <p:spPr>
          <a:xfrm>
            <a:off x="609600" y="2159000"/>
            <a:ext cx="3454400" cy="31750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1.no"/>
          <p:cNvSpPr txBox="1"/>
          <p:nvPr/>
        </p:nvSpPr>
        <p:spPr>
          <a:xfrm>
            <a:off x="9144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card1.title"/>
          <p:cNvSpPr txBox="1"/>
          <p:nvPr/>
        </p:nvSpPr>
        <p:spPr>
          <a:xfrm>
            <a:off x="9144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示例：要点一的小标题</a:t>
            </a:r>
          </a:p>
        </p:txBody>
      </p:sp>
      <p:sp>
        <p:nvSpPr>
          <p:cNvPr id="11" name="card1.body"/>
          <p:cNvSpPr txBox="1"/>
          <p:nvPr/>
        </p:nvSpPr>
        <p:spPr>
          <a:xfrm>
            <a:off x="9144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2" name="card2.bg"/>
          <p:cNvSpPr/>
          <p:nvPr/>
        </p:nvSpPr>
        <p:spPr>
          <a:xfrm>
            <a:off x="4368800" y="2159000"/>
            <a:ext cx="3454400" cy="31750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2.no"/>
          <p:cNvSpPr txBox="1"/>
          <p:nvPr/>
        </p:nvSpPr>
        <p:spPr>
          <a:xfrm>
            <a:off x="46736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card2.title"/>
          <p:cNvSpPr txBox="1"/>
          <p:nvPr/>
        </p:nvSpPr>
        <p:spPr>
          <a:xfrm>
            <a:off x="46736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示例：要点二的小标题</a:t>
            </a:r>
          </a:p>
        </p:txBody>
      </p:sp>
      <p:sp>
        <p:nvSpPr>
          <p:cNvPr id="15" name="card2.body"/>
          <p:cNvSpPr txBox="1"/>
          <p:nvPr/>
        </p:nvSpPr>
        <p:spPr>
          <a:xfrm>
            <a:off x="46736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6" name="card3.bg"/>
          <p:cNvSpPr/>
          <p:nvPr/>
        </p:nvSpPr>
        <p:spPr>
          <a:xfrm>
            <a:off x="8128000" y="2159000"/>
            <a:ext cx="3454400" cy="31750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rd3.no"/>
          <p:cNvSpPr txBox="1"/>
          <p:nvPr/>
        </p:nvSpPr>
        <p:spPr>
          <a:xfrm>
            <a:off x="84328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card3.title"/>
          <p:cNvSpPr txBox="1"/>
          <p:nvPr/>
        </p:nvSpPr>
        <p:spPr>
          <a:xfrm>
            <a:off x="84328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示例：要点三的小标题</a:t>
            </a:r>
          </a:p>
        </p:txBody>
      </p:sp>
      <p:sp>
        <p:nvSpPr>
          <p:cNvPr id="19" name="card3.body"/>
          <p:cNvSpPr txBox="1"/>
          <p:nvPr/>
        </p:nvSpPr>
        <p:spPr>
          <a:xfrm>
            <a:off x="84328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示例：四项工作或四个维度的总标题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8748B65-304A-5AD3-974C-1D41442544A3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card1.bg"/>
          <p:cNvSpPr/>
          <p:nvPr/>
        </p:nvSpPr>
        <p:spPr>
          <a:xfrm>
            <a:off x="609600" y="1498600"/>
            <a:ext cx="5359400" cy="2133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1.no"/>
          <p:cNvSpPr txBox="1"/>
          <p:nvPr/>
        </p:nvSpPr>
        <p:spPr>
          <a:xfrm>
            <a:off x="9144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card1.title"/>
          <p:cNvSpPr txBox="1"/>
          <p:nvPr/>
        </p:nvSpPr>
        <p:spPr>
          <a:xfrm>
            <a:off x="9144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示例：维度一</a:t>
            </a:r>
          </a:p>
        </p:txBody>
      </p:sp>
      <p:sp>
        <p:nvSpPr>
          <p:cNvPr id="10" name="card1.body"/>
          <p:cNvSpPr txBox="1"/>
          <p:nvPr/>
        </p:nvSpPr>
        <p:spPr>
          <a:xfrm>
            <a:off x="9144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1" name="card2.bg"/>
          <p:cNvSpPr/>
          <p:nvPr/>
        </p:nvSpPr>
        <p:spPr>
          <a:xfrm>
            <a:off x="6223000" y="1498600"/>
            <a:ext cx="5359400" cy="2133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2.no"/>
          <p:cNvSpPr txBox="1"/>
          <p:nvPr/>
        </p:nvSpPr>
        <p:spPr>
          <a:xfrm>
            <a:off x="65278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card2.title"/>
          <p:cNvSpPr txBox="1"/>
          <p:nvPr/>
        </p:nvSpPr>
        <p:spPr>
          <a:xfrm>
            <a:off x="65278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示例：维度二</a:t>
            </a:r>
          </a:p>
        </p:txBody>
      </p:sp>
      <p:sp>
        <p:nvSpPr>
          <p:cNvPr id="14" name="card2.body"/>
          <p:cNvSpPr txBox="1"/>
          <p:nvPr/>
        </p:nvSpPr>
        <p:spPr>
          <a:xfrm>
            <a:off x="65278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5" name="card3.bg"/>
          <p:cNvSpPr/>
          <p:nvPr/>
        </p:nvSpPr>
        <p:spPr>
          <a:xfrm>
            <a:off x="609600" y="3886200"/>
            <a:ext cx="5359400" cy="2133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rd3.no"/>
          <p:cNvSpPr txBox="1"/>
          <p:nvPr/>
        </p:nvSpPr>
        <p:spPr>
          <a:xfrm>
            <a:off x="9144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card3.title"/>
          <p:cNvSpPr txBox="1"/>
          <p:nvPr/>
        </p:nvSpPr>
        <p:spPr>
          <a:xfrm>
            <a:off x="9144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示例：维度三</a:t>
            </a:r>
          </a:p>
        </p:txBody>
      </p:sp>
      <p:sp>
        <p:nvSpPr>
          <p:cNvPr id="18" name="card3.body"/>
          <p:cNvSpPr txBox="1"/>
          <p:nvPr/>
        </p:nvSpPr>
        <p:spPr>
          <a:xfrm>
            <a:off x="9144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9" name="card4.bg"/>
          <p:cNvSpPr/>
          <p:nvPr/>
        </p:nvSpPr>
        <p:spPr>
          <a:xfrm>
            <a:off x="6223000" y="3886200"/>
            <a:ext cx="5359400" cy="2133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4.no"/>
          <p:cNvSpPr txBox="1"/>
          <p:nvPr/>
        </p:nvSpPr>
        <p:spPr>
          <a:xfrm>
            <a:off x="65278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39A2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1" name="card4.title"/>
          <p:cNvSpPr txBox="1"/>
          <p:nvPr/>
        </p:nvSpPr>
        <p:spPr>
          <a:xfrm>
            <a:off x="65278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示例：维度四</a:t>
            </a:r>
          </a:p>
        </p:txBody>
      </p:sp>
      <p:sp>
        <p:nvSpPr>
          <p:cNvPr id="22" name="card4.body"/>
          <p:cNvSpPr txBox="1"/>
          <p:nvPr/>
        </p:nvSpPr>
        <p:spPr>
          <a:xfrm>
            <a:off x="65278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F6B7A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示例：用四个关键指标概括本期成绩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C6E8BDC6-0300-50D3-B14B-D912D7BECB48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kpi1.number"/>
          <p:cNvSpPr txBox="1"/>
          <p:nvPr/>
        </p:nvSpPr>
        <p:spPr>
          <a:xfrm>
            <a:off x="6096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23A6B"/>
                </a:solidFill>
                <a:latin typeface="Arial"/>
                <a:ea typeface="微软雅黑"/>
              </a:rPr>
              <a:t>128.6</a:t>
            </a:r>
          </a:p>
        </p:txBody>
      </p:sp>
      <p:sp>
        <p:nvSpPr>
          <p:cNvPr id="8" name="kpi1.unit"/>
          <p:cNvSpPr txBox="1"/>
          <p:nvPr/>
        </p:nvSpPr>
        <p:spPr>
          <a:xfrm>
            <a:off x="6096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示例单位：亿元</a:t>
            </a:r>
          </a:p>
        </p:txBody>
      </p:sp>
      <p:sp>
        <p:nvSpPr>
          <p:cNvPr id="9" name="kpi1.label"/>
          <p:cNvSpPr txBox="1"/>
          <p:nvPr/>
        </p:nvSpPr>
        <p:spPr>
          <a:xfrm>
            <a:off x="6096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4303F"/>
                </a:solidFill>
                <a:latin typeface="Arial"/>
                <a:ea typeface="微软雅黑"/>
              </a:rPr>
              <a:t>示例：营业收入</a:t>
            </a:r>
          </a:p>
        </p:txBody>
      </p:sp>
      <p:sp>
        <p:nvSpPr>
          <p:cNvPr id="10" name="kpi1.note"/>
          <p:cNvSpPr txBox="1"/>
          <p:nvPr/>
        </p:nvSpPr>
        <p:spPr>
          <a:xfrm>
            <a:off x="6096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1" name="kpi2.rule"/>
          <p:cNvCxnSpPr/>
          <p:nvPr/>
        </p:nvCxnSpPr>
        <p:spPr>
          <a:xfrm>
            <a:off x="3276600" y="2006600"/>
            <a:ext cx="0" cy="254000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pi2.number"/>
          <p:cNvSpPr txBox="1"/>
          <p:nvPr/>
        </p:nvSpPr>
        <p:spPr>
          <a:xfrm>
            <a:off x="34290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23A6B"/>
                </a:solidFill>
                <a:latin typeface="Arial"/>
                <a:ea typeface="微软雅黑"/>
              </a:rPr>
              <a:t>12.4%</a:t>
            </a:r>
          </a:p>
        </p:txBody>
      </p:sp>
      <p:sp>
        <p:nvSpPr>
          <p:cNvPr id="13" name="kpi2.unit"/>
          <p:cNvSpPr txBox="1"/>
          <p:nvPr/>
        </p:nvSpPr>
        <p:spPr>
          <a:xfrm>
            <a:off x="34290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示例单位：同比</a:t>
            </a:r>
          </a:p>
        </p:txBody>
      </p:sp>
      <p:sp>
        <p:nvSpPr>
          <p:cNvPr id="14" name="kpi2.label"/>
          <p:cNvSpPr txBox="1"/>
          <p:nvPr/>
        </p:nvSpPr>
        <p:spPr>
          <a:xfrm>
            <a:off x="34290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4303F"/>
                </a:solidFill>
                <a:latin typeface="Arial"/>
                <a:ea typeface="微软雅黑"/>
              </a:rPr>
              <a:t>示例：增长率</a:t>
            </a:r>
          </a:p>
        </p:txBody>
      </p:sp>
      <p:sp>
        <p:nvSpPr>
          <p:cNvPr id="15" name="kpi2.note"/>
          <p:cNvSpPr txBox="1"/>
          <p:nvPr/>
        </p:nvSpPr>
        <p:spPr>
          <a:xfrm>
            <a:off x="34290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6" name="kpi3.rule"/>
          <p:cNvCxnSpPr/>
          <p:nvPr/>
        </p:nvCxnSpPr>
        <p:spPr>
          <a:xfrm>
            <a:off x="6096000" y="2006600"/>
            <a:ext cx="0" cy="254000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kpi3.number"/>
          <p:cNvSpPr txBox="1"/>
          <p:nvPr/>
        </p:nvSpPr>
        <p:spPr>
          <a:xfrm>
            <a:off x="62484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23A6B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18" name="kpi3.unit"/>
          <p:cNvSpPr txBox="1"/>
          <p:nvPr/>
        </p:nvSpPr>
        <p:spPr>
          <a:xfrm>
            <a:off x="62484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示例单位：个</a:t>
            </a:r>
          </a:p>
        </p:txBody>
      </p:sp>
      <p:sp>
        <p:nvSpPr>
          <p:cNvPr id="19" name="kpi3.label"/>
          <p:cNvSpPr txBox="1"/>
          <p:nvPr/>
        </p:nvSpPr>
        <p:spPr>
          <a:xfrm>
            <a:off x="62484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4303F"/>
                </a:solidFill>
                <a:latin typeface="Arial"/>
                <a:ea typeface="微软雅黑"/>
              </a:rPr>
              <a:t>示例：新签项目</a:t>
            </a:r>
          </a:p>
        </p:txBody>
      </p:sp>
      <p:sp>
        <p:nvSpPr>
          <p:cNvPr id="20" name="kpi3.note"/>
          <p:cNvSpPr txBox="1"/>
          <p:nvPr/>
        </p:nvSpPr>
        <p:spPr>
          <a:xfrm>
            <a:off x="62484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21" name="kpi4.rule"/>
          <p:cNvCxnSpPr/>
          <p:nvPr/>
        </p:nvCxnSpPr>
        <p:spPr>
          <a:xfrm>
            <a:off x="8915400" y="2006600"/>
            <a:ext cx="0" cy="254000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pi4.number"/>
          <p:cNvSpPr txBox="1"/>
          <p:nvPr/>
        </p:nvSpPr>
        <p:spPr>
          <a:xfrm>
            <a:off x="90678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23A6B"/>
                </a:solidFill>
                <a:latin typeface="Arial"/>
                <a:ea typeface="微软雅黑"/>
              </a:rPr>
              <a:t>98.7%</a:t>
            </a:r>
          </a:p>
        </p:txBody>
      </p:sp>
      <p:sp>
        <p:nvSpPr>
          <p:cNvPr id="23" name="kpi4.unit"/>
          <p:cNvSpPr txBox="1"/>
          <p:nvPr/>
        </p:nvSpPr>
        <p:spPr>
          <a:xfrm>
            <a:off x="90678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示例单位：全年</a:t>
            </a:r>
          </a:p>
        </p:txBody>
      </p:sp>
      <p:sp>
        <p:nvSpPr>
          <p:cNvPr id="24" name="kpi4.label"/>
          <p:cNvSpPr txBox="1"/>
          <p:nvPr/>
        </p:nvSpPr>
        <p:spPr>
          <a:xfrm>
            <a:off x="90678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4303F"/>
                </a:solidFill>
                <a:latin typeface="Arial"/>
                <a:ea typeface="微软雅黑"/>
              </a:rPr>
              <a:t>示例：交付准时率</a:t>
            </a:r>
          </a:p>
        </p:txBody>
      </p:sp>
      <p:sp>
        <p:nvSpPr>
          <p:cNvPr id="25" name="kpi4.note"/>
          <p:cNvSpPr txBox="1"/>
          <p:nvPr/>
        </p:nvSpPr>
        <p:spPr>
          <a:xfrm>
            <a:off x="90678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sp>
        <p:nvSpPr>
          <p:cNvPr id="26" name="takeaway.bg"/>
          <p:cNvSpPr/>
          <p:nvPr/>
        </p:nvSpPr>
        <p:spPr>
          <a:xfrm>
            <a:off x="609600" y="4876800"/>
            <a:ext cx="10972800" cy="762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akeaway.text"/>
          <p:cNvSpPr txBox="1"/>
          <p:nvPr/>
        </p:nvSpPr>
        <p:spPr>
          <a:xfrm>
            <a:off x="863600" y="4876800"/>
            <a:ext cx="104648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示例：一句话解读这组数字说明了什么。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609600" y="5791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示例：图表页的标题直接写出数据结论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C4BE9CF-E6C2-5098-8EDA-FE5608DF8627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112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026400" y="1498600"/>
            <a:ext cx="3556000" cy="4191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280400" y="1778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4303F"/>
                </a:solidFill>
                <a:latin typeface="Arial"/>
                <a:ea typeface="微软雅黑"/>
              </a:rPr>
              <a:t>示例：读图要点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280400" y="2463800"/>
            <a:ext cx="3048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示例：拐点或异常出现在哪里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示例：原因是什么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示例：意味着什么、要做什么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示例：对比页的标题写出取舍结论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ACCC1D6F-E632-5173-8D38-348CC94325A2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left.bg"/>
          <p:cNvSpPr/>
          <p:nvPr/>
        </p:nvSpPr>
        <p:spPr>
          <a:xfrm>
            <a:off x="609600" y="1498600"/>
            <a:ext cx="5334000" cy="3556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eft.head"/>
          <p:cNvSpPr/>
          <p:nvPr/>
        </p:nvSpPr>
        <p:spPr>
          <a:xfrm>
            <a:off x="609600" y="1498600"/>
            <a:ext cx="5334000" cy="584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eft.title"/>
          <p:cNvSpPr txBox="1"/>
          <p:nvPr/>
        </p:nvSpPr>
        <p:spPr>
          <a:xfrm>
            <a:off x="8636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A / 改革前</a:t>
            </a:r>
          </a:p>
        </p:txBody>
      </p:sp>
      <p:sp>
        <p:nvSpPr>
          <p:cNvPr id="10" name="left.body"/>
          <p:cNvSpPr txBox="1"/>
          <p:nvPr/>
        </p:nvSpPr>
        <p:spPr>
          <a:xfrm>
            <a:off x="8636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1" name="right.bg"/>
          <p:cNvSpPr/>
          <p:nvPr/>
        </p:nvSpPr>
        <p:spPr>
          <a:xfrm>
            <a:off x="6248400" y="1498600"/>
            <a:ext cx="5334000" cy="3556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.head"/>
          <p:cNvSpPr/>
          <p:nvPr/>
        </p:nvSpPr>
        <p:spPr>
          <a:xfrm>
            <a:off x="6248400" y="1498600"/>
            <a:ext cx="5334000" cy="5842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.title"/>
          <p:cNvSpPr txBox="1"/>
          <p:nvPr/>
        </p:nvSpPr>
        <p:spPr>
          <a:xfrm>
            <a:off x="65024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B / 改革后</a:t>
            </a:r>
          </a:p>
        </p:txBody>
      </p:sp>
      <p:sp>
        <p:nvSpPr>
          <p:cNvPr id="14" name="right.body"/>
          <p:cNvSpPr txBox="1"/>
          <p:nvPr/>
        </p:nvSpPr>
        <p:spPr>
          <a:xfrm>
            <a:off x="65024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E39A2D"/>
              </a:buClr>
              <a:buFont typeface="Arial"/>
              <a:buChar char="•"/>
            </a:pPr>
            <a:r>
              <a:rPr sz="1400" b="0">
                <a:solidFill>
                  <a:srgbClr val="24303F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5" name="conclusion.bg"/>
          <p:cNvSpPr/>
          <p:nvPr/>
        </p:nvSpPr>
        <p:spPr>
          <a:xfrm>
            <a:off x="609600" y="5257800"/>
            <a:ext cx="10972800" cy="66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9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onclusion.text"/>
          <p:cNvSpPr txBox="1"/>
          <p:nvPr/>
        </p:nvSpPr>
        <p:spPr>
          <a:xfrm>
            <a:off x="863600" y="5257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示例结论：在什么条件下选哪一个，理由是什么。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示例：流程页的标题说明整体做法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0F4976D-EA66-58C4-B60A-9F6FE9EC94C1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step1.dot"/>
          <p:cNvSpPr/>
          <p:nvPr/>
        </p:nvSpPr>
        <p:spPr>
          <a:xfrm>
            <a:off x="609600" y="1701800"/>
            <a:ext cx="660400" cy="660400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1.no"/>
          <p:cNvSpPr txBox="1"/>
          <p:nvPr/>
        </p:nvSpPr>
        <p:spPr>
          <a:xfrm>
            <a:off x="6096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9" name="step1.bg"/>
          <p:cNvSpPr/>
          <p:nvPr/>
        </p:nvSpPr>
        <p:spPr>
          <a:xfrm>
            <a:off x="609600" y="2616200"/>
            <a:ext cx="2438400" cy="2667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ep1.title"/>
          <p:cNvSpPr txBox="1"/>
          <p:nvPr/>
        </p:nvSpPr>
        <p:spPr>
          <a:xfrm>
            <a:off x="8382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4303F"/>
                </a:solidFill>
                <a:latin typeface="Arial"/>
                <a:ea typeface="微软雅黑"/>
              </a:rPr>
              <a:t>示例：第一步</a:t>
            </a:r>
          </a:p>
        </p:txBody>
      </p:sp>
      <p:sp>
        <p:nvSpPr>
          <p:cNvPr id="11" name="step1.body"/>
          <p:cNvSpPr txBox="1"/>
          <p:nvPr/>
        </p:nvSpPr>
        <p:spPr>
          <a:xfrm>
            <a:off x="8382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F6B7A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2" name="step2.dot"/>
          <p:cNvSpPr/>
          <p:nvPr/>
        </p:nvSpPr>
        <p:spPr>
          <a:xfrm>
            <a:off x="3454400" y="1701800"/>
            <a:ext cx="660400" cy="660400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2.no"/>
          <p:cNvSpPr txBox="1"/>
          <p:nvPr/>
        </p:nvSpPr>
        <p:spPr>
          <a:xfrm>
            <a:off x="34544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cxnSp>
        <p:nvCxnSpPr>
          <p:cNvPr id="14" name="step2.link"/>
          <p:cNvCxnSpPr/>
          <p:nvPr/>
        </p:nvCxnSpPr>
        <p:spPr>
          <a:xfrm>
            <a:off x="1422400" y="2032000"/>
            <a:ext cx="1879600" cy="0"/>
          </a:xfrm>
          <a:prstGeom prst="line">
            <a:avLst/>
          </a:prstGeom>
          <a:ln w="1905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2.bg"/>
          <p:cNvSpPr/>
          <p:nvPr/>
        </p:nvSpPr>
        <p:spPr>
          <a:xfrm>
            <a:off x="3454400" y="2616200"/>
            <a:ext cx="2438400" cy="2667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2.title"/>
          <p:cNvSpPr txBox="1"/>
          <p:nvPr/>
        </p:nvSpPr>
        <p:spPr>
          <a:xfrm>
            <a:off x="36830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4303F"/>
                </a:solidFill>
                <a:latin typeface="Arial"/>
                <a:ea typeface="微软雅黑"/>
              </a:rPr>
              <a:t>示例：第二步</a:t>
            </a:r>
          </a:p>
        </p:txBody>
      </p:sp>
      <p:sp>
        <p:nvSpPr>
          <p:cNvPr id="17" name="step2.body"/>
          <p:cNvSpPr txBox="1"/>
          <p:nvPr/>
        </p:nvSpPr>
        <p:spPr>
          <a:xfrm>
            <a:off x="36830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F6B7A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8" name="step3.dot"/>
          <p:cNvSpPr/>
          <p:nvPr/>
        </p:nvSpPr>
        <p:spPr>
          <a:xfrm>
            <a:off x="6299200" y="1701800"/>
            <a:ext cx="660400" cy="660400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3.no"/>
          <p:cNvSpPr txBox="1"/>
          <p:nvPr/>
        </p:nvSpPr>
        <p:spPr>
          <a:xfrm>
            <a:off x="62992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cxnSp>
        <p:nvCxnSpPr>
          <p:cNvPr id="20" name="step3.link"/>
          <p:cNvCxnSpPr/>
          <p:nvPr/>
        </p:nvCxnSpPr>
        <p:spPr>
          <a:xfrm>
            <a:off x="4267200" y="2032000"/>
            <a:ext cx="1879600" cy="0"/>
          </a:xfrm>
          <a:prstGeom prst="line">
            <a:avLst/>
          </a:prstGeom>
          <a:ln w="1905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3.bg"/>
          <p:cNvSpPr/>
          <p:nvPr/>
        </p:nvSpPr>
        <p:spPr>
          <a:xfrm>
            <a:off x="6299200" y="2616200"/>
            <a:ext cx="2438400" cy="2667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3.title"/>
          <p:cNvSpPr txBox="1"/>
          <p:nvPr/>
        </p:nvSpPr>
        <p:spPr>
          <a:xfrm>
            <a:off x="65278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4303F"/>
                </a:solidFill>
                <a:latin typeface="Arial"/>
                <a:ea typeface="微软雅黑"/>
              </a:rPr>
              <a:t>示例：第三步</a:t>
            </a:r>
          </a:p>
        </p:txBody>
      </p:sp>
      <p:sp>
        <p:nvSpPr>
          <p:cNvPr id="23" name="step3.body"/>
          <p:cNvSpPr txBox="1"/>
          <p:nvPr/>
        </p:nvSpPr>
        <p:spPr>
          <a:xfrm>
            <a:off x="65278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F6B7A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24" name="step4.dot"/>
          <p:cNvSpPr/>
          <p:nvPr/>
        </p:nvSpPr>
        <p:spPr>
          <a:xfrm>
            <a:off x="9144000" y="1701800"/>
            <a:ext cx="660400" cy="660400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4.no"/>
          <p:cNvSpPr txBox="1"/>
          <p:nvPr/>
        </p:nvSpPr>
        <p:spPr>
          <a:xfrm>
            <a:off x="91440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cxnSp>
        <p:nvCxnSpPr>
          <p:cNvPr id="26" name="step4.link"/>
          <p:cNvCxnSpPr/>
          <p:nvPr/>
        </p:nvCxnSpPr>
        <p:spPr>
          <a:xfrm>
            <a:off x="7112000" y="2032000"/>
            <a:ext cx="1879600" cy="0"/>
          </a:xfrm>
          <a:prstGeom prst="line">
            <a:avLst/>
          </a:prstGeom>
          <a:ln w="1905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4.bg"/>
          <p:cNvSpPr/>
          <p:nvPr/>
        </p:nvSpPr>
        <p:spPr>
          <a:xfrm>
            <a:off x="9144000" y="2616200"/>
            <a:ext cx="2438400" cy="2667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ep4.title"/>
          <p:cNvSpPr txBox="1"/>
          <p:nvPr/>
        </p:nvSpPr>
        <p:spPr>
          <a:xfrm>
            <a:off x="93726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4303F"/>
                </a:solidFill>
                <a:latin typeface="Arial"/>
                <a:ea typeface="微软雅黑"/>
              </a:rPr>
              <a:t>示例：第四步</a:t>
            </a:r>
          </a:p>
        </p:txBody>
      </p:sp>
      <p:sp>
        <p:nvSpPr>
          <p:cNvPr id="29" name="step4.body"/>
          <p:cNvSpPr txBox="1"/>
          <p:nvPr/>
        </p:nvSpPr>
        <p:spPr>
          <a:xfrm>
            <a:off x="93726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F6B7A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示例：时间轴页的标题写出发展主线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5943F2A-FAAF-56D7-94C4-B9B041325DFC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cxnSp>
        <p:nvCxnSpPr>
          <p:cNvPr id="7" name="deco.axis"/>
          <p:cNvCxnSpPr/>
          <p:nvPr/>
        </p:nvCxnSpPr>
        <p:spPr>
          <a:xfrm>
            <a:off x="609600" y="2997200"/>
            <a:ext cx="10972800" cy="0"/>
          </a:xfrm>
          <a:prstGeom prst="line">
            <a:avLst/>
          </a:prstGeom>
          <a:ln w="2540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1.dot"/>
          <p:cNvSpPr/>
          <p:nvPr/>
        </p:nvSpPr>
        <p:spPr>
          <a:xfrm>
            <a:off x="660400" y="2908300"/>
            <a:ext cx="177800" cy="177800"/>
          </a:xfrm>
          <a:prstGeom prst="ellipse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node1.time"/>
          <p:cNvSpPr txBox="1"/>
          <p:nvPr/>
        </p:nvSpPr>
        <p:spPr>
          <a:xfrm>
            <a:off x="60960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3A6B"/>
                </a:solidFill>
                <a:latin typeface="Arial"/>
                <a:ea typeface="微软雅黑"/>
              </a:rPr>
              <a:t>2022</a:t>
            </a:r>
          </a:p>
        </p:txBody>
      </p:sp>
      <p:sp>
        <p:nvSpPr>
          <p:cNvPr id="10" name="node1.title"/>
          <p:cNvSpPr txBox="1"/>
          <p:nvPr/>
        </p:nvSpPr>
        <p:spPr>
          <a:xfrm>
            <a:off x="60960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1" name="node1.body"/>
          <p:cNvSpPr txBox="1"/>
          <p:nvPr/>
        </p:nvSpPr>
        <p:spPr>
          <a:xfrm>
            <a:off x="60960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2" name="node2.dot"/>
          <p:cNvSpPr/>
          <p:nvPr/>
        </p:nvSpPr>
        <p:spPr>
          <a:xfrm>
            <a:off x="2854960" y="2908300"/>
            <a:ext cx="177800" cy="177800"/>
          </a:xfrm>
          <a:prstGeom prst="ellipse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node2.time"/>
          <p:cNvSpPr txBox="1"/>
          <p:nvPr/>
        </p:nvSpPr>
        <p:spPr>
          <a:xfrm>
            <a:off x="280416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3A6B"/>
                </a:solidFill>
                <a:latin typeface="Arial"/>
                <a:ea typeface="微软雅黑"/>
              </a:rPr>
              <a:t>2023</a:t>
            </a:r>
          </a:p>
        </p:txBody>
      </p:sp>
      <p:sp>
        <p:nvSpPr>
          <p:cNvPr id="14" name="node2.title"/>
          <p:cNvSpPr txBox="1"/>
          <p:nvPr/>
        </p:nvSpPr>
        <p:spPr>
          <a:xfrm>
            <a:off x="280416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5" name="node2.body"/>
          <p:cNvSpPr txBox="1"/>
          <p:nvPr/>
        </p:nvSpPr>
        <p:spPr>
          <a:xfrm>
            <a:off x="280416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6" name="node3.dot"/>
          <p:cNvSpPr/>
          <p:nvPr/>
        </p:nvSpPr>
        <p:spPr>
          <a:xfrm>
            <a:off x="5049520" y="2908300"/>
            <a:ext cx="177800" cy="177800"/>
          </a:xfrm>
          <a:prstGeom prst="ellipse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3.time"/>
          <p:cNvSpPr txBox="1"/>
          <p:nvPr/>
        </p:nvSpPr>
        <p:spPr>
          <a:xfrm>
            <a:off x="499872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3A6B"/>
                </a:solidFill>
                <a:latin typeface="Arial"/>
                <a:ea typeface="微软雅黑"/>
              </a:rPr>
              <a:t>2024</a:t>
            </a:r>
          </a:p>
        </p:txBody>
      </p:sp>
      <p:sp>
        <p:nvSpPr>
          <p:cNvPr id="18" name="node3.title"/>
          <p:cNvSpPr txBox="1"/>
          <p:nvPr/>
        </p:nvSpPr>
        <p:spPr>
          <a:xfrm>
            <a:off x="499872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9" name="node3.body"/>
          <p:cNvSpPr txBox="1"/>
          <p:nvPr/>
        </p:nvSpPr>
        <p:spPr>
          <a:xfrm>
            <a:off x="499872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0" name="node4.dot"/>
          <p:cNvSpPr/>
          <p:nvPr/>
        </p:nvSpPr>
        <p:spPr>
          <a:xfrm>
            <a:off x="7244080" y="2908300"/>
            <a:ext cx="177800" cy="177800"/>
          </a:xfrm>
          <a:prstGeom prst="ellipse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ode4.time"/>
          <p:cNvSpPr txBox="1"/>
          <p:nvPr/>
        </p:nvSpPr>
        <p:spPr>
          <a:xfrm>
            <a:off x="719328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3A6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2" name="node4.title"/>
          <p:cNvSpPr txBox="1"/>
          <p:nvPr/>
        </p:nvSpPr>
        <p:spPr>
          <a:xfrm>
            <a:off x="719328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3" name="node4.body"/>
          <p:cNvSpPr txBox="1"/>
          <p:nvPr/>
        </p:nvSpPr>
        <p:spPr>
          <a:xfrm>
            <a:off x="719328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4" name="node5.dot"/>
          <p:cNvSpPr/>
          <p:nvPr/>
        </p:nvSpPr>
        <p:spPr>
          <a:xfrm>
            <a:off x="9438640" y="2908300"/>
            <a:ext cx="177800" cy="177800"/>
          </a:xfrm>
          <a:prstGeom prst="ellipse">
            <a:avLst/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ode5.time"/>
          <p:cNvSpPr txBox="1"/>
          <p:nvPr/>
        </p:nvSpPr>
        <p:spPr>
          <a:xfrm>
            <a:off x="938784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3A6B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26" name="node5.title"/>
          <p:cNvSpPr txBox="1"/>
          <p:nvPr/>
        </p:nvSpPr>
        <p:spPr>
          <a:xfrm>
            <a:off x="938784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7" name="node5.body"/>
          <p:cNvSpPr txBox="1"/>
          <p:nvPr/>
        </p:nvSpPr>
        <p:spPr>
          <a:xfrm>
            <a:off x="938784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示例：表格页的标题写出需要关注的结论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F9FB96F5-10DB-52DF-A899-916C9A5CEED0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8" cy="2540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180114"/>
                <a:gridCol w="2873828"/>
                <a:gridCol w="2090057"/>
                <a:gridCol w="1828799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示例：事项</a:t>
                      </a:r>
                    </a:p>
                  </a:txBody>
                  <a:tcPr anchor="ctr">
                    <a:solidFill>
                      <a:srgbClr val="123A6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责任单位</a:t>
                      </a:r>
                    </a:p>
                  </a:txBody>
                  <a:tcPr anchor="ctr">
                    <a:solidFill>
                      <a:srgbClr val="123A6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完成时限</a:t>
                      </a:r>
                    </a:p>
                  </a:txBody>
                  <a:tcPr anchor="ctr">
                    <a:solidFill>
                      <a:srgbClr val="123A6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进展</a:t>
                      </a:r>
                    </a:p>
                  </a:txBody>
                  <a:tcPr anchor="ctr">
                    <a:solidFill>
                      <a:srgbClr val="123A6B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示例：重点任务一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已完成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示例：重点任务二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示例：重点任务三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2027-03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示例：重点任务四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2027-06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4303F"/>
                          </a:solidFill>
                          <a:latin typeface="Arial"/>
                          <a:ea typeface="微软雅黑"/>
                        </a:rPr>
                        <a:t>未启动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2672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6B7A"/>
                </a:solidFill>
                <a:latin typeface="Arial"/>
                <a:ea typeface="微软雅黑"/>
              </a:rPr>
              <a:t>示例：表下说明一句需要领导关注或协调的事项。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示例：总体架构分四层，自下而上支撑业务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AC34E621-F48A-5079-B147-52840DBB815F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layer1.box"/>
          <p:cNvSpPr/>
          <p:nvPr/>
        </p:nvSpPr>
        <p:spPr>
          <a:xfrm>
            <a:off x="609600" y="1498600"/>
            <a:ext cx="1905000" cy="9906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ayer1.name"/>
          <p:cNvSpPr txBox="1"/>
          <p:nvPr/>
        </p:nvSpPr>
        <p:spPr>
          <a:xfrm>
            <a:off x="762000" y="1498600"/>
            <a:ext cx="1600200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示例：应用层</a:t>
            </a:r>
          </a:p>
        </p:txBody>
      </p:sp>
      <p:sp>
        <p:nvSpPr>
          <p:cNvPr id="9" name="layer1.c1bg"/>
          <p:cNvSpPr/>
          <p:nvPr/>
        </p:nvSpPr>
        <p:spPr>
          <a:xfrm>
            <a:off x="2717800" y="14986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ayer1.c1"/>
          <p:cNvSpPr txBox="1"/>
          <p:nvPr/>
        </p:nvSpPr>
        <p:spPr>
          <a:xfrm>
            <a:off x="2870200" y="14986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示例：组件一</a:t>
            </a:r>
          </a:p>
        </p:txBody>
      </p:sp>
      <p:sp>
        <p:nvSpPr>
          <p:cNvPr id="11" name="layer1.c2bg"/>
          <p:cNvSpPr/>
          <p:nvPr/>
        </p:nvSpPr>
        <p:spPr>
          <a:xfrm>
            <a:off x="5723466" y="14986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ayer1.c2"/>
          <p:cNvSpPr txBox="1"/>
          <p:nvPr/>
        </p:nvSpPr>
        <p:spPr>
          <a:xfrm>
            <a:off x="5875866" y="14986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示例：组件二</a:t>
            </a:r>
          </a:p>
        </p:txBody>
      </p:sp>
      <p:sp>
        <p:nvSpPr>
          <p:cNvPr id="13" name="layer1.c3bg"/>
          <p:cNvSpPr/>
          <p:nvPr/>
        </p:nvSpPr>
        <p:spPr>
          <a:xfrm>
            <a:off x="8729133" y="14986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ayer1.c3"/>
          <p:cNvSpPr txBox="1"/>
          <p:nvPr/>
        </p:nvSpPr>
        <p:spPr>
          <a:xfrm>
            <a:off x="8881533" y="14986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示例：组件三</a:t>
            </a:r>
          </a:p>
        </p:txBody>
      </p:sp>
      <p:sp>
        <p:nvSpPr>
          <p:cNvPr id="15" name="layer2.box"/>
          <p:cNvSpPr/>
          <p:nvPr/>
        </p:nvSpPr>
        <p:spPr>
          <a:xfrm>
            <a:off x="609600" y="2616200"/>
            <a:ext cx="1905000" cy="9906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ayer2.name"/>
          <p:cNvSpPr txBox="1"/>
          <p:nvPr/>
        </p:nvSpPr>
        <p:spPr>
          <a:xfrm>
            <a:off x="762000" y="2616200"/>
            <a:ext cx="1600200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示例：服务层</a:t>
            </a:r>
          </a:p>
        </p:txBody>
      </p:sp>
      <p:sp>
        <p:nvSpPr>
          <p:cNvPr id="17" name="layer2.c1bg"/>
          <p:cNvSpPr/>
          <p:nvPr/>
        </p:nvSpPr>
        <p:spPr>
          <a:xfrm>
            <a:off x="2717800" y="26162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layer2.c1"/>
          <p:cNvSpPr txBox="1"/>
          <p:nvPr/>
        </p:nvSpPr>
        <p:spPr>
          <a:xfrm>
            <a:off x="2870200" y="26162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示例：组件一</a:t>
            </a:r>
          </a:p>
        </p:txBody>
      </p:sp>
      <p:sp>
        <p:nvSpPr>
          <p:cNvPr id="19" name="layer2.c2bg"/>
          <p:cNvSpPr/>
          <p:nvPr/>
        </p:nvSpPr>
        <p:spPr>
          <a:xfrm>
            <a:off x="5723466" y="26162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ayer2.c2"/>
          <p:cNvSpPr txBox="1"/>
          <p:nvPr/>
        </p:nvSpPr>
        <p:spPr>
          <a:xfrm>
            <a:off x="5875866" y="26162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示例：组件二</a:t>
            </a:r>
          </a:p>
        </p:txBody>
      </p:sp>
      <p:sp>
        <p:nvSpPr>
          <p:cNvPr id="21" name="layer2.c3bg"/>
          <p:cNvSpPr/>
          <p:nvPr/>
        </p:nvSpPr>
        <p:spPr>
          <a:xfrm>
            <a:off x="8729133" y="26162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ayer2.c3"/>
          <p:cNvSpPr txBox="1"/>
          <p:nvPr/>
        </p:nvSpPr>
        <p:spPr>
          <a:xfrm>
            <a:off x="8881533" y="26162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示例：组件三</a:t>
            </a:r>
          </a:p>
        </p:txBody>
      </p:sp>
      <p:sp>
        <p:nvSpPr>
          <p:cNvPr id="23" name="layer3.box"/>
          <p:cNvSpPr/>
          <p:nvPr/>
        </p:nvSpPr>
        <p:spPr>
          <a:xfrm>
            <a:off x="609600" y="3733800"/>
            <a:ext cx="1905000" cy="9906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ayer3.name"/>
          <p:cNvSpPr txBox="1"/>
          <p:nvPr/>
        </p:nvSpPr>
        <p:spPr>
          <a:xfrm>
            <a:off x="762000" y="3733800"/>
            <a:ext cx="1600200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示例：数据层</a:t>
            </a:r>
          </a:p>
        </p:txBody>
      </p:sp>
      <p:sp>
        <p:nvSpPr>
          <p:cNvPr id="25" name="layer3.c1bg"/>
          <p:cNvSpPr/>
          <p:nvPr/>
        </p:nvSpPr>
        <p:spPr>
          <a:xfrm>
            <a:off x="2717800" y="37338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layer3.c1"/>
          <p:cNvSpPr txBox="1"/>
          <p:nvPr/>
        </p:nvSpPr>
        <p:spPr>
          <a:xfrm>
            <a:off x="2870200" y="37338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示例：组件一</a:t>
            </a:r>
          </a:p>
        </p:txBody>
      </p:sp>
      <p:sp>
        <p:nvSpPr>
          <p:cNvPr id="27" name="layer3.c2bg"/>
          <p:cNvSpPr/>
          <p:nvPr/>
        </p:nvSpPr>
        <p:spPr>
          <a:xfrm>
            <a:off x="5723466" y="37338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ayer3.c2"/>
          <p:cNvSpPr txBox="1"/>
          <p:nvPr/>
        </p:nvSpPr>
        <p:spPr>
          <a:xfrm>
            <a:off x="5875866" y="37338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示例：组件二</a:t>
            </a:r>
          </a:p>
        </p:txBody>
      </p:sp>
      <p:sp>
        <p:nvSpPr>
          <p:cNvPr id="29" name="layer3.c3bg"/>
          <p:cNvSpPr/>
          <p:nvPr/>
        </p:nvSpPr>
        <p:spPr>
          <a:xfrm>
            <a:off x="8729133" y="37338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layer3.c3"/>
          <p:cNvSpPr txBox="1"/>
          <p:nvPr/>
        </p:nvSpPr>
        <p:spPr>
          <a:xfrm>
            <a:off x="8881533" y="37338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示例：组件三</a:t>
            </a:r>
          </a:p>
        </p:txBody>
      </p:sp>
      <p:sp>
        <p:nvSpPr>
          <p:cNvPr id="31" name="layer4.box"/>
          <p:cNvSpPr/>
          <p:nvPr/>
        </p:nvSpPr>
        <p:spPr>
          <a:xfrm>
            <a:off x="609600" y="4851400"/>
            <a:ext cx="1905000" cy="9906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layer4.name"/>
          <p:cNvSpPr txBox="1"/>
          <p:nvPr/>
        </p:nvSpPr>
        <p:spPr>
          <a:xfrm>
            <a:off x="762000" y="4851400"/>
            <a:ext cx="1600200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示例：基础设施</a:t>
            </a:r>
          </a:p>
        </p:txBody>
      </p:sp>
      <p:sp>
        <p:nvSpPr>
          <p:cNvPr id="33" name="layer4.c1bg"/>
          <p:cNvSpPr/>
          <p:nvPr/>
        </p:nvSpPr>
        <p:spPr>
          <a:xfrm>
            <a:off x="2717800" y="48514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layer4.c1"/>
          <p:cNvSpPr txBox="1"/>
          <p:nvPr/>
        </p:nvSpPr>
        <p:spPr>
          <a:xfrm>
            <a:off x="2870200" y="48514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示例：组件一</a:t>
            </a:r>
          </a:p>
        </p:txBody>
      </p:sp>
      <p:sp>
        <p:nvSpPr>
          <p:cNvPr id="35" name="layer4.c2bg"/>
          <p:cNvSpPr/>
          <p:nvPr/>
        </p:nvSpPr>
        <p:spPr>
          <a:xfrm>
            <a:off x="5723466" y="48514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ayer4.c2"/>
          <p:cNvSpPr txBox="1"/>
          <p:nvPr/>
        </p:nvSpPr>
        <p:spPr>
          <a:xfrm>
            <a:off x="5875866" y="48514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示例：组件二</a:t>
            </a:r>
          </a:p>
        </p:txBody>
      </p:sp>
      <p:sp>
        <p:nvSpPr>
          <p:cNvPr id="37" name="layer4.c3bg"/>
          <p:cNvSpPr/>
          <p:nvPr/>
        </p:nvSpPr>
        <p:spPr>
          <a:xfrm>
            <a:off x="8729133" y="4851400"/>
            <a:ext cx="2853266" cy="990600"/>
          </a:xfrm>
          <a:prstGeom prst="rect">
            <a:avLst/>
          </a:prstGeom>
          <a:solidFill>
            <a:srgbClr val="EEF3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layer4.c3"/>
          <p:cNvSpPr txBox="1"/>
          <p:nvPr/>
        </p:nvSpPr>
        <p:spPr>
          <a:xfrm>
            <a:off x="8881533" y="4851400"/>
            <a:ext cx="2548466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示例：组件三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6DA4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23A6B"/>
                </a:solidFill>
                <a:latin typeface="Arial"/>
                <a:ea typeface="微软雅黑"/>
              </a:rPr>
              <a:t>示例：主要风险可控，两项需要重点盯防</a:t>
            </a:r>
          </a:p>
        </p:txBody>
      </p:sp>
      <p:cxnSp>
        <p:nvCxnSpPr>
          <p:cNvPr id="4" name="deco.rule"/>
          <p:cNvCxnSpPr/>
          <p:nvPr/>
        </p:nvCxnSpPr>
        <p:spPr>
          <a:xfrm>
            <a:off x="609600" y="12700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F6B7A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C183AD3-8013-53EF-9835-C5707B962D63}" type="slidenum">
              <a:rPr lang="zh-CN" sz="1000">
                <a:solidFill>
                  <a:srgbClr val="5F6B7A"/>
                </a:solidFill>
                <a:latin typeface="Arial"/>
              </a:rPr>
              <a:t>‹#›</a:t>
            </a:fld>
          </a:p>
        </p:txBody>
      </p:sp>
      <p:sp>
        <p:nvSpPr>
          <p:cNvPr id="7" name="deco.h48"/>
          <p:cNvSpPr txBox="1"/>
          <p:nvPr/>
        </p:nvSpPr>
        <p:spPr>
          <a:xfrm>
            <a:off x="609600" y="14986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F6B7A"/>
                </a:solidFill>
                <a:latin typeface="Arial"/>
                <a:ea typeface="微软雅黑"/>
              </a:rPr>
              <a:t>等级</a:t>
            </a:r>
          </a:p>
        </p:txBody>
      </p:sp>
      <p:sp>
        <p:nvSpPr>
          <p:cNvPr id="8" name="deco.h132"/>
          <p:cNvSpPr txBox="1"/>
          <p:nvPr/>
        </p:nvSpPr>
        <p:spPr>
          <a:xfrm>
            <a:off x="1676400" y="1498600"/>
            <a:ext cx="355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F6B7A"/>
                </a:solidFill>
                <a:latin typeface="Arial"/>
                <a:ea typeface="微软雅黑"/>
              </a:rPr>
              <a:t>风险</a:t>
            </a:r>
          </a:p>
        </p:txBody>
      </p:sp>
      <p:sp>
        <p:nvSpPr>
          <p:cNvPr id="9" name="deco.h436"/>
          <p:cNvSpPr txBox="1"/>
          <p:nvPr/>
        </p:nvSpPr>
        <p:spPr>
          <a:xfrm>
            <a:off x="5537200" y="14986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F6B7A"/>
                </a:solidFill>
                <a:latin typeface="Arial"/>
                <a:ea typeface="微软雅黑"/>
              </a:rPr>
              <a:t>应对措施</a:t>
            </a:r>
          </a:p>
        </p:txBody>
      </p:sp>
      <p:sp>
        <p:nvSpPr>
          <p:cNvPr id="10" name="deco.h780"/>
          <p:cNvSpPr txBox="1"/>
          <p:nvPr/>
        </p:nvSpPr>
        <p:spPr>
          <a:xfrm>
            <a:off x="9906000" y="14986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F6B7A"/>
                </a:solidFill>
                <a:latin typeface="Arial"/>
                <a:ea typeface="微软雅黑"/>
              </a:rPr>
              <a:t>责任人</a:t>
            </a:r>
          </a:p>
        </p:txBody>
      </p:sp>
      <p:cxnSp>
        <p:nvCxnSpPr>
          <p:cNvPr id="11" name="deco.head"/>
          <p:cNvCxnSpPr/>
          <p:nvPr/>
        </p:nvCxnSpPr>
        <p:spPr>
          <a:xfrm>
            <a:off x="609600" y="1828800"/>
            <a:ext cx="10972800" cy="0"/>
          </a:xfrm>
          <a:prstGeom prst="line">
            <a:avLst/>
          </a:prstGeom>
          <a:ln w="15875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sk1.pill"/>
          <p:cNvSpPr/>
          <p:nvPr/>
        </p:nvSpPr>
        <p:spPr>
          <a:xfrm>
            <a:off x="609600" y="21082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sk1.level"/>
          <p:cNvSpPr txBox="1"/>
          <p:nvPr/>
        </p:nvSpPr>
        <p:spPr>
          <a:xfrm>
            <a:off x="609600" y="2108200"/>
            <a:ext cx="6096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高</a:t>
            </a:r>
          </a:p>
        </p:txBody>
      </p:sp>
      <p:sp>
        <p:nvSpPr>
          <p:cNvPr id="14" name="risk1.title"/>
          <p:cNvSpPr txBox="1"/>
          <p:nvPr/>
        </p:nvSpPr>
        <p:spPr>
          <a:xfrm>
            <a:off x="1676400" y="20574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示例：风险事项一</a:t>
            </a:r>
          </a:p>
        </p:txBody>
      </p:sp>
      <p:sp>
        <p:nvSpPr>
          <p:cNvPr id="15" name="risk1.desc"/>
          <p:cNvSpPr txBox="1"/>
          <p:nvPr/>
        </p:nvSpPr>
        <p:spPr>
          <a:xfrm>
            <a:off x="1676400" y="24130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示例：触发条件与可能影响</a:t>
            </a:r>
          </a:p>
        </p:txBody>
      </p:sp>
      <p:sp>
        <p:nvSpPr>
          <p:cNvPr id="16" name="risk1.measure"/>
          <p:cNvSpPr txBox="1"/>
          <p:nvPr/>
        </p:nvSpPr>
        <p:spPr>
          <a:xfrm>
            <a:off x="5537200" y="2057400"/>
            <a:ext cx="4064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示例：具体应对措施与验证标准</a:t>
            </a:r>
          </a:p>
        </p:txBody>
      </p:sp>
      <p:sp>
        <p:nvSpPr>
          <p:cNvPr id="17" name="risk1.owner"/>
          <p:cNvSpPr txBox="1"/>
          <p:nvPr/>
        </p:nvSpPr>
        <p:spPr>
          <a:xfrm>
            <a:off x="9906000" y="2057400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示例部门</a:t>
            </a:r>
          </a:p>
        </p:txBody>
      </p:sp>
      <p:cxnSp>
        <p:nvCxnSpPr>
          <p:cNvPr id="18" name="risk1.rule"/>
          <p:cNvCxnSpPr/>
          <p:nvPr/>
        </p:nvCxnSpPr>
        <p:spPr>
          <a:xfrm>
            <a:off x="609600" y="28956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sk2.pill"/>
          <p:cNvSpPr/>
          <p:nvPr/>
        </p:nvSpPr>
        <p:spPr>
          <a:xfrm>
            <a:off x="609600" y="30988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sk2.level"/>
          <p:cNvSpPr txBox="1"/>
          <p:nvPr/>
        </p:nvSpPr>
        <p:spPr>
          <a:xfrm>
            <a:off x="609600" y="3098800"/>
            <a:ext cx="6096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高</a:t>
            </a:r>
          </a:p>
        </p:txBody>
      </p:sp>
      <p:sp>
        <p:nvSpPr>
          <p:cNvPr id="21" name="risk2.title"/>
          <p:cNvSpPr txBox="1"/>
          <p:nvPr/>
        </p:nvSpPr>
        <p:spPr>
          <a:xfrm>
            <a:off x="1676400" y="30480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示例：风险事项二</a:t>
            </a:r>
          </a:p>
        </p:txBody>
      </p:sp>
      <p:sp>
        <p:nvSpPr>
          <p:cNvPr id="22" name="risk2.desc"/>
          <p:cNvSpPr txBox="1"/>
          <p:nvPr/>
        </p:nvSpPr>
        <p:spPr>
          <a:xfrm>
            <a:off x="1676400" y="34036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示例：触发条件与可能影响</a:t>
            </a:r>
          </a:p>
        </p:txBody>
      </p:sp>
      <p:sp>
        <p:nvSpPr>
          <p:cNvPr id="23" name="risk2.measure"/>
          <p:cNvSpPr txBox="1"/>
          <p:nvPr/>
        </p:nvSpPr>
        <p:spPr>
          <a:xfrm>
            <a:off x="5537200" y="3048000"/>
            <a:ext cx="4064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示例：具体应对措施与验证标准</a:t>
            </a:r>
          </a:p>
        </p:txBody>
      </p:sp>
      <p:sp>
        <p:nvSpPr>
          <p:cNvPr id="24" name="risk2.owner"/>
          <p:cNvSpPr txBox="1"/>
          <p:nvPr/>
        </p:nvSpPr>
        <p:spPr>
          <a:xfrm>
            <a:off x="9906000" y="3048000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示例部门</a:t>
            </a:r>
          </a:p>
        </p:txBody>
      </p:sp>
      <p:cxnSp>
        <p:nvCxnSpPr>
          <p:cNvPr id="25" name="risk2.rule"/>
          <p:cNvCxnSpPr/>
          <p:nvPr/>
        </p:nvCxnSpPr>
        <p:spPr>
          <a:xfrm>
            <a:off x="609600" y="38862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sk3.pill"/>
          <p:cNvSpPr/>
          <p:nvPr/>
        </p:nvSpPr>
        <p:spPr>
          <a:xfrm>
            <a:off x="609600" y="40894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isk3.level"/>
          <p:cNvSpPr txBox="1"/>
          <p:nvPr/>
        </p:nvSpPr>
        <p:spPr>
          <a:xfrm>
            <a:off x="609600" y="4089400"/>
            <a:ext cx="6096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中</a:t>
            </a:r>
          </a:p>
        </p:txBody>
      </p:sp>
      <p:sp>
        <p:nvSpPr>
          <p:cNvPr id="28" name="risk3.title"/>
          <p:cNvSpPr txBox="1"/>
          <p:nvPr/>
        </p:nvSpPr>
        <p:spPr>
          <a:xfrm>
            <a:off x="1676400" y="40386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示例：风险事项三</a:t>
            </a:r>
          </a:p>
        </p:txBody>
      </p:sp>
      <p:sp>
        <p:nvSpPr>
          <p:cNvPr id="29" name="risk3.desc"/>
          <p:cNvSpPr txBox="1"/>
          <p:nvPr/>
        </p:nvSpPr>
        <p:spPr>
          <a:xfrm>
            <a:off x="1676400" y="43942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示例：触发条件与可能影响</a:t>
            </a:r>
          </a:p>
        </p:txBody>
      </p:sp>
      <p:sp>
        <p:nvSpPr>
          <p:cNvPr id="30" name="risk3.measure"/>
          <p:cNvSpPr txBox="1"/>
          <p:nvPr/>
        </p:nvSpPr>
        <p:spPr>
          <a:xfrm>
            <a:off x="5537200" y="4038600"/>
            <a:ext cx="4064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示例：具体应对措施与验证标准</a:t>
            </a:r>
          </a:p>
        </p:txBody>
      </p:sp>
      <p:sp>
        <p:nvSpPr>
          <p:cNvPr id="31" name="risk3.owner"/>
          <p:cNvSpPr txBox="1"/>
          <p:nvPr/>
        </p:nvSpPr>
        <p:spPr>
          <a:xfrm>
            <a:off x="9906000" y="4038600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示例部门</a:t>
            </a:r>
          </a:p>
        </p:txBody>
      </p:sp>
      <p:cxnSp>
        <p:nvCxnSpPr>
          <p:cNvPr id="32" name="risk3.rule"/>
          <p:cNvCxnSpPr/>
          <p:nvPr/>
        </p:nvCxnSpPr>
        <p:spPr>
          <a:xfrm>
            <a:off x="609600" y="48768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sk4.pill"/>
          <p:cNvSpPr/>
          <p:nvPr/>
        </p:nvSpPr>
        <p:spPr>
          <a:xfrm>
            <a:off x="609600" y="50800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isk4.level"/>
          <p:cNvSpPr txBox="1"/>
          <p:nvPr/>
        </p:nvSpPr>
        <p:spPr>
          <a:xfrm>
            <a:off x="609600" y="5080000"/>
            <a:ext cx="6096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中</a:t>
            </a:r>
          </a:p>
        </p:txBody>
      </p:sp>
      <p:sp>
        <p:nvSpPr>
          <p:cNvPr id="35" name="risk4.title"/>
          <p:cNvSpPr txBox="1"/>
          <p:nvPr/>
        </p:nvSpPr>
        <p:spPr>
          <a:xfrm>
            <a:off x="1676400" y="50292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4303F"/>
                </a:solidFill>
                <a:latin typeface="Arial"/>
                <a:ea typeface="微软雅黑"/>
              </a:rPr>
              <a:t>示例：风险事项四</a:t>
            </a:r>
          </a:p>
        </p:txBody>
      </p:sp>
      <p:sp>
        <p:nvSpPr>
          <p:cNvPr id="36" name="risk4.desc"/>
          <p:cNvSpPr txBox="1"/>
          <p:nvPr/>
        </p:nvSpPr>
        <p:spPr>
          <a:xfrm>
            <a:off x="1676400" y="53848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F6B7A"/>
                </a:solidFill>
                <a:latin typeface="Arial"/>
                <a:ea typeface="微软雅黑"/>
              </a:rPr>
              <a:t>示例：触发条件与可能影响</a:t>
            </a:r>
          </a:p>
        </p:txBody>
      </p:sp>
      <p:sp>
        <p:nvSpPr>
          <p:cNvPr id="37" name="risk4.measure"/>
          <p:cNvSpPr txBox="1"/>
          <p:nvPr/>
        </p:nvSpPr>
        <p:spPr>
          <a:xfrm>
            <a:off x="5537200" y="5029200"/>
            <a:ext cx="4064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示例：具体应对措施与验证标准</a:t>
            </a:r>
          </a:p>
        </p:txBody>
      </p:sp>
      <p:sp>
        <p:nvSpPr>
          <p:cNvPr id="38" name="risk4.owner"/>
          <p:cNvSpPr txBox="1"/>
          <p:nvPr/>
        </p:nvSpPr>
        <p:spPr>
          <a:xfrm>
            <a:off x="9906000" y="5029200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303F"/>
                </a:solidFill>
                <a:latin typeface="Arial"/>
                <a:ea typeface="微软雅黑"/>
              </a:rPr>
              <a:t>示例部门</a:t>
            </a:r>
          </a:p>
        </p:txBody>
      </p:sp>
      <p:cxnSp>
        <p:nvCxnSpPr>
          <p:cNvPr id="39" name="risk4.rule"/>
          <p:cNvCxnSpPr/>
          <p:nvPr/>
        </p:nvCxnSpPr>
        <p:spPr>
          <a:xfrm>
            <a:off x="609600" y="5867400"/>
            <a:ext cx="10972800" cy="0"/>
          </a:xfrm>
          <a:prstGeom prst="line">
            <a:avLst/>
          </a:prstGeom>
          <a:ln w="9525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eco.gv0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.gv1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.gv2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.gv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eco.gv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eco.gv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eco.gv6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eco.gv7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eco.gv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eco.gh0"/>
          <p:cNvCxnSpPr/>
          <p:nvPr/>
        </p:nvCxnSpPr>
        <p:spPr>
          <a:xfrm>
            <a:off x="0" y="1714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eco.gh1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eco.gh2"/>
          <p:cNvCxnSpPr/>
          <p:nvPr/>
        </p:nvCxnSpPr>
        <p:spPr>
          <a:xfrm>
            <a:off x="0" y="5143500"/>
            <a:ext cx="12192000" cy="0"/>
          </a:xfrm>
          <a:prstGeom prst="line">
            <a:avLst/>
          </a:prstGeom>
          <a:ln w="6350">
            <a:solidFill>
              <a:srgbClr val="2A5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"/>
          <p:cNvSpPr txBox="1"/>
          <p:nvPr/>
        </p:nvSpPr>
        <p:spPr>
          <a:xfrm>
            <a:off x="914400" y="2413000"/>
            <a:ext cx="812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感谢聆听</a:t>
            </a:r>
          </a:p>
        </p:txBody>
      </p:sp>
      <p:sp>
        <p:nvSpPr>
          <p:cNvPr id="15" name="subtitle"/>
          <p:cNvSpPr txBox="1"/>
          <p:nvPr/>
        </p:nvSpPr>
        <p:spPr>
          <a:xfrm>
            <a:off x="914400" y="34544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C9DE"/>
                </a:solidFill>
                <a:latin typeface="Arial"/>
                <a:ea typeface="微软雅黑"/>
              </a:rPr>
              <a:t>示例：恳请各位领导批评指正</a:t>
            </a:r>
          </a:p>
        </p:txBody>
      </p:sp>
      <p:sp>
        <p:nvSpPr>
          <p:cNvPr id="16" name="contact"/>
          <p:cNvSpPr txBox="1"/>
          <p:nvPr/>
        </p:nvSpPr>
        <p:spPr>
          <a:xfrm>
            <a:off x="914400" y="55880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9DE"/>
                </a:solidFill>
                <a:latin typeface="Arial"/>
                <a:ea typeface="微软雅黑"/>
              </a:rPr>
              <a:t>示例单位 · 联系人 ·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">
      <a:dk1>
        <a:srgbClr val="24303F"/>
      </a:dk1>
      <a:lt1>
        <a:srgbClr val="FFFFFF"/>
      </a:lt1>
      <a:dk2>
        <a:srgbClr val="123A6B"/>
      </a:dk2>
      <a:lt2>
        <a:srgbClr val="EEF3F9"/>
      </a:lt2>
      <a:accent1>
        <a:srgbClr val="123A6B"/>
      </a:accent1>
      <a:accent2>
        <a:srgbClr val="E39A2D"/>
      </a:accent2>
      <a:accent3>
        <a:srgbClr val="2E6DA4"/>
      </a:accent3>
      <a:accent4>
        <a:srgbClr val="5F6B7A"/>
      </a:accent4>
      <a:accent5>
        <a:srgbClr val="B8C9DE"/>
      </a:accent5>
      <a:accent6>
        <a:srgbClr val="D5DEE8"/>
      </a:accent6>
      <a:hlink>
        <a:srgbClr val="2E6DA4"/>
      </a:hlink>
      <a:folHlink>
        <a:srgbClr val="5F6B7A"/>
      </a:folHlink>
    </a:clrScheme>
    <a:fontScheme name="blueprint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蓝图 模板</dc:title>
  <dc:subject/>
  <dc:creator/>
  <cp:keywords/>
  <dc:description>generated using python-pptx</dc:description>
  <cp:lastModifiedBy/>
  <cp:revision>1</cp:revision>
  <dcterms:created xsi:type="dcterms:W3CDTF">2026-10-27T00:00:00Z</dcterms:created>
  <dcterms:modified xsi:type="dcterms:W3CDTF">2026-10-27T00:00:00Z</dcterms:modified>
  <cp:category/>
</cp:coreProperties>
</file>