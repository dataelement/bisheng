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1B2A4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0293A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FE6"/>
            </a:solidFill>
          </a:ln>
        </c:spPr>
        <c:txPr>
          <a:bodyPr/>
          <a:lstStyle/>
          <a:p>
            <a:pPr>
              <a:defRPr sz="1000">
                <a:solidFill>
                  <a:srgbClr val="6670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DF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670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6707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2025 收入</c:v>
                </c:pt>
                <c:pt idx="1">
                  <c:v>价格</c:v>
                </c:pt>
                <c:pt idx="2">
                  <c:v>销量</c:v>
                </c:pt>
                <c:pt idx="3">
                  <c:v>结构</c:v>
                </c:pt>
                <c:pt idx="4">
                  <c:v>汇率</c:v>
                </c:pt>
                <c:pt idx="5">
                  <c:v>2026 收入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100.0</c:v>
                </c:pt>
                <c:pt idx="2">
                  <c:v>108.5</c:v>
                </c:pt>
                <c:pt idx="3">
                  <c:v>116.6</c:v>
                </c:pt>
                <c:pt idx="4">
                  <c:v>115.0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示例：收入变动（亿元）</c:v>
                </c:pt>
              </c:strCache>
            </c:strRef>
          </c:tx>
          <c:spPr>
            <a:solidFill>
              <a:srgbClr val="1B2A4A"/>
            </a:solidFill>
          </c:spPr>
          <c:dPt>
            <c:idx val="0"/>
            <c:spPr>
              <a:solidFill>
                <a:srgbClr val="1B2A4A"/>
              </a:solidFill>
            </c:spPr>
          </c:dPt>
          <c:dPt>
            <c:idx val="1"/>
            <c:spPr>
              <a:solidFill>
                <a:srgbClr val="B8955A"/>
              </a:solidFill>
            </c:spPr>
          </c:dPt>
          <c:dPt>
            <c:idx val="2"/>
            <c:spPr>
              <a:solidFill>
                <a:srgbClr val="B8955A"/>
              </a:solidFill>
            </c:spPr>
          </c:dPt>
          <c:dPt>
            <c:idx val="3"/>
            <c:spPr>
              <a:solidFill>
                <a:srgbClr val="C0504D"/>
              </a:solidFill>
            </c:spPr>
          </c:dPt>
          <c:dPt>
            <c:idx val="4"/>
            <c:spPr>
              <a:solidFill>
                <a:srgbClr val="C0504D"/>
              </a:solidFill>
            </c:spPr>
          </c:dPt>
          <c:dPt>
            <c:idx val="5"/>
            <c:spPr>
              <a:solidFill>
                <a:srgbClr val="1B2A4A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20293A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 收入</c:v>
                </c:pt>
                <c:pt idx="1">
                  <c:v>价格</c:v>
                </c:pt>
                <c:pt idx="2">
                  <c:v>销量</c:v>
                </c:pt>
                <c:pt idx="3">
                  <c:v>结构</c:v>
                </c:pt>
                <c:pt idx="4">
                  <c:v>汇率</c:v>
                </c:pt>
                <c:pt idx="5">
                  <c:v>2026 收入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8.5</c:v>
                </c:pt>
                <c:pt idx="2">
                  <c:v>12.3</c:v>
                </c:pt>
                <c:pt idx="3">
                  <c:v>4.2</c:v>
                </c:pt>
                <c:pt idx="4">
                  <c:v>1.6</c:v>
                </c:pt>
                <c:pt idx="5">
                  <c:v>115.0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FE6"/>
            </a:solidFill>
          </a:ln>
        </c:spPr>
        <c:txPr>
          <a:bodyPr/>
          <a:lstStyle/>
          <a:p>
            <a:pPr>
              <a:defRPr sz="1000">
                <a:solidFill>
                  <a:srgbClr val="6670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DF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670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6707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scorecard（指标计分表）：多项指标的目标与完成情况，突出异常行。页面上的文字均为示例，使用时整体替换。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bridge（贡献对账）：起点到终点的变化拆解（瀑布图）。页面上的文字均为示例，使用时整体替换。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914400" y="1498600"/>
            <a:ext cx="609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3CCDA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4" name="deco.tab"/>
          <p:cNvSpPr/>
          <p:nvPr/>
        </p:nvSpPr>
        <p:spPr>
          <a:xfrm>
            <a:off x="914400" y="1854200"/>
            <a:ext cx="558800" cy="635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itle"/>
          <p:cNvSpPr txBox="1"/>
          <p:nvPr/>
        </p:nvSpPr>
        <p:spPr>
          <a:xfrm>
            <a:off x="914400" y="2057400"/>
            <a:ext cx="6096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示例：主标题写一句核心判断或文稿名称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3886200"/>
            <a:ext cx="6096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3CCDA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7" name="org"/>
          <p:cNvSpPr txBox="1"/>
          <p:nvPr/>
        </p:nvSpPr>
        <p:spPr>
          <a:xfrm>
            <a:off x="914400" y="58674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8" name="date"/>
          <p:cNvSpPr txBox="1"/>
          <p:nvPr/>
        </p:nvSpPr>
        <p:spPr>
          <a:xfrm>
            <a:off x="914400" y="6197600"/>
            <a:ext cx="660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3CCDA"/>
                </a:solidFill>
                <a:latin typeface="Arial"/>
                <a:ea typeface="微软雅黑"/>
              </a:rPr>
              <a:t>2026 年 10 月</a:t>
            </a:r>
          </a:p>
        </p:txBody>
      </p:sp>
      <p:sp>
        <p:nvSpPr>
          <p:cNvPr id="9" name="highlight.number"/>
          <p:cNvSpPr txBox="1"/>
          <p:nvPr/>
        </p:nvSpPr>
        <p:spPr>
          <a:xfrm>
            <a:off x="8128000" y="2489200"/>
            <a:ext cx="3556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000" b="1">
                <a:solidFill>
                  <a:srgbClr val="1B2A4A"/>
                </a:solidFill>
                <a:latin typeface="Arial"/>
                <a:ea typeface="微软雅黑"/>
              </a:rPr>
              <a:t>36.8%</a:t>
            </a:r>
          </a:p>
        </p:txBody>
      </p:sp>
      <p:sp>
        <p:nvSpPr>
          <p:cNvPr id="10" name="highlight.label"/>
          <p:cNvSpPr txBox="1"/>
          <p:nvPr/>
        </p:nvSpPr>
        <p:spPr>
          <a:xfrm>
            <a:off x="8128000" y="3581400"/>
            <a:ext cx="3556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示例：一项最能代表本期结论的指标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B8955A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0293A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0293A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0293A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0293A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0293A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D7164EAD-C2F9-5764-BD66-910850F430CC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B8955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C3CCDA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C3CCD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7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0B9FFAC-B623-5EE0-B271-BA206C3D734F}" type="slidenum">
              <a:rPr lang="zh-CN" sz="1000">
                <a:solidFill>
                  <a:srgbClr val="C3CCDA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D441F53-FCD6-523A-8E0B-97E32BCEAD75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0293A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707F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5F4E380A-6C71-5153-93B4-672DBE50471A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B8955A"/>
              </a:buClr>
              <a:buFont typeface="Arial"/>
              <a:buChar char="•"/>
            </a:pPr>
            <a:r>
              <a:rPr sz="1500" b="0">
                <a:solidFill>
                  <a:srgbClr val="20293A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B8955A"/>
              </a:buClr>
              <a:buFont typeface="Arial"/>
              <a:buChar char="•"/>
            </a:pPr>
            <a:r>
              <a:rPr sz="1500" b="0">
                <a:solidFill>
                  <a:srgbClr val="20293A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B8955A"/>
              </a:buClr>
              <a:buFont typeface="Arial"/>
              <a:buChar char="•"/>
            </a:pPr>
            <a:r>
              <a:rPr sz="1500" b="0">
                <a:solidFill>
                  <a:srgbClr val="20293A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7AD9297-C7A4-5FAC-8099-378DA30F59CF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6707F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9C75570-5F98-5438-967F-257D3380DC42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B8955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6707F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0609987-11B4-5492-88BE-7BEDC0138A13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A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0293A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A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0293A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A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0293A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A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0293A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4419E3E0-BF7F-5C42-8FC3-D4B9A7D0982B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1B767B22-C2AB-5A43-AB7F-C2F649DCF23D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44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B89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950F933-C224-5BA1-9F88-B2BDE135BA77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0293A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6707F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0293A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6707F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0293A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6707F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0293A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6707F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5E9E063-CE35-5237-9DF1-78DD2AF0C627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DAD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A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A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A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A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A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0293A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6707F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49E0473-00C8-5CE8-88B9-C3B049F81443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6707F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示例：五项指标四项达标，回款率需要关注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366128F-4C37-557A-8250-A070D1FA87FD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6" cy="3048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101008"/>
                <a:gridCol w="1431234"/>
                <a:gridCol w="1431234"/>
                <a:gridCol w="1431234"/>
                <a:gridCol w="3578086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示例：指标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目标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实际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完成率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营业收入（亿元）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120.0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128.6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107%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示例：超额完成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净利润（亿元）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10.0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10.8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108%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示例：结构优化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1">
                          <a:solidFill>
                            <a:srgbClr val="B3261E"/>
                          </a:solidFill>
                          <a:latin typeface="Arial"/>
                          <a:ea typeface="微软雅黑"/>
                        </a:rPr>
                        <a:t>回款率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1">
                          <a:solidFill>
                            <a:srgbClr val="B3261E"/>
                          </a:solidFill>
                          <a:latin typeface="Arial"/>
                          <a:ea typeface="微软雅黑"/>
                        </a:rPr>
                        <a:t>95%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1">
                          <a:solidFill>
                            <a:srgbClr val="B3261E"/>
                          </a:solidFill>
                          <a:latin typeface="Arial"/>
                          <a:ea typeface="微软雅黑"/>
                        </a:rPr>
                        <a:t>86%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1">
                          <a:solidFill>
                            <a:srgbClr val="B3261E"/>
                          </a:solidFill>
                          <a:latin typeface="Arial"/>
                          <a:ea typeface="微软雅黑"/>
                        </a:rPr>
                        <a:t>91%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1">
                          <a:solidFill>
                            <a:srgbClr val="B3261E"/>
                          </a:solidFill>
                          <a:latin typeface="Arial"/>
                          <a:ea typeface="微软雅黑"/>
                        </a:rPr>
                        <a:t>示例：两个大项目延期付款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BE9E7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新签合同（亿元）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162.3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108%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示例：新签大单两项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安全生产事故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达标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0293A"/>
                          </a:solidFill>
                          <a:latin typeface="Arial"/>
                          <a:ea typeface="微软雅黑"/>
                        </a:rPr>
                        <a:t>示例：全年无事故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F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lert.bg"/>
          <p:cNvSpPr/>
          <p:nvPr/>
        </p:nvSpPr>
        <p:spPr>
          <a:xfrm>
            <a:off x="609600" y="4749800"/>
            <a:ext cx="10972800" cy="660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lert.flag"/>
          <p:cNvSpPr/>
          <p:nvPr/>
        </p:nvSpPr>
        <p:spPr>
          <a:xfrm>
            <a:off x="609600" y="4749800"/>
            <a:ext cx="76200" cy="6604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alert.text"/>
          <p:cNvSpPr txBox="1"/>
          <p:nvPr/>
        </p:nvSpPr>
        <p:spPr>
          <a:xfrm>
            <a:off x="889000" y="4749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0293A"/>
                </a:solidFill>
                <a:latin typeface="Arial"/>
                <a:ea typeface="微软雅黑"/>
              </a:rPr>
              <a:t>示例：异常说明——哪一项没达标、原因、补救动作和时间。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304800"/>
            <a:ext cx="355600" cy="38100"/>
          </a:xfrm>
          <a:prstGeom prst="rect">
            <a:avLst/>
          </a:prstGeom>
          <a:solidFill>
            <a:srgbClr val="B89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5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A"/>
                </a:solidFill>
                <a:latin typeface="Arial"/>
                <a:ea typeface="微软雅黑"/>
              </a:rPr>
              <a:t>示例：收入增长主要来自销量，汇率拖累 1.6 亿元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AB698F0D-232A-576E-A904-571BAC291479}" type="slidenum">
              <a:rPr lang="zh-CN" sz="1000">
                <a:solidFill>
                  <a:srgbClr val="66707F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366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280400" y="1498600"/>
            <a:ext cx="3302000" cy="4191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534400" y="17780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0293A"/>
                </a:solidFill>
                <a:latin typeface="Arial"/>
                <a:ea typeface="微软雅黑"/>
              </a:rPr>
              <a:t>示例：对账结论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534400" y="2463800"/>
            <a:ext cx="2794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示例：起点加各项贡献等于终点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示例：最大正向贡献及原因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B8955A"/>
              </a:buClr>
              <a:buFont typeface="Arial"/>
              <a:buChar char="•"/>
            </a:pPr>
            <a:r>
              <a:rPr sz="1400" b="0">
                <a:solidFill>
                  <a:srgbClr val="20293A"/>
                </a:solidFill>
                <a:latin typeface="Arial"/>
                <a:ea typeface="微软雅黑"/>
              </a:rPr>
              <a:t>示例：最大拖累及应对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36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6707F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side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3CCDA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5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C3CCDA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ng">
  <a:themeElements>
    <a:clrScheme name="operating">
      <a:dk1>
        <a:srgbClr val="20293A"/>
      </a:dk1>
      <a:lt1>
        <a:srgbClr val="FFFFFF"/>
      </a:lt1>
      <a:dk2>
        <a:srgbClr val="1B2A4A"/>
      </a:dk2>
      <a:lt2>
        <a:srgbClr val="F3F5F8"/>
      </a:lt2>
      <a:accent1>
        <a:srgbClr val="1B2A4A"/>
      </a:accent1>
      <a:accent2>
        <a:srgbClr val="B8955A"/>
      </a:accent2>
      <a:accent3>
        <a:srgbClr val="44618C"/>
      </a:accent3>
      <a:accent4>
        <a:srgbClr val="66707F"/>
      </a:accent4>
      <a:accent5>
        <a:srgbClr val="C3CCDA"/>
      </a:accent5>
      <a:accent6>
        <a:srgbClr val="DADFE6"/>
      </a:accent6>
      <a:hlink>
        <a:srgbClr val="44618C"/>
      </a:hlink>
      <a:folHlink>
        <a:srgbClr val="66707F"/>
      </a:folHlink>
    </a:clrScheme>
    <a:fontScheme name="operating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经营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