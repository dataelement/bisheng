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1E4D3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231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FD6"/>
            </a:solidFill>
          </a:ln>
        </c:spPr>
        <c:txPr>
          <a:bodyPr/>
          <a:lstStyle/>
          <a:p>
            <a:pPr>
              <a:defRPr sz="1000">
                <a:solidFill>
                  <a:srgbClr val="5E6E6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3DFD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6E64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E64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objectives（学习目标）：课程开头的学习目标与内容安排。页面上的文字均为示例，使用时整体替换。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quiz（随堂自测）：2–3 道自测题。页面上的文字均为示例，使用时整体替换。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panel"/>
          <p:cNvSpPr/>
          <p:nvPr/>
        </p:nvSpPr>
        <p:spPr>
          <a:xfrm>
            <a:off x="0" y="0"/>
            <a:ext cx="40640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adge"/>
          <p:cNvSpPr txBox="1"/>
          <p:nvPr/>
        </p:nvSpPr>
        <p:spPr>
          <a:xfrm>
            <a:off x="609600" y="812800"/>
            <a:ext cx="2844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FE3D6"/>
                </a:solidFill>
                <a:latin typeface="Arial"/>
                <a:ea typeface="微软雅黑"/>
              </a:rPr>
              <a:t>培训课程</a:t>
            </a:r>
          </a:p>
        </p:txBody>
      </p:sp>
      <p:sp>
        <p:nvSpPr>
          <p:cNvPr id="4" name="speaker"/>
          <p:cNvSpPr txBox="1"/>
          <p:nvPr/>
        </p:nvSpPr>
        <p:spPr>
          <a:xfrm>
            <a:off x="609600" y="54102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ial"/>
                <a:ea typeface="微软雅黑"/>
              </a:rPr>
              <a:t>讲师：示例姓名</a:t>
            </a:r>
          </a:p>
        </p:txBody>
      </p:sp>
      <p:sp>
        <p:nvSpPr>
          <p:cNvPr id="5" name="duration"/>
          <p:cNvSpPr txBox="1"/>
          <p:nvPr/>
        </p:nvSpPr>
        <p:spPr>
          <a:xfrm>
            <a:off x="609600" y="574040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FE3D6"/>
                </a:solidFill>
                <a:latin typeface="Arial"/>
                <a:ea typeface="微软雅黑"/>
              </a:rPr>
              <a:t>时长：示例 90 分钟</a:t>
            </a:r>
          </a:p>
        </p:txBody>
      </p:sp>
      <p:sp>
        <p:nvSpPr>
          <p:cNvPr id="6" name="kicker"/>
          <p:cNvSpPr txBox="1"/>
          <p:nvPr/>
        </p:nvSpPr>
        <p:spPr>
          <a:xfrm>
            <a:off x="4724400" y="19050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98F2E"/>
                </a:solidFill>
                <a:latin typeface="Arial"/>
                <a:ea typeface="微软雅黑"/>
              </a:rPr>
              <a:t>示例 · 新员工入职培训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4724400" y="2286000"/>
            <a:ext cx="6858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1E4D3B"/>
                </a:solidFill>
                <a:latin typeface="Arial"/>
                <a:ea typeface="微软雅黑"/>
              </a:rPr>
              <a:t>示例：用一句话说清这门课要解决的问题</a:t>
            </a:r>
          </a:p>
        </p:txBody>
      </p:sp>
      <p:sp>
        <p:nvSpPr>
          <p:cNvPr id="8" name="subtitle"/>
          <p:cNvSpPr txBox="1"/>
          <p:nvPr/>
        </p:nvSpPr>
        <p:spPr>
          <a:xfrm>
            <a:off x="4724400" y="4140200"/>
            <a:ext cx="685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5E6E64"/>
                </a:solidFill>
                <a:latin typeface="Arial"/>
                <a:ea typeface="微软雅黑"/>
              </a:rPr>
              <a:t>示例：副标题写清对象、范围或学习收获</a:t>
            </a:r>
          </a:p>
        </p:txBody>
      </p:sp>
      <p:sp>
        <p:nvSpPr>
          <p:cNvPr id="9" name="org"/>
          <p:cNvSpPr txBox="1"/>
          <p:nvPr/>
        </p:nvSpPr>
        <p:spPr>
          <a:xfrm>
            <a:off x="4724400" y="59182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10" name="date"/>
          <p:cNvSpPr txBox="1"/>
          <p:nvPr/>
        </p:nvSpPr>
        <p:spPr>
          <a:xfrm>
            <a:off x="4724400" y="622300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98F2E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E4D3B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5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6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7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10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2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3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5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6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8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23129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9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1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0431B1DA-FC68-5EB0-AE69-C478E22073A4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7620000" y="1016000"/>
            <a:ext cx="4318000" cy="4318000"/>
          </a:xfrm>
          <a:prstGeom prst="ellipse">
            <a:avLst/>
          </a:prstGeom>
          <a:noFill/>
          <a:ln w="19050">
            <a:solidFill>
              <a:srgbClr val="6FA2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CFE3D6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CFE3D6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7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F539D8A-04BB-59A5-A67B-202ADEBDFACD}" type="slidenum">
              <a:rPr lang="zh-CN" sz="1000">
                <a:solidFill>
                  <a:srgbClr val="CFE3D6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5F7195C-FFDD-5C92-A924-FE88CA374B60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23129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E6E64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569C87E-0F72-5BAD-9F1B-54B214812A5A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527AE5B-9DEA-5211-96E5-8477444C4ECF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E6E64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56E785F-0755-5605-BBB8-76E189280CC7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98F2E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E6E64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5C339DB-F59C-5AE4-A538-EE26E0364A3E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E4D3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3129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2801DC19-2163-529A-B6BB-7FC7DFFB2DD4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3129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DDE99DBC-CD49-522D-91C3-A1C5582FCF46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223129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oundRect">
            <a:avLst>
              <a:gd name="adj" fmla="val 6000"/>
            </a:avLst>
          </a:prstGeom>
          <a:solidFill>
            <a:srgbClr val="F7F9F6"/>
          </a:solidFill>
          <a:ln w="15875">
            <a:solidFill>
              <a:srgbClr val="C98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9992F9C-8420-572C-A280-A262E2BAD14B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23129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F29BE658-C06A-574C-B146-37C9EEE0EAD4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D3D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C98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E4D3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6E64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2F9B20C-7F9B-563A-B2D6-7EDF2C9D5DB6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1E4D3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F7F9F6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23129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FD6"/>
                      </a:solidFill>
                    </a:lnB>
                    <a:solidFill>
                      <a:srgbClr val="E6EFE8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示例：本节课的学习目标与内容安排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5D2F2DB6-E1F1-5A96-AAED-7D40C33FE5F3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obj.bg"/>
          <p:cNvSpPr/>
          <p:nvPr/>
        </p:nvSpPr>
        <p:spPr>
          <a:xfrm>
            <a:off x="609600" y="1498600"/>
            <a:ext cx="4064000" cy="4318000"/>
          </a:xfrm>
          <a:prstGeom prst="roundRect">
            <a:avLst>
              <a:gd name="adj" fmla="val 6000"/>
            </a:avLst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bj.title"/>
          <p:cNvSpPr txBox="1"/>
          <p:nvPr/>
        </p:nvSpPr>
        <p:spPr>
          <a:xfrm>
            <a:off x="914400" y="1803400"/>
            <a:ext cx="34544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微软雅黑"/>
              </a:rPr>
              <a:t>学习目标</a:t>
            </a:r>
          </a:p>
        </p:txBody>
      </p:sp>
      <p:sp>
        <p:nvSpPr>
          <p:cNvPr id="9" name="obj.items"/>
          <p:cNvSpPr txBox="1"/>
          <p:nvPr/>
        </p:nvSpPr>
        <p:spPr>
          <a:xfrm>
            <a:off x="914400" y="2362200"/>
            <a:ext cx="3454400" cy="317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0000"/>
              </a:lnSpc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示例：能说出制度的三条核心要求</a:t>
            </a:r>
          </a:p>
          <a:p>
            <a:pPr algn="l" marL="177800" indent="-177800">
              <a:lnSpc>
                <a:spcPct val="140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示例：能判断常见场景是否合规</a:t>
            </a:r>
          </a:p>
          <a:p>
            <a:pPr algn="l" marL="177800" indent="-177800">
              <a:lnSpc>
                <a:spcPct val="140000"/>
              </a:lnSpc>
              <a:spcBef>
                <a:spcPts val="489"/>
              </a:spcBef>
              <a:buClr>
                <a:srgbClr val="C98F2E"/>
              </a:buClr>
              <a:buFont typeface="Arial"/>
              <a:buChar char="•"/>
            </a:pPr>
            <a:r>
              <a:rPr sz="1400" b="0">
                <a:solidFill>
                  <a:srgbClr val="CFE3D6"/>
                </a:solidFill>
                <a:latin typeface="Arial"/>
                <a:ea typeface="微软雅黑"/>
              </a:rPr>
              <a:t>示例：知道遇到问题找谁</a:t>
            </a:r>
          </a:p>
        </p:txBody>
      </p:sp>
      <p:sp>
        <p:nvSpPr>
          <p:cNvPr id="10" name="outline.title"/>
          <p:cNvSpPr txBox="1"/>
          <p:nvPr/>
        </p:nvSpPr>
        <p:spPr>
          <a:xfrm>
            <a:off x="5080000" y="1549400"/>
            <a:ext cx="65024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E4D3B"/>
                </a:solidFill>
                <a:latin typeface="Arial"/>
                <a:ea typeface="微软雅黑"/>
              </a:rPr>
              <a:t>本节内容</a:t>
            </a:r>
          </a:p>
        </p:txBody>
      </p:sp>
      <p:sp>
        <p:nvSpPr>
          <p:cNvPr id="11" name="outline.items"/>
          <p:cNvSpPr txBox="1"/>
          <p:nvPr/>
        </p:nvSpPr>
        <p:spPr>
          <a:xfrm>
            <a:off x="5080000" y="2082800"/>
            <a:ext cx="65024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5000"/>
              </a:lnSpc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示例：为什么要有这项制度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示例：三条核心要求逐条讲解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示例：典型案例分析</a:t>
            </a:r>
          </a:p>
          <a:p>
            <a:pPr algn="l" marL="177800" indent="-177800">
              <a:lnSpc>
                <a:spcPct val="145000"/>
              </a:lnSpc>
              <a:spcBef>
                <a:spcPts val="525"/>
              </a:spcBef>
              <a:buClr>
                <a:srgbClr val="C98F2E"/>
              </a:buClr>
              <a:buFont typeface="Arial"/>
              <a:buChar char="•"/>
            </a:pPr>
            <a:r>
              <a:rPr sz="1500" b="0">
                <a:solidFill>
                  <a:srgbClr val="223129"/>
                </a:solidFill>
                <a:latin typeface="Arial"/>
                <a:ea typeface="微软雅黑"/>
              </a:rPr>
              <a:t>示例：随堂自测</a:t>
            </a:r>
          </a:p>
        </p:txBody>
      </p:sp>
      <p:sp>
        <p:nvSpPr>
          <p:cNvPr id="12" name="tip.bg"/>
          <p:cNvSpPr/>
          <p:nvPr/>
        </p:nvSpPr>
        <p:spPr>
          <a:xfrm>
            <a:off x="5080000" y="4775200"/>
            <a:ext cx="6502400" cy="10414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ip.text"/>
          <p:cNvSpPr txBox="1"/>
          <p:nvPr/>
        </p:nvSpPr>
        <p:spPr>
          <a:xfrm>
            <a:off x="5334000" y="4775200"/>
            <a:ext cx="5994400" cy="1041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3129"/>
                </a:solidFill>
                <a:latin typeface="Arial"/>
                <a:ea typeface="微软雅黑"/>
              </a:rPr>
              <a:t>示例：学完本节，你可以独立完成一次合规自查。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bar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8F2E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E4D3B"/>
                </a:solidFill>
                <a:latin typeface="Arial"/>
                <a:ea typeface="微软雅黑"/>
              </a:rPr>
              <a:t>示例：随堂自测，检验一下是否掌握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E6E64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F5C2AFEB-ED3F-5ADC-9965-565CD064975D}" type="slidenum">
              <a:rPr lang="zh-CN" sz="1000">
                <a:solidFill>
                  <a:srgbClr val="5E6E64"/>
                </a:solidFill>
                <a:latin typeface="Arial"/>
              </a:rPr>
              <a:t>‹#›</a:t>
            </a:fld>
          </a:p>
        </p:txBody>
      </p:sp>
      <p:sp>
        <p:nvSpPr>
          <p:cNvPr id="7" name="q1.bg"/>
          <p:cNvSpPr/>
          <p:nvPr/>
        </p:nvSpPr>
        <p:spPr>
          <a:xfrm>
            <a:off x="609600" y="14986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q1.no"/>
          <p:cNvSpPr txBox="1"/>
          <p:nvPr/>
        </p:nvSpPr>
        <p:spPr>
          <a:xfrm>
            <a:off x="863600" y="17018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Q1</a:t>
            </a:r>
          </a:p>
        </p:txBody>
      </p:sp>
      <p:sp>
        <p:nvSpPr>
          <p:cNvPr id="9" name="q1.stem"/>
          <p:cNvSpPr txBox="1"/>
          <p:nvPr/>
        </p:nvSpPr>
        <p:spPr>
          <a:xfrm>
            <a:off x="1625600" y="17018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示例：第一道题的题干写在这里？</a:t>
            </a:r>
          </a:p>
        </p:txBody>
      </p:sp>
      <p:sp>
        <p:nvSpPr>
          <p:cNvPr id="10" name="q1.options"/>
          <p:cNvSpPr txBox="1"/>
          <p:nvPr/>
        </p:nvSpPr>
        <p:spPr>
          <a:xfrm>
            <a:off x="1625600" y="21844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1" name="q2.bg"/>
          <p:cNvSpPr/>
          <p:nvPr/>
        </p:nvSpPr>
        <p:spPr>
          <a:xfrm>
            <a:off x="609600" y="29718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q2.no"/>
          <p:cNvSpPr txBox="1"/>
          <p:nvPr/>
        </p:nvSpPr>
        <p:spPr>
          <a:xfrm>
            <a:off x="863600" y="31750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Q2</a:t>
            </a:r>
          </a:p>
        </p:txBody>
      </p:sp>
      <p:sp>
        <p:nvSpPr>
          <p:cNvPr id="13" name="q2.stem"/>
          <p:cNvSpPr txBox="1"/>
          <p:nvPr/>
        </p:nvSpPr>
        <p:spPr>
          <a:xfrm>
            <a:off x="1625600" y="31750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示例：第二道题的题干写在这里？</a:t>
            </a:r>
          </a:p>
        </p:txBody>
      </p:sp>
      <p:sp>
        <p:nvSpPr>
          <p:cNvPr id="14" name="q2.options"/>
          <p:cNvSpPr txBox="1"/>
          <p:nvPr/>
        </p:nvSpPr>
        <p:spPr>
          <a:xfrm>
            <a:off x="1625600" y="36576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5" name="q3.bg"/>
          <p:cNvSpPr/>
          <p:nvPr/>
        </p:nvSpPr>
        <p:spPr>
          <a:xfrm>
            <a:off x="609600" y="4445000"/>
            <a:ext cx="10972800" cy="1320800"/>
          </a:xfrm>
          <a:prstGeom prst="roundRect">
            <a:avLst>
              <a:gd name="adj" fmla="val 6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q3.no"/>
          <p:cNvSpPr txBox="1"/>
          <p:nvPr/>
        </p:nvSpPr>
        <p:spPr>
          <a:xfrm>
            <a:off x="863600" y="4648200"/>
            <a:ext cx="635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C98F2E"/>
                </a:solidFill>
                <a:latin typeface="Arial"/>
                <a:ea typeface="微软雅黑"/>
              </a:rPr>
              <a:t>Q3</a:t>
            </a:r>
          </a:p>
        </p:txBody>
      </p:sp>
      <p:sp>
        <p:nvSpPr>
          <p:cNvPr id="17" name="q3.stem"/>
          <p:cNvSpPr txBox="1"/>
          <p:nvPr/>
        </p:nvSpPr>
        <p:spPr>
          <a:xfrm>
            <a:off x="1625600" y="4648200"/>
            <a:ext cx="9575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23129"/>
                </a:solidFill>
                <a:latin typeface="Arial"/>
                <a:ea typeface="微软雅黑"/>
              </a:rPr>
              <a:t>示例：第三道题的题干写在这里？</a:t>
            </a:r>
          </a:p>
        </p:txBody>
      </p:sp>
      <p:sp>
        <p:nvSpPr>
          <p:cNvPr id="18" name="q3.options"/>
          <p:cNvSpPr txBox="1"/>
          <p:nvPr/>
        </p:nvSpPr>
        <p:spPr>
          <a:xfrm>
            <a:off x="1625600" y="5130800"/>
            <a:ext cx="9575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E6E64"/>
                </a:solidFill>
                <a:latin typeface="Arial"/>
                <a:ea typeface="微软雅黑"/>
              </a:rPr>
              <a:t>A. 示例选项　B. 示例选项　C. 示例选项　D. 示例选项</a:t>
            </a:r>
          </a:p>
        </p:txBody>
      </p:sp>
      <p:sp>
        <p:nvSpPr>
          <p:cNvPr id="19" name="hint"/>
          <p:cNvSpPr txBox="1"/>
          <p:nvPr/>
        </p:nvSpPr>
        <p:spPr>
          <a:xfrm>
            <a:off x="609600" y="5969000"/>
            <a:ext cx="109728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E6E64"/>
                </a:solidFill>
                <a:latin typeface="Arial"/>
                <a:ea typeface="微软雅黑"/>
              </a:rPr>
              <a:t>示例：参考答案见演讲者备注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7620000" y="1016000"/>
            <a:ext cx="4318000" cy="4318000"/>
          </a:xfrm>
          <a:prstGeom prst="ellipse">
            <a:avLst/>
          </a:prstGeom>
          <a:noFill/>
          <a:ln w="19050">
            <a:solidFill>
              <a:srgbClr val="6FA2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FE3D6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5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CFE3D6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ssroom">
  <a:themeElements>
    <a:clrScheme name="classroom">
      <a:dk1>
        <a:srgbClr val="223129"/>
      </a:dk1>
      <a:lt1>
        <a:srgbClr val="F7F9F6"/>
      </a:lt1>
      <a:dk2>
        <a:srgbClr val="1E4D3B"/>
      </a:dk2>
      <a:lt2>
        <a:srgbClr val="E6EFE8"/>
      </a:lt2>
      <a:accent1>
        <a:srgbClr val="1E4D3B"/>
      </a:accent1>
      <a:accent2>
        <a:srgbClr val="C98F2E"/>
      </a:accent2>
      <a:accent3>
        <a:srgbClr val="6FA287"/>
      </a:accent3>
      <a:accent4>
        <a:srgbClr val="5E6E64"/>
      </a:accent4>
      <a:accent5>
        <a:srgbClr val="CFE3D6"/>
      </a:accent5>
      <a:accent6>
        <a:srgbClr val="D3DFD6"/>
      </a:accent6>
      <a:hlink>
        <a:srgbClr val="6FA287"/>
      </a:hlink>
      <a:folHlink>
        <a:srgbClr val="5E6E64"/>
      </a:folHlink>
    </a:clrScheme>
    <a:fontScheme name="classroom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课堂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