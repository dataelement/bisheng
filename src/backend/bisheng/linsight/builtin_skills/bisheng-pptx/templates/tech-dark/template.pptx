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示例：营业收入（亿元）</c:v>
                </c:pt>
              </c:strCache>
            </c:strRef>
          </c:tx>
          <c:spPr>
            <a:solidFill>
              <a:srgbClr val="35D0BA"/>
            </a:solidFill>
          </c:spPr>
          <c:dLbls>
            <c:numFmt formatCode="0" sourceLinked="0"/>
            <c:txPr>
              <a:bodyPr/>
              <a:lstStyle/>
              <a:p>
                <a:pPr>
                  <a:defRPr sz="1000">
                    <a:solidFill>
                      <a:srgbClr val="EAF0F8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82.1</c:v>
                </c:pt>
                <c:pt idx="1">
                  <c:v>95.4</c:v>
                </c:pt>
                <c:pt idx="2">
                  <c:v>108.7</c:v>
                </c:pt>
                <c:pt idx="3">
                  <c:v>121.3</c:v>
                </c:pt>
                <c:pt idx="4">
                  <c:v>136.0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C3D5C"/>
            </a:solidFill>
          </a:ln>
        </c:spPr>
        <c:txPr>
          <a:bodyPr/>
          <a:lstStyle/>
          <a:p>
            <a:pPr>
              <a:defRPr sz="1000">
                <a:solidFill>
                  <a:srgbClr val="93A5C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2C3D5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93A5C0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93A5C0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cover（封面）：文稿开头；主标题写核心判断或文稿名称。页面上的文字均为示例，使用时整体替换。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agenda（目录）：4–5 个章节的目录。页面上的文字均为示例，使用时整体替换。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section（章节页）：章节过渡，一句话交代本章问题。页面上的文字均为示例，使用时整体替换。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statement（观点页）：一句结论加一段依据，用于关键判断。页面上的文字均为示例，使用时整体替换。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two-column（图文两栏）：左侧要点、右侧照片或截图。页面上的文字均为示例，使用时整体替换。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cards-3（三卡片）：三个并列的举措、成果或特点。页面上的文字均为示例，使用时整体替换。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cards-4（四卡片）：四个维度或四项工作。页面上的文字均为示例，使用时整体替换。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kpi-4（关键指标）：3–4 个关键数字加一句解读。页面上的文字均为示例，使用时整体替换。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chart-insight（图表加解读）：一张趋势或对比图，右侧写读图结论。页面上的文字均为示例，使用时整体替换。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compare（对比）：两个方案、改革前后、我们与对标的对比。页面上的文字均为示例，使用时整体替换。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process（流程）：3–4 个有先后顺序的步骤。页面上的文字均为示例，使用时整体替换。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timeline（时间轴）：3–5 个时间节点的历程或计划。页面上的文字均为示例，使用时整体替换。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table（表格）：任务清单、责任分工、多维对照。页面上的文字均为示例，使用时整体替换。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feature-hero（产品亮点）：左侧产品主视觉、右侧三个亮点。页面上的文字均为示例，使用时整体替换。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closing（结尾页）：致谢与联系方式。页面上的文字均为示例，使用时整体替换。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5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glow1"/>
          <p:cNvSpPr/>
          <p:nvPr/>
        </p:nvSpPr>
        <p:spPr>
          <a:xfrm>
            <a:off x="7620000" y="-1524000"/>
            <a:ext cx="6604000" cy="6604000"/>
          </a:xfrm>
          <a:prstGeom prst="ellipse">
            <a:avLst/>
          </a:prstGeom>
          <a:solidFill>
            <a:srgbClr val="4C7BD9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deco.glow2"/>
          <p:cNvSpPr/>
          <p:nvPr/>
        </p:nvSpPr>
        <p:spPr>
          <a:xfrm>
            <a:off x="9652000" y="2921000"/>
            <a:ext cx="4318000" cy="4318000"/>
          </a:xfrm>
          <a:prstGeom prst="ellipse">
            <a:avLst/>
          </a:prstGeom>
          <a:solidFill>
            <a:srgbClr val="35D0BA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kicker"/>
          <p:cNvSpPr txBox="1"/>
          <p:nvPr/>
        </p:nvSpPr>
        <p:spPr>
          <a:xfrm>
            <a:off x="914400" y="1498600"/>
            <a:ext cx="787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5D0BA"/>
                </a:solidFill>
                <a:latin typeface="Arial"/>
                <a:ea typeface="微软雅黑"/>
              </a:rPr>
              <a:t>示例 · 2026 年度工作汇报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914400" y="2057400"/>
            <a:ext cx="7874000" cy="165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EAF0F8"/>
                </a:solidFill>
                <a:latin typeface="Arial"/>
                <a:ea typeface="微软雅黑"/>
              </a:rPr>
              <a:t>示例：主标题写一句核心判断或文稿名称</a:t>
            </a:r>
          </a:p>
        </p:txBody>
      </p:sp>
      <p:sp>
        <p:nvSpPr>
          <p:cNvPr id="6" name="subtitle"/>
          <p:cNvSpPr txBox="1"/>
          <p:nvPr/>
        </p:nvSpPr>
        <p:spPr>
          <a:xfrm>
            <a:off x="914400" y="3886200"/>
            <a:ext cx="78740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3A5C0"/>
                </a:solidFill>
                <a:latin typeface="Arial"/>
                <a:ea typeface="微软雅黑"/>
              </a:rPr>
              <a:t>示例：副标题补充范围、时间或汇报对象</a:t>
            </a:r>
          </a:p>
        </p:txBody>
      </p:sp>
      <p:sp>
        <p:nvSpPr>
          <p:cNvPr id="7" name="org"/>
          <p:cNvSpPr txBox="1"/>
          <p:nvPr/>
        </p:nvSpPr>
        <p:spPr>
          <a:xfrm>
            <a:off x="914400" y="5867400"/>
            <a:ext cx="660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AF0F8"/>
                </a:solidFill>
                <a:latin typeface="Arial"/>
                <a:ea typeface="微软雅黑"/>
              </a:rPr>
              <a:t>示例单位名称</a:t>
            </a:r>
          </a:p>
        </p:txBody>
      </p:sp>
      <p:sp>
        <p:nvSpPr>
          <p:cNvPr id="8" name="date"/>
          <p:cNvSpPr txBox="1"/>
          <p:nvPr/>
        </p:nvSpPr>
        <p:spPr>
          <a:xfrm>
            <a:off x="914400" y="6197600"/>
            <a:ext cx="660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3A5C0"/>
                </a:solidFill>
                <a:latin typeface="Arial"/>
                <a:ea typeface="微软雅黑"/>
              </a:rPr>
              <a:t>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C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09600" y="16256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5D0BA"/>
                </a:solidFill>
                <a:latin typeface="Arial"/>
                <a:ea typeface="微软雅黑"/>
              </a:rPr>
              <a:t>CONTENTS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1905000"/>
            <a:ext cx="4064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EAF0F8"/>
                </a:solidFill>
                <a:latin typeface="Arial"/>
                <a:ea typeface="微软雅黑"/>
              </a:rPr>
              <a:t>目录</a:t>
            </a:r>
          </a:p>
        </p:txBody>
      </p:sp>
      <p:sp>
        <p:nvSpPr>
          <p:cNvPr id="4" name="item1.no"/>
          <p:cNvSpPr txBox="1"/>
          <p:nvPr/>
        </p:nvSpPr>
        <p:spPr>
          <a:xfrm>
            <a:off x="5334000" y="1524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35D0BA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5" name="item1.text"/>
          <p:cNvSpPr txBox="1"/>
          <p:nvPr/>
        </p:nvSpPr>
        <p:spPr>
          <a:xfrm>
            <a:off x="6248400" y="1600200"/>
            <a:ext cx="5334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AF0F8"/>
                </a:solidFill>
                <a:latin typeface="Arial"/>
                <a:ea typeface="微软雅黑"/>
              </a:rPr>
              <a:t>示例：经营概况</a:t>
            </a:r>
          </a:p>
        </p:txBody>
      </p:sp>
      <p:cxnSp>
        <p:nvCxnSpPr>
          <p:cNvPr id="6" name="item1.rule"/>
          <p:cNvCxnSpPr/>
          <p:nvPr/>
        </p:nvCxnSpPr>
        <p:spPr>
          <a:xfrm>
            <a:off x="5334000" y="2235200"/>
            <a:ext cx="6248400" cy="0"/>
          </a:xfrm>
          <a:prstGeom prst="line">
            <a:avLst/>
          </a:prstGeom>
          <a:ln w="9525">
            <a:solidFill>
              <a:srgbClr val="2C3D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item2.no"/>
          <p:cNvSpPr txBox="1"/>
          <p:nvPr/>
        </p:nvSpPr>
        <p:spPr>
          <a:xfrm>
            <a:off x="5334000" y="2413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35D0BA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8" name="item2.text"/>
          <p:cNvSpPr txBox="1"/>
          <p:nvPr/>
        </p:nvSpPr>
        <p:spPr>
          <a:xfrm>
            <a:off x="6248400" y="2489200"/>
            <a:ext cx="5334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AF0F8"/>
                </a:solidFill>
                <a:latin typeface="Arial"/>
                <a:ea typeface="微软雅黑"/>
              </a:rPr>
              <a:t>示例：重点工作进展</a:t>
            </a:r>
          </a:p>
        </p:txBody>
      </p:sp>
      <p:cxnSp>
        <p:nvCxnSpPr>
          <p:cNvPr id="9" name="item2.rule"/>
          <p:cNvCxnSpPr/>
          <p:nvPr/>
        </p:nvCxnSpPr>
        <p:spPr>
          <a:xfrm>
            <a:off x="5334000" y="3124200"/>
            <a:ext cx="6248400" cy="0"/>
          </a:xfrm>
          <a:prstGeom prst="line">
            <a:avLst/>
          </a:prstGeom>
          <a:ln w="9525">
            <a:solidFill>
              <a:srgbClr val="2C3D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item3.no"/>
          <p:cNvSpPr txBox="1"/>
          <p:nvPr/>
        </p:nvSpPr>
        <p:spPr>
          <a:xfrm>
            <a:off x="5334000" y="3302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35D0BA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11" name="item3.text"/>
          <p:cNvSpPr txBox="1"/>
          <p:nvPr/>
        </p:nvSpPr>
        <p:spPr>
          <a:xfrm>
            <a:off x="6248400" y="3378200"/>
            <a:ext cx="5334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AF0F8"/>
                </a:solidFill>
                <a:latin typeface="Arial"/>
                <a:ea typeface="微软雅黑"/>
              </a:rPr>
              <a:t>示例：问题与原因分析</a:t>
            </a:r>
          </a:p>
        </p:txBody>
      </p:sp>
      <p:cxnSp>
        <p:nvCxnSpPr>
          <p:cNvPr id="12" name="item3.rule"/>
          <p:cNvCxnSpPr/>
          <p:nvPr/>
        </p:nvCxnSpPr>
        <p:spPr>
          <a:xfrm>
            <a:off x="5334000" y="4013200"/>
            <a:ext cx="6248400" cy="0"/>
          </a:xfrm>
          <a:prstGeom prst="line">
            <a:avLst/>
          </a:prstGeom>
          <a:ln w="9525">
            <a:solidFill>
              <a:srgbClr val="2C3D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item4.no"/>
          <p:cNvSpPr txBox="1"/>
          <p:nvPr/>
        </p:nvSpPr>
        <p:spPr>
          <a:xfrm>
            <a:off x="5334000" y="4191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35D0BA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14" name="item4.text"/>
          <p:cNvSpPr txBox="1"/>
          <p:nvPr/>
        </p:nvSpPr>
        <p:spPr>
          <a:xfrm>
            <a:off x="6248400" y="4267200"/>
            <a:ext cx="5334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AF0F8"/>
                </a:solidFill>
                <a:latin typeface="Arial"/>
                <a:ea typeface="微软雅黑"/>
              </a:rPr>
              <a:t>示例：下一步计划</a:t>
            </a:r>
          </a:p>
        </p:txBody>
      </p:sp>
      <p:cxnSp>
        <p:nvCxnSpPr>
          <p:cNvPr id="15" name="item4.rule"/>
          <p:cNvCxnSpPr/>
          <p:nvPr/>
        </p:nvCxnSpPr>
        <p:spPr>
          <a:xfrm>
            <a:off x="5334000" y="4902200"/>
            <a:ext cx="6248400" cy="0"/>
          </a:xfrm>
          <a:prstGeom prst="line">
            <a:avLst/>
          </a:prstGeom>
          <a:ln w="9525">
            <a:solidFill>
              <a:srgbClr val="2C3D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tem5.no"/>
          <p:cNvSpPr txBox="1"/>
          <p:nvPr/>
        </p:nvSpPr>
        <p:spPr>
          <a:xfrm>
            <a:off x="5334000" y="5080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35D0BA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17" name="item5.text"/>
          <p:cNvSpPr txBox="1"/>
          <p:nvPr/>
        </p:nvSpPr>
        <p:spPr>
          <a:xfrm>
            <a:off x="6248400" y="5156200"/>
            <a:ext cx="5334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AF0F8"/>
                </a:solidFill>
                <a:latin typeface="Arial"/>
                <a:ea typeface="微软雅黑"/>
              </a:rPr>
              <a:t>示例：需协调事项</a:t>
            </a:r>
          </a:p>
        </p:txBody>
      </p:sp>
      <p:cxnSp>
        <p:nvCxnSpPr>
          <p:cNvPr id="18" name="item5.rule"/>
          <p:cNvCxnSpPr/>
          <p:nvPr/>
        </p:nvCxnSpPr>
        <p:spPr>
          <a:xfrm>
            <a:off x="5334000" y="5791200"/>
            <a:ext cx="6248400" cy="0"/>
          </a:xfrm>
          <a:prstGeom prst="line">
            <a:avLst/>
          </a:prstGeom>
          <a:ln w="9525">
            <a:solidFill>
              <a:srgbClr val="2C3D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ooter"/>
          <p:cNvSpPr txBox="1"/>
          <p:nvPr/>
        </p:nvSpPr>
        <p:spPr>
          <a:xfrm>
            <a:off x="609600" y="64770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93A5C0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20" name="deco.page"/>
          <p:cNvSpPr txBox="1"/>
          <p:nvPr/>
        </p:nvSpPr>
        <p:spPr>
          <a:xfrm>
            <a:off x="10820400" y="6451600"/>
            <a:ext cx="762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9BE3429F-CF2D-4E6D-9B10-2497F2DA778B}" type="slidenum">
              <a:rPr lang="zh-CN" sz="1000">
                <a:solidFill>
                  <a:srgbClr val="93A5C0"/>
                </a:solidFill>
                <a:latin typeface="Arial"/>
              </a:rPr>
              <a:t>‹#›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5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glow1"/>
          <p:cNvSpPr/>
          <p:nvPr/>
        </p:nvSpPr>
        <p:spPr>
          <a:xfrm>
            <a:off x="7620000" y="-1524000"/>
            <a:ext cx="6604000" cy="6604000"/>
          </a:xfrm>
          <a:prstGeom prst="ellipse">
            <a:avLst/>
          </a:prstGeom>
          <a:solidFill>
            <a:srgbClr val="4C7BD9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deco.glow2"/>
          <p:cNvSpPr/>
          <p:nvPr/>
        </p:nvSpPr>
        <p:spPr>
          <a:xfrm>
            <a:off x="9652000" y="2921000"/>
            <a:ext cx="4318000" cy="4318000"/>
          </a:xfrm>
          <a:prstGeom prst="ellipse">
            <a:avLst/>
          </a:prstGeom>
          <a:solidFill>
            <a:srgbClr val="35D0BA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no"/>
          <p:cNvSpPr txBox="1"/>
          <p:nvPr/>
        </p:nvSpPr>
        <p:spPr>
          <a:xfrm>
            <a:off x="914400" y="1905000"/>
            <a:ext cx="3810000" cy="1397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8800" b="1">
                <a:solidFill>
                  <a:srgbClr val="35D0BA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914400" y="3429000"/>
            <a:ext cx="8128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400" b="1">
                <a:solidFill>
                  <a:srgbClr val="EAF0F8"/>
                </a:solidFill>
                <a:latin typeface="Arial"/>
                <a:ea typeface="微软雅黑"/>
              </a:rPr>
              <a:t>示例：章节标题</a:t>
            </a:r>
          </a:p>
        </p:txBody>
      </p:sp>
      <p:sp>
        <p:nvSpPr>
          <p:cNvPr id="6" name="subtitle"/>
          <p:cNvSpPr txBox="1"/>
          <p:nvPr/>
        </p:nvSpPr>
        <p:spPr>
          <a:xfrm>
            <a:off x="914400" y="4318000"/>
            <a:ext cx="8128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93A5C0"/>
                </a:solidFill>
                <a:latin typeface="Arial"/>
                <a:ea typeface="微软雅黑"/>
              </a:rPr>
              <a:t>示例：一句话说明本章要回答的问题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4770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93A5C0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8" name="deco.page"/>
          <p:cNvSpPr txBox="1"/>
          <p:nvPr/>
        </p:nvSpPr>
        <p:spPr>
          <a:xfrm>
            <a:off x="10820400" y="6451600"/>
            <a:ext cx="762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166931A9-DA78-455D-887F-F49D9882147E}" type="slidenum">
              <a:rPr lang="zh-CN" sz="1000">
                <a:solidFill>
                  <a:srgbClr val="93A5C0"/>
                </a:solidFill>
                <a:latin typeface="Arial"/>
              </a:rPr>
              <a:t>‹#›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C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marker"/>
          <p:cNvSpPr/>
          <p:nvPr/>
        </p:nvSpPr>
        <p:spPr>
          <a:xfrm>
            <a:off x="609600" y="431800"/>
            <a:ext cx="101600" cy="101600"/>
          </a:xfrm>
          <a:prstGeom prst="ellipse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7874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5D0BA"/>
                </a:solidFill>
                <a:latin typeface="Arial"/>
                <a:ea typeface="微软雅黑"/>
              </a:rPr>
              <a:t>01 · 核心观点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770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93A5C0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5" name="deco.page"/>
          <p:cNvSpPr txBox="1"/>
          <p:nvPr/>
        </p:nvSpPr>
        <p:spPr>
          <a:xfrm>
            <a:off x="10820400" y="6451600"/>
            <a:ext cx="762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932FF137-55BA-4F6D-BA0D-BF5C41975F85}" type="slidenum">
              <a:rPr lang="zh-CN" sz="1000">
                <a:solidFill>
                  <a:srgbClr val="93A5C0"/>
                </a:solidFill>
                <a:latin typeface="Arial"/>
              </a:rPr>
              <a:t>‹#›</a:t>
            </a:fld>
          </a:p>
        </p:txBody>
      </p:sp>
      <p:sp>
        <p:nvSpPr>
          <p:cNvPr id="6" name="deco.quote"/>
          <p:cNvSpPr/>
          <p:nvPr/>
        </p:nvSpPr>
        <p:spPr>
          <a:xfrm>
            <a:off x="609600" y="1701800"/>
            <a:ext cx="508000" cy="635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statement"/>
          <p:cNvSpPr txBox="1"/>
          <p:nvPr/>
        </p:nvSpPr>
        <p:spPr>
          <a:xfrm>
            <a:off x="609600" y="1981200"/>
            <a:ext cx="10160000" cy="203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EAF0F8"/>
                </a:solidFill>
                <a:latin typeface="Arial"/>
                <a:ea typeface="微软雅黑"/>
              </a:rPr>
              <a:t>示例：用一句完整的话写出本页结论，让听众不看其他内容也能带走它</a:t>
            </a:r>
          </a:p>
        </p:txBody>
      </p:sp>
      <p:sp>
        <p:nvSpPr>
          <p:cNvPr id="8" name="support"/>
          <p:cNvSpPr txBox="1"/>
          <p:nvPr/>
        </p:nvSpPr>
        <p:spPr>
          <a:xfrm>
            <a:off x="609600" y="4267200"/>
            <a:ext cx="838200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93A5C0"/>
                </a:solidFill>
                <a:latin typeface="Arial"/>
                <a:ea typeface="微软雅黑"/>
              </a:rPr>
              <a:t>示例：用一两句话交代支撑这个判断的事实、数据或依据。</a:t>
            </a:r>
          </a:p>
        </p:txBody>
      </p:sp>
      <p:sp>
        <p:nvSpPr>
          <p:cNvPr id="9" name="source"/>
          <p:cNvSpPr txBox="1"/>
          <p:nvPr/>
        </p:nvSpPr>
        <p:spPr>
          <a:xfrm>
            <a:off x="609600" y="5969000"/>
            <a:ext cx="8128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93A5C0"/>
                </a:solidFill>
                <a:latin typeface="Arial"/>
                <a:ea typeface="微软雅黑"/>
              </a:rPr>
              <a:t>示例来源：填写数据或材料出处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C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marker"/>
          <p:cNvSpPr/>
          <p:nvPr/>
        </p:nvSpPr>
        <p:spPr>
          <a:xfrm>
            <a:off x="609600" y="431800"/>
            <a:ext cx="101600" cy="101600"/>
          </a:xfrm>
          <a:prstGeom prst="ellipse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7874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5D0BA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AF0F8"/>
                </a:solidFill>
                <a:latin typeface="Arial"/>
                <a:ea typeface="微软雅黑"/>
              </a:rPr>
              <a:t>示例：图文页的标题写本页结论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4770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93A5C0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451600"/>
            <a:ext cx="762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27F3F4BF-1417-4BC1-8681-3EBBD6A8C34A}" type="slidenum">
              <a:rPr lang="zh-CN" sz="1000">
                <a:solidFill>
                  <a:srgbClr val="93A5C0"/>
                </a:solidFill>
                <a:latin typeface="Arial"/>
              </a:rPr>
              <a:t>‹#›</a:t>
            </a:fld>
          </a:p>
        </p:txBody>
      </p:sp>
      <p:sp>
        <p:nvSpPr>
          <p:cNvPr id="7" name="lead"/>
          <p:cNvSpPr txBox="1"/>
          <p:nvPr/>
        </p:nvSpPr>
        <p:spPr>
          <a:xfrm>
            <a:off x="609600" y="1549400"/>
            <a:ext cx="5080000" cy="711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EAF0F8"/>
                </a:solidFill>
                <a:latin typeface="Arial"/>
                <a:ea typeface="微软雅黑"/>
              </a:rPr>
              <a:t>示例：先用一句加粗的话点题，再展开要点。</a:t>
            </a:r>
          </a:p>
        </p:txBody>
      </p:sp>
      <p:sp>
        <p:nvSpPr>
          <p:cNvPr id="8" name="body"/>
          <p:cNvSpPr txBox="1"/>
          <p:nvPr/>
        </p:nvSpPr>
        <p:spPr>
          <a:xfrm>
            <a:off x="609600" y="2438400"/>
            <a:ext cx="5080000" cy="330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7800" indent="-177800">
              <a:lnSpc>
                <a:spcPct val="130000"/>
              </a:lnSpc>
              <a:buClr>
                <a:srgbClr val="35D0BA"/>
              </a:buClr>
              <a:buFont typeface="Arial"/>
              <a:buChar char="•"/>
            </a:pPr>
            <a:r>
              <a:rPr sz="1500" b="0">
                <a:solidFill>
                  <a:srgbClr val="EAF0F8"/>
                </a:solidFill>
                <a:latin typeface="Arial"/>
                <a:ea typeface="微软雅黑"/>
              </a:rPr>
              <a:t>示例要点一：写事实或做法，一行一个要点</a:t>
            </a:r>
          </a:p>
          <a:p>
            <a:pPr algn="l" marL="177800" indent="-177800">
              <a:lnSpc>
                <a:spcPct val="130000"/>
              </a:lnSpc>
              <a:spcBef>
                <a:spcPts val="525"/>
              </a:spcBef>
              <a:buClr>
                <a:srgbClr val="35D0BA"/>
              </a:buClr>
              <a:buFont typeface="Arial"/>
              <a:buChar char="•"/>
            </a:pPr>
            <a:r>
              <a:rPr sz="1500" b="0">
                <a:solidFill>
                  <a:srgbClr val="EAF0F8"/>
                </a:solidFill>
                <a:latin typeface="Arial"/>
                <a:ea typeface="微软雅黑"/>
              </a:rPr>
              <a:t>示例要点二：数字要带单位和期间</a:t>
            </a:r>
          </a:p>
          <a:p>
            <a:pPr algn="l" marL="177800" indent="-177800">
              <a:lnSpc>
                <a:spcPct val="130000"/>
              </a:lnSpc>
              <a:spcBef>
                <a:spcPts val="525"/>
              </a:spcBef>
              <a:buClr>
                <a:srgbClr val="35D0BA"/>
              </a:buClr>
              <a:buFont typeface="Arial"/>
              <a:buChar char="•"/>
            </a:pPr>
            <a:r>
              <a:rPr sz="1500" b="0">
                <a:solidFill>
                  <a:srgbClr val="EAF0F8"/>
                </a:solidFill>
                <a:latin typeface="Arial"/>
                <a:ea typeface="微软雅黑"/>
              </a:rPr>
              <a:t>示例要点三：最多五条，放不下就拆页</a:t>
            </a:r>
          </a:p>
        </p:txBody>
      </p:sp>
      <p:sp>
        <p:nvSpPr>
          <p:cNvPr id="9" name="image.box"/>
          <p:cNvSpPr/>
          <p:nvPr/>
        </p:nvSpPr>
        <p:spPr>
          <a:xfrm>
            <a:off x="6096000" y="1498600"/>
            <a:ext cx="5486400" cy="4368800"/>
          </a:xfrm>
          <a:prstGeom prst="roundRect">
            <a:avLst>
              <a:gd name="adj" fmla="val 8000"/>
            </a:avLst>
          </a:prstGeom>
          <a:solidFill>
            <a:srgbClr val="1B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image.label"/>
          <p:cNvSpPr txBox="1"/>
          <p:nvPr/>
        </p:nvSpPr>
        <p:spPr>
          <a:xfrm>
            <a:off x="6400800" y="3530600"/>
            <a:ext cx="48768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93A5C0"/>
                </a:solidFill>
                <a:latin typeface="Arial"/>
                <a:ea typeface="微软雅黑"/>
              </a:rPr>
              <a:t>示例：图片区，替换为现场照片或产品截图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C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marker"/>
          <p:cNvSpPr/>
          <p:nvPr/>
        </p:nvSpPr>
        <p:spPr>
          <a:xfrm>
            <a:off x="609600" y="431800"/>
            <a:ext cx="101600" cy="101600"/>
          </a:xfrm>
          <a:prstGeom prst="ellipse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7874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5D0BA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AF0F8"/>
                </a:solidFill>
                <a:latin typeface="Arial"/>
                <a:ea typeface="微软雅黑"/>
              </a:rPr>
              <a:t>示例：三个并列要点的总标题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4770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93A5C0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451600"/>
            <a:ext cx="762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49BAD648-6A54-4AC5-B35E-3B61AF1D2823}" type="slidenum">
              <a:rPr lang="zh-CN" sz="1000">
                <a:solidFill>
                  <a:srgbClr val="93A5C0"/>
                </a:solidFill>
                <a:latin typeface="Arial"/>
              </a:rPr>
              <a:t>‹#›</a:t>
            </a:fld>
          </a:p>
        </p:txBody>
      </p:sp>
      <p:sp>
        <p:nvSpPr>
          <p:cNvPr id="7" name="lead"/>
          <p:cNvSpPr txBox="1"/>
          <p:nvPr/>
        </p:nvSpPr>
        <p:spPr>
          <a:xfrm>
            <a:off x="609600" y="1498600"/>
            <a:ext cx="109728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3A5C0"/>
                </a:solidFill>
                <a:latin typeface="Arial"/>
                <a:ea typeface="微软雅黑"/>
              </a:rPr>
              <a:t>示例：一句话说明这三点之间的关系或共同指向。</a:t>
            </a:r>
          </a:p>
        </p:txBody>
      </p:sp>
      <p:sp>
        <p:nvSpPr>
          <p:cNvPr id="8" name="card1.bg"/>
          <p:cNvSpPr/>
          <p:nvPr/>
        </p:nvSpPr>
        <p:spPr>
          <a:xfrm>
            <a:off x="609600" y="2159000"/>
            <a:ext cx="3454400" cy="3175000"/>
          </a:xfrm>
          <a:prstGeom prst="roundRect">
            <a:avLst>
              <a:gd name="adj" fmla="val 8000"/>
            </a:avLst>
          </a:prstGeom>
          <a:solidFill>
            <a:srgbClr val="1B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ard1.no"/>
          <p:cNvSpPr txBox="1"/>
          <p:nvPr/>
        </p:nvSpPr>
        <p:spPr>
          <a:xfrm>
            <a:off x="914400" y="24384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35D0BA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10" name="card1.title"/>
          <p:cNvSpPr txBox="1"/>
          <p:nvPr/>
        </p:nvSpPr>
        <p:spPr>
          <a:xfrm>
            <a:off x="914400" y="2997200"/>
            <a:ext cx="2844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EAF0F8"/>
                </a:solidFill>
                <a:latin typeface="Arial"/>
                <a:ea typeface="微软雅黑"/>
              </a:rPr>
              <a:t>示例：要点一的小标题</a:t>
            </a:r>
          </a:p>
        </p:txBody>
      </p:sp>
      <p:sp>
        <p:nvSpPr>
          <p:cNvPr id="11" name="card1.body"/>
          <p:cNvSpPr txBox="1"/>
          <p:nvPr/>
        </p:nvSpPr>
        <p:spPr>
          <a:xfrm>
            <a:off x="914400" y="3759200"/>
            <a:ext cx="2844800" cy="1346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93A5C0"/>
                </a:solidFill>
                <a:latin typeface="Arial"/>
                <a:ea typeface="微软雅黑"/>
              </a:rPr>
              <a:t>示例：两三句话说明做了什么、带来什么变化，最好有一个数字。</a:t>
            </a:r>
          </a:p>
        </p:txBody>
      </p:sp>
      <p:sp>
        <p:nvSpPr>
          <p:cNvPr id="12" name="card2.bg"/>
          <p:cNvSpPr/>
          <p:nvPr/>
        </p:nvSpPr>
        <p:spPr>
          <a:xfrm>
            <a:off x="4368800" y="2159000"/>
            <a:ext cx="3454400" cy="3175000"/>
          </a:xfrm>
          <a:prstGeom prst="roundRect">
            <a:avLst>
              <a:gd name="adj" fmla="val 8000"/>
            </a:avLst>
          </a:prstGeom>
          <a:solidFill>
            <a:srgbClr val="1B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card2.no"/>
          <p:cNvSpPr txBox="1"/>
          <p:nvPr/>
        </p:nvSpPr>
        <p:spPr>
          <a:xfrm>
            <a:off x="4673600" y="24384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35D0BA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14" name="card2.title"/>
          <p:cNvSpPr txBox="1"/>
          <p:nvPr/>
        </p:nvSpPr>
        <p:spPr>
          <a:xfrm>
            <a:off x="4673600" y="2997200"/>
            <a:ext cx="2844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EAF0F8"/>
                </a:solidFill>
                <a:latin typeface="Arial"/>
                <a:ea typeface="微软雅黑"/>
              </a:rPr>
              <a:t>示例：要点二的小标题</a:t>
            </a:r>
          </a:p>
        </p:txBody>
      </p:sp>
      <p:sp>
        <p:nvSpPr>
          <p:cNvPr id="15" name="card2.body"/>
          <p:cNvSpPr txBox="1"/>
          <p:nvPr/>
        </p:nvSpPr>
        <p:spPr>
          <a:xfrm>
            <a:off x="4673600" y="3759200"/>
            <a:ext cx="2844800" cy="1346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93A5C0"/>
                </a:solidFill>
                <a:latin typeface="Arial"/>
                <a:ea typeface="微软雅黑"/>
              </a:rPr>
              <a:t>示例：两三句话说明做了什么、带来什么变化，最好有一个数字。</a:t>
            </a:r>
          </a:p>
        </p:txBody>
      </p:sp>
      <p:sp>
        <p:nvSpPr>
          <p:cNvPr id="16" name="card3.bg"/>
          <p:cNvSpPr/>
          <p:nvPr/>
        </p:nvSpPr>
        <p:spPr>
          <a:xfrm>
            <a:off x="8128000" y="2159000"/>
            <a:ext cx="3454400" cy="3175000"/>
          </a:xfrm>
          <a:prstGeom prst="roundRect">
            <a:avLst>
              <a:gd name="adj" fmla="val 8000"/>
            </a:avLst>
          </a:prstGeom>
          <a:solidFill>
            <a:srgbClr val="1B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card3.no"/>
          <p:cNvSpPr txBox="1"/>
          <p:nvPr/>
        </p:nvSpPr>
        <p:spPr>
          <a:xfrm>
            <a:off x="8432800" y="24384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35D0BA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18" name="card3.title"/>
          <p:cNvSpPr txBox="1"/>
          <p:nvPr/>
        </p:nvSpPr>
        <p:spPr>
          <a:xfrm>
            <a:off x="8432800" y="2997200"/>
            <a:ext cx="2844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EAF0F8"/>
                </a:solidFill>
                <a:latin typeface="Arial"/>
                <a:ea typeface="微软雅黑"/>
              </a:rPr>
              <a:t>示例：要点三的小标题</a:t>
            </a:r>
          </a:p>
        </p:txBody>
      </p:sp>
      <p:sp>
        <p:nvSpPr>
          <p:cNvPr id="19" name="card3.body"/>
          <p:cNvSpPr txBox="1"/>
          <p:nvPr/>
        </p:nvSpPr>
        <p:spPr>
          <a:xfrm>
            <a:off x="8432800" y="3759200"/>
            <a:ext cx="2844800" cy="1346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93A5C0"/>
                </a:solidFill>
                <a:latin typeface="Arial"/>
                <a:ea typeface="微软雅黑"/>
              </a:rPr>
              <a:t>示例：两三句话说明做了什么、带来什么变化，最好有一个数字。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C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marker"/>
          <p:cNvSpPr/>
          <p:nvPr/>
        </p:nvSpPr>
        <p:spPr>
          <a:xfrm>
            <a:off x="609600" y="431800"/>
            <a:ext cx="101600" cy="101600"/>
          </a:xfrm>
          <a:prstGeom prst="ellipse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7874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5D0BA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AF0F8"/>
                </a:solidFill>
                <a:latin typeface="Arial"/>
                <a:ea typeface="微软雅黑"/>
              </a:rPr>
              <a:t>示例：四项工作或四个维度的总标题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4770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93A5C0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451600"/>
            <a:ext cx="762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9BEF50CF-98CF-4ACC-9F9A-FCEDC6031B30}" type="slidenum">
              <a:rPr lang="zh-CN" sz="1000">
                <a:solidFill>
                  <a:srgbClr val="93A5C0"/>
                </a:solidFill>
                <a:latin typeface="Arial"/>
              </a:rPr>
              <a:t>‹#›</a:t>
            </a:fld>
          </a:p>
        </p:txBody>
      </p:sp>
      <p:sp>
        <p:nvSpPr>
          <p:cNvPr id="7" name="card1.bg"/>
          <p:cNvSpPr/>
          <p:nvPr/>
        </p:nvSpPr>
        <p:spPr>
          <a:xfrm>
            <a:off x="609600" y="1498600"/>
            <a:ext cx="5359400" cy="2133600"/>
          </a:xfrm>
          <a:prstGeom prst="roundRect">
            <a:avLst>
              <a:gd name="adj" fmla="val 8000"/>
            </a:avLst>
          </a:prstGeom>
          <a:solidFill>
            <a:srgbClr val="1B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ard1.no"/>
          <p:cNvSpPr txBox="1"/>
          <p:nvPr/>
        </p:nvSpPr>
        <p:spPr>
          <a:xfrm>
            <a:off x="914400" y="17780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35D0BA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" name="card1.title"/>
          <p:cNvSpPr txBox="1"/>
          <p:nvPr/>
        </p:nvSpPr>
        <p:spPr>
          <a:xfrm>
            <a:off x="914400" y="2336800"/>
            <a:ext cx="47498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EAF0F8"/>
                </a:solidFill>
                <a:latin typeface="Arial"/>
                <a:ea typeface="微软雅黑"/>
              </a:rPr>
              <a:t>示例：维度一</a:t>
            </a:r>
          </a:p>
        </p:txBody>
      </p:sp>
      <p:sp>
        <p:nvSpPr>
          <p:cNvPr id="10" name="card1.body"/>
          <p:cNvSpPr txBox="1"/>
          <p:nvPr/>
        </p:nvSpPr>
        <p:spPr>
          <a:xfrm>
            <a:off x="914400" y="2743200"/>
            <a:ext cx="4749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93A5C0"/>
                </a:solidFill>
                <a:latin typeface="Arial"/>
                <a:ea typeface="微软雅黑"/>
              </a:rPr>
              <a:t>示例：一两句话写清现状与成效。</a:t>
            </a:r>
          </a:p>
        </p:txBody>
      </p:sp>
      <p:sp>
        <p:nvSpPr>
          <p:cNvPr id="11" name="card2.bg"/>
          <p:cNvSpPr/>
          <p:nvPr/>
        </p:nvSpPr>
        <p:spPr>
          <a:xfrm>
            <a:off x="6223000" y="1498600"/>
            <a:ext cx="5359400" cy="2133600"/>
          </a:xfrm>
          <a:prstGeom prst="roundRect">
            <a:avLst>
              <a:gd name="adj" fmla="val 8000"/>
            </a:avLst>
          </a:prstGeom>
          <a:solidFill>
            <a:srgbClr val="1B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card2.no"/>
          <p:cNvSpPr txBox="1"/>
          <p:nvPr/>
        </p:nvSpPr>
        <p:spPr>
          <a:xfrm>
            <a:off x="6527800" y="17780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35D0BA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13" name="card2.title"/>
          <p:cNvSpPr txBox="1"/>
          <p:nvPr/>
        </p:nvSpPr>
        <p:spPr>
          <a:xfrm>
            <a:off x="6527800" y="2336800"/>
            <a:ext cx="47498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EAF0F8"/>
                </a:solidFill>
                <a:latin typeface="Arial"/>
                <a:ea typeface="微软雅黑"/>
              </a:rPr>
              <a:t>示例：维度二</a:t>
            </a:r>
          </a:p>
        </p:txBody>
      </p:sp>
      <p:sp>
        <p:nvSpPr>
          <p:cNvPr id="14" name="card2.body"/>
          <p:cNvSpPr txBox="1"/>
          <p:nvPr/>
        </p:nvSpPr>
        <p:spPr>
          <a:xfrm>
            <a:off x="6527800" y="2743200"/>
            <a:ext cx="4749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93A5C0"/>
                </a:solidFill>
                <a:latin typeface="Arial"/>
                <a:ea typeface="微软雅黑"/>
              </a:rPr>
              <a:t>示例：一两句话写清现状与成效。</a:t>
            </a:r>
          </a:p>
        </p:txBody>
      </p:sp>
      <p:sp>
        <p:nvSpPr>
          <p:cNvPr id="15" name="card3.bg"/>
          <p:cNvSpPr/>
          <p:nvPr/>
        </p:nvSpPr>
        <p:spPr>
          <a:xfrm>
            <a:off x="609600" y="3886200"/>
            <a:ext cx="5359400" cy="2133600"/>
          </a:xfrm>
          <a:prstGeom prst="roundRect">
            <a:avLst>
              <a:gd name="adj" fmla="val 8000"/>
            </a:avLst>
          </a:prstGeom>
          <a:solidFill>
            <a:srgbClr val="1B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card3.no"/>
          <p:cNvSpPr txBox="1"/>
          <p:nvPr/>
        </p:nvSpPr>
        <p:spPr>
          <a:xfrm>
            <a:off x="914400" y="41656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35D0BA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17" name="card3.title"/>
          <p:cNvSpPr txBox="1"/>
          <p:nvPr/>
        </p:nvSpPr>
        <p:spPr>
          <a:xfrm>
            <a:off x="914400" y="4724400"/>
            <a:ext cx="47498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EAF0F8"/>
                </a:solidFill>
                <a:latin typeface="Arial"/>
                <a:ea typeface="微软雅黑"/>
              </a:rPr>
              <a:t>示例：维度三</a:t>
            </a:r>
          </a:p>
        </p:txBody>
      </p:sp>
      <p:sp>
        <p:nvSpPr>
          <p:cNvPr id="18" name="card3.body"/>
          <p:cNvSpPr txBox="1"/>
          <p:nvPr/>
        </p:nvSpPr>
        <p:spPr>
          <a:xfrm>
            <a:off x="914400" y="5130800"/>
            <a:ext cx="4749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93A5C0"/>
                </a:solidFill>
                <a:latin typeface="Arial"/>
                <a:ea typeface="微软雅黑"/>
              </a:rPr>
              <a:t>示例：一两句话写清现状与成效。</a:t>
            </a:r>
          </a:p>
        </p:txBody>
      </p:sp>
      <p:sp>
        <p:nvSpPr>
          <p:cNvPr id="19" name="card4.bg"/>
          <p:cNvSpPr/>
          <p:nvPr/>
        </p:nvSpPr>
        <p:spPr>
          <a:xfrm>
            <a:off x="6223000" y="3886200"/>
            <a:ext cx="5359400" cy="2133600"/>
          </a:xfrm>
          <a:prstGeom prst="roundRect">
            <a:avLst>
              <a:gd name="adj" fmla="val 8000"/>
            </a:avLst>
          </a:prstGeom>
          <a:solidFill>
            <a:srgbClr val="1B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card4.no"/>
          <p:cNvSpPr txBox="1"/>
          <p:nvPr/>
        </p:nvSpPr>
        <p:spPr>
          <a:xfrm>
            <a:off x="6527800" y="41656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35D0BA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21" name="card4.title"/>
          <p:cNvSpPr txBox="1"/>
          <p:nvPr/>
        </p:nvSpPr>
        <p:spPr>
          <a:xfrm>
            <a:off x="6527800" y="4724400"/>
            <a:ext cx="47498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EAF0F8"/>
                </a:solidFill>
                <a:latin typeface="Arial"/>
                <a:ea typeface="微软雅黑"/>
              </a:rPr>
              <a:t>示例：维度四</a:t>
            </a:r>
          </a:p>
        </p:txBody>
      </p:sp>
      <p:sp>
        <p:nvSpPr>
          <p:cNvPr id="22" name="card4.body"/>
          <p:cNvSpPr txBox="1"/>
          <p:nvPr/>
        </p:nvSpPr>
        <p:spPr>
          <a:xfrm>
            <a:off x="6527800" y="5130800"/>
            <a:ext cx="4749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93A5C0"/>
                </a:solidFill>
                <a:latin typeface="Arial"/>
                <a:ea typeface="微软雅黑"/>
              </a:rPr>
              <a:t>示例：一两句话写清现状与成效。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C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marker"/>
          <p:cNvSpPr/>
          <p:nvPr/>
        </p:nvSpPr>
        <p:spPr>
          <a:xfrm>
            <a:off x="609600" y="431800"/>
            <a:ext cx="101600" cy="101600"/>
          </a:xfrm>
          <a:prstGeom prst="ellipse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7874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5D0BA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AF0F8"/>
                </a:solidFill>
                <a:latin typeface="Arial"/>
                <a:ea typeface="微软雅黑"/>
              </a:rPr>
              <a:t>示例：用四个关键指标概括本期成绩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4770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93A5C0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451600"/>
            <a:ext cx="762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2391CE32-7B74-4984-96AB-BFC96F397804}" type="slidenum">
              <a:rPr lang="zh-CN" sz="1000">
                <a:solidFill>
                  <a:srgbClr val="93A5C0"/>
                </a:solidFill>
                <a:latin typeface="Arial"/>
              </a:rPr>
              <a:t>‹#›</a:t>
            </a:fld>
          </a:p>
        </p:txBody>
      </p:sp>
      <p:sp>
        <p:nvSpPr>
          <p:cNvPr id="7" name="kpi1.number"/>
          <p:cNvSpPr txBox="1"/>
          <p:nvPr/>
        </p:nvSpPr>
        <p:spPr>
          <a:xfrm>
            <a:off x="609600" y="19558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35D0BA"/>
                </a:solidFill>
                <a:latin typeface="Arial"/>
                <a:ea typeface="微软雅黑"/>
              </a:rPr>
              <a:t>128.6</a:t>
            </a:r>
          </a:p>
        </p:txBody>
      </p:sp>
      <p:sp>
        <p:nvSpPr>
          <p:cNvPr id="8" name="kpi1.unit"/>
          <p:cNvSpPr txBox="1"/>
          <p:nvPr/>
        </p:nvSpPr>
        <p:spPr>
          <a:xfrm>
            <a:off x="609600" y="2819400"/>
            <a:ext cx="25146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3A5C0"/>
                </a:solidFill>
                <a:latin typeface="Arial"/>
                <a:ea typeface="微软雅黑"/>
              </a:rPr>
              <a:t>示例单位：亿元</a:t>
            </a:r>
          </a:p>
        </p:txBody>
      </p:sp>
      <p:sp>
        <p:nvSpPr>
          <p:cNvPr id="9" name="kpi1.label"/>
          <p:cNvSpPr txBox="1"/>
          <p:nvPr/>
        </p:nvSpPr>
        <p:spPr>
          <a:xfrm>
            <a:off x="609600" y="3225800"/>
            <a:ext cx="25146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EAF0F8"/>
                </a:solidFill>
                <a:latin typeface="Arial"/>
                <a:ea typeface="微软雅黑"/>
              </a:rPr>
              <a:t>示例：营业收入</a:t>
            </a:r>
          </a:p>
        </p:txBody>
      </p:sp>
      <p:sp>
        <p:nvSpPr>
          <p:cNvPr id="10" name="kpi1.note"/>
          <p:cNvSpPr txBox="1"/>
          <p:nvPr/>
        </p:nvSpPr>
        <p:spPr>
          <a:xfrm>
            <a:off x="609600" y="36322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93A5C0"/>
                </a:solidFill>
                <a:latin typeface="Arial"/>
                <a:ea typeface="微软雅黑"/>
              </a:rPr>
              <a:t>示例：一句话说明口径或变化原因</a:t>
            </a:r>
          </a:p>
        </p:txBody>
      </p:sp>
      <p:cxnSp>
        <p:nvCxnSpPr>
          <p:cNvPr id="11" name="kpi2.rule"/>
          <p:cNvCxnSpPr/>
          <p:nvPr/>
        </p:nvCxnSpPr>
        <p:spPr>
          <a:xfrm>
            <a:off x="3276600" y="2006600"/>
            <a:ext cx="0" cy="2540000"/>
          </a:xfrm>
          <a:prstGeom prst="line">
            <a:avLst/>
          </a:prstGeom>
          <a:ln w="9525">
            <a:solidFill>
              <a:srgbClr val="2C3D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kpi2.number"/>
          <p:cNvSpPr txBox="1"/>
          <p:nvPr/>
        </p:nvSpPr>
        <p:spPr>
          <a:xfrm>
            <a:off x="3429000" y="19558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35D0BA"/>
                </a:solidFill>
                <a:latin typeface="Arial"/>
                <a:ea typeface="微软雅黑"/>
              </a:rPr>
              <a:t>12.4%</a:t>
            </a:r>
          </a:p>
        </p:txBody>
      </p:sp>
      <p:sp>
        <p:nvSpPr>
          <p:cNvPr id="13" name="kpi2.unit"/>
          <p:cNvSpPr txBox="1"/>
          <p:nvPr/>
        </p:nvSpPr>
        <p:spPr>
          <a:xfrm>
            <a:off x="3429000" y="2819400"/>
            <a:ext cx="25146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3A5C0"/>
                </a:solidFill>
                <a:latin typeface="Arial"/>
                <a:ea typeface="微软雅黑"/>
              </a:rPr>
              <a:t>示例单位：同比</a:t>
            </a:r>
          </a:p>
        </p:txBody>
      </p:sp>
      <p:sp>
        <p:nvSpPr>
          <p:cNvPr id="14" name="kpi2.label"/>
          <p:cNvSpPr txBox="1"/>
          <p:nvPr/>
        </p:nvSpPr>
        <p:spPr>
          <a:xfrm>
            <a:off x="3429000" y="3225800"/>
            <a:ext cx="25146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EAF0F8"/>
                </a:solidFill>
                <a:latin typeface="Arial"/>
                <a:ea typeface="微软雅黑"/>
              </a:rPr>
              <a:t>示例：增长率</a:t>
            </a:r>
          </a:p>
        </p:txBody>
      </p:sp>
      <p:sp>
        <p:nvSpPr>
          <p:cNvPr id="15" name="kpi2.note"/>
          <p:cNvSpPr txBox="1"/>
          <p:nvPr/>
        </p:nvSpPr>
        <p:spPr>
          <a:xfrm>
            <a:off x="3429000" y="36322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93A5C0"/>
                </a:solidFill>
                <a:latin typeface="Arial"/>
                <a:ea typeface="微软雅黑"/>
              </a:rPr>
              <a:t>示例：一句话说明口径或变化原因</a:t>
            </a:r>
          </a:p>
        </p:txBody>
      </p:sp>
      <p:cxnSp>
        <p:nvCxnSpPr>
          <p:cNvPr id="16" name="kpi3.rule"/>
          <p:cNvCxnSpPr/>
          <p:nvPr/>
        </p:nvCxnSpPr>
        <p:spPr>
          <a:xfrm>
            <a:off x="6096000" y="2006600"/>
            <a:ext cx="0" cy="2540000"/>
          </a:xfrm>
          <a:prstGeom prst="line">
            <a:avLst/>
          </a:prstGeom>
          <a:ln w="9525">
            <a:solidFill>
              <a:srgbClr val="2C3D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kpi3.number"/>
          <p:cNvSpPr txBox="1"/>
          <p:nvPr/>
        </p:nvSpPr>
        <p:spPr>
          <a:xfrm>
            <a:off x="6248400" y="19558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35D0BA"/>
                </a:solidFill>
                <a:latin typeface="Arial"/>
                <a:ea typeface="微软雅黑"/>
              </a:rPr>
              <a:t>36</a:t>
            </a:r>
          </a:p>
        </p:txBody>
      </p:sp>
      <p:sp>
        <p:nvSpPr>
          <p:cNvPr id="18" name="kpi3.unit"/>
          <p:cNvSpPr txBox="1"/>
          <p:nvPr/>
        </p:nvSpPr>
        <p:spPr>
          <a:xfrm>
            <a:off x="6248400" y="2819400"/>
            <a:ext cx="25146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3A5C0"/>
                </a:solidFill>
                <a:latin typeface="Arial"/>
                <a:ea typeface="微软雅黑"/>
              </a:rPr>
              <a:t>示例单位：个</a:t>
            </a:r>
          </a:p>
        </p:txBody>
      </p:sp>
      <p:sp>
        <p:nvSpPr>
          <p:cNvPr id="19" name="kpi3.label"/>
          <p:cNvSpPr txBox="1"/>
          <p:nvPr/>
        </p:nvSpPr>
        <p:spPr>
          <a:xfrm>
            <a:off x="6248400" y="3225800"/>
            <a:ext cx="25146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EAF0F8"/>
                </a:solidFill>
                <a:latin typeface="Arial"/>
                <a:ea typeface="微软雅黑"/>
              </a:rPr>
              <a:t>示例：新签项目</a:t>
            </a:r>
          </a:p>
        </p:txBody>
      </p:sp>
      <p:sp>
        <p:nvSpPr>
          <p:cNvPr id="20" name="kpi3.note"/>
          <p:cNvSpPr txBox="1"/>
          <p:nvPr/>
        </p:nvSpPr>
        <p:spPr>
          <a:xfrm>
            <a:off x="6248400" y="36322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93A5C0"/>
                </a:solidFill>
                <a:latin typeface="Arial"/>
                <a:ea typeface="微软雅黑"/>
              </a:rPr>
              <a:t>示例：一句话说明口径或变化原因</a:t>
            </a:r>
          </a:p>
        </p:txBody>
      </p:sp>
      <p:cxnSp>
        <p:nvCxnSpPr>
          <p:cNvPr id="21" name="kpi4.rule"/>
          <p:cNvCxnSpPr/>
          <p:nvPr/>
        </p:nvCxnSpPr>
        <p:spPr>
          <a:xfrm>
            <a:off x="8915400" y="2006600"/>
            <a:ext cx="0" cy="2540000"/>
          </a:xfrm>
          <a:prstGeom prst="line">
            <a:avLst/>
          </a:prstGeom>
          <a:ln w="9525">
            <a:solidFill>
              <a:srgbClr val="2C3D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kpi4.number"/>
          <p:cNvSpPr txBox="1"/>
          <p:nvPr/>
        </p:nvSpPr>
        <p:spPr>
          <a:xfrm>
            <a:off x="9067800" y="19558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35D0BA"/>
                </a:solidFill>
                <a:latin typeface="Arial"/>
                <a:ea typeface="微软雅黑"/>
              </a:rPr>
              <a:t>98.7%</a:t>
            </a:r>
          </a:p>
        </p:txBody>
      </p:sp>
      <p:sp>
        <p:nvSpPr>
          <p:cNvPr id="23" name="kpi4.unit"/>
          <p:cNvSpPr txBox="1"/>
          <p:nvPr/>
        </p:nvSpPr>
        <p:spPr>
          <a:xfrm>
            <a:off x="9067800" y="2819400"/>
            <a:ext cx="25146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3A5C0"/>
                </a:solidFill>
                <a:latin typeface="Arial"/>
                <a:ea typeface="微软雅黑"/>
              </a:rPr>
              <a:t>示例单位：全年</a:t>
            </a:r>
          </a:p>
        </p:txBody>
      </p:sp>
      <p:sp>
        <p:nvSpPr>
          <p:cNvPr id="24" name="kpi4.label"/>
          <p:cNvSpPr txBox="1"/>
          <p:nvPr/>
        </p:nvSpPr>
        <p:spPr>
          <a:xfrm>
            <a:off x="9067800" y="3225800"/>
            <a:ext cx="25146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EAF0F8"/>
                </a:solidFill>
                <a:latin typeface="Arial"/>
                <a:ea typeface="微软雅黑"/>
              </a:rPr>
              <a:t>示例：交付准时率</a:t>
            </a:r>
          </a:p>
        </p:txBody>
      </p:sp>
      <p:sp>
        <p:nvSpPr>
          <p:cNvPr id="25" name="kpi4.note"/>
          <p:cNvSpPr txBox="1"/>
          <p:nvPr/>
        </p:nvSpPr>
        <p:spPr>
          <a:xfrm>
            <a:off x="9067800" y="36322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93A5C0"/>
                </a:solidFill>
                <a:latin typeface="Arial"/>
                <a:ea typeface="微软雅黑"/>
              </a:rPr>
              <a:t>示例：一句话说明口径或变化原因</a:t>
            </a:r>
          </a:p>
        </p:txBody>
      </p:sp>
      <p:sp>
        <p:nvSpPr>
          <p:cNvPr id="26" name="takeaway.bg"/>
          <p:cNvSpPr/>
          <p:nvPr/>
        </p:nvSpPr>
        <p:spPr>
          <a:xfrm>
            <a:off x="609600" y="4876800"/>
            <a:ext cx="10972800" cy="762000"/>
          </a:xfrm>
          <a:prstGeom prst="roundRect">
            <a:avLst>
              <a:gd name="adj" fmla="val 8000"/>
            </a:avLst>
          </a:prstGeom>
          <a:solidFill>
            <a:srgbClr val="1B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akeaway.text"/>
          <p:cNvSpPr txBox="1"/>
          <p:nvPr/>
        </p:nvSpPr>
        <p:spPr>
          <a:xfrm>
            <a:off x="863600" y="4876800"/>
            <a:ext cx="10464800" cy="76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EAF0F8"/>
                </a:solidFill>
                <a:latin typeface="Arial"/>
                <a:ea typeface="微软雅黑"/>
              </a:rPr>
              <a:t>示例：一句话解读这组数字说明了什么。</a:t>
            </a:r>
          </a:p>
        </p:txBody>
      </p:sp>
      <p:sp>
        <p:nvSpPr>
          <p:cNvPr id="28" name="source"/>
          <p:cNvSpPr txBox="1"/>
          <p:nvPr/>
        </p:nvSpPr>
        <p:spPr>
          <a:xfrm>
            <a:off x="609600" y="5791200"/>
            <a:ext cx="109728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93A5C0"/>
                </a:solidFill>
                <a:latin typeface="Arial"/>
                <a:ea typeface="微软雅黑"/>
              </a:rPr>
              <a:t>示例来源：填写数据口径与出处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C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marker"/>
          <p:cNvSpPr/>
          <p:nvPr/>
        </p:nvSpPr>
        <p:spPr>
          <a:xfrm>
            <a:off x="609600" y="431800"/>
            <a:ext cx="101600" cy="101600"/>
          </a:xfrm>
          <a:prstGeom prst="ellipse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7874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5D0BA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AF0F8"/>
                </a:solidFill>
                <a:latin typeface="Arial"/>
                <a:ea typeface="微软雅黑"/>
              </a:rPr>
              <a:t>示例：图表页的标题直接写出数据结论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4770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93A5C0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451600"/>
            <a:ext cx="762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AC027FEB-930A-4E90-9A2A-FF42BA747D03}" type="slidenum">
              <a:rPr lang="zh-CN" sz="1000">
                <a:solidFill>
                  <a:srgbClr val="93A5C0"/>
                </a:solidFill>
                <a:latin typeface="Arial"/>
              </a:rPr>
              <a:t>‹#›</a:t>
            </a:fld>
          </a:p>
        </p:txBody>
      </p:sp>
      <p:graphicFrame>
        <p:nvGraphicFramePr>
          <p:cNvPr id="7" name="chart"/>
          <p:cNvGraphicFramePr>
            <a:graphicFrameLocks noGrp="1"/>
          </p:cNvGraphicFramePr>
          <p:nvPr/>
        </p:nvGraphicFramePr>
        <p:xfrm>
          <a:off x="609600" y="1498600"/>
          <a:ext cx="7112000" cy="4191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insight.bg"/>
          <p:cNvSpPr/>
          <p:nvPr/>
        </p:nvSpPr>
        <p:spPr>
          <a:xfrm>
            <a:off x="8026400" y="1498600"/>
            <a:ext cx="3556000" cy="4191000"/>
          </a:xfrm>
          <a:prstGeom prst="roundRect">
            <a:avLst>
              <a:gd name="adj" fmla="val 8000"/>
            </a:avLst>
          </a:prstGeom>
          <a:solidFill>
            <a:srgbClr val="1B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insight.title"/>
          <p:cNvSpPr txBox="1"/>
          <p:nvPr/>
        </p:nvSpPr>
        <p:spPr>
          <a:xfrm>
            <a:off x="8280400" y="1778000"/>
            <a:ext cx="3048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EAF0F8"/>
                </a:solidFill>
                <a:latin typeface="Arial"/>
                <a:ea typeface="微软雅黑"/>
              </a:rPr>
              <a:t>示例：读图要点</a:t>
            </a:r>
          </a:p>
        </p:txBody>
      </p:sp>
      <p:sp>
        <p:nvSpPr>
          <p:cNvPr id="10" name="insight.body"/>
          <p:cNvSpPr txBox="1"/>
          <p:nvPr/>
        </p:nvSpPr>
        <p:spPr>
          <a:xfrm>
            <a:off x="8280400" y="2463800"/>
            <a:ext cx="3048000" cy="292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7800" indent="-177800">
              <a:lnSpc>
                <a:spcPct val="135000"/>
              </a:lnSpc>
              <a:buClr>
                <a:srgbClr val="35D0BA"/>
              </a:buClr>
              <a:buFont typeface="Arial"/>
              <a:buChar char="•"/>
            </a:pPr>
            <a:r>
              <a:rPr sz="1400" b="0">
                <a:solidFill>
                  <a:srgbClr val="EAF0F8"/>
                </a:solidFill>
                <a:latin typeface="Arial"/>
                <a:ea typeface="微软雅黑"/>
              </a:rPr>
              <a:t>示例：拐点或异常出现在哪里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35D0BA"/>
              </a:buClr>
              <a:buFont typeface="Arial"/>
              <a:buChar char="•"/>
            </a:pPr>
            <a:r>
              <a:rPr sz="1400" b="0">
                <a:solidFill>
                  <a:srgbClr val="EAF0F8"/>
                </a:solidFill>
                <a:latin typeface="Arial"/>
                <a:ea typeface="微软雅黑"/>
              </a:rPr>
              <a:t>示例：原因是什么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35D0BA"/>
              </a:buClr>
              <a:buFont typeface="Arial"/>
              <a:buChar char="•"/>
            </a:pPr>
            <a:r>
              <a:rPr sz="1400" b="0">
                <a:solidFill>
                  <a:srgbClr val="EAF0F8"/>
                </a:solidFill>
                <a:latin typeface="Arial"/>
                <a:ea typeface="微软雅黑"/>
              </a:rPr>
              <a:t>示例：意味着什么、要做什么</a:t>
            </a:r>
          </a:p>
        </p:txBody>
      </p:sp>
      <p:sp>
        <p:nvSpPr>
          <p:cNvPr id="11" name="source"/>
          <p:cNvSpPr txBox="1"/>
          <p:nvPr/>
        </p:nvSpPr>
        <p:spPr>
          <a:xfrm>
            <a:off x="609600" y="58166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93A5C0"/>
                </a:solidFill>
                <a:latin typeface="Arial"/>
                <a:ea typeface="微软雅黑"/>
              </a:rPr>
              <a:t>示例来源：填写数据口径与出处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C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marker"/>
          <p:cNvSpPr/>
          <p:nvPr/>
        </p:nvSpPr>
        <p:spPr>
          <a:xfrm>
            <a:off x="609600" y="431800"/>
            <a:ext cx="101600" cy="101600"/>
          </a:xfrm>
          <a:prstGeom prst="ellipse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7874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5D0BA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AF0F8"/>
                </a:solidFill>
                <a:latin typeface="Arial"/>
                <a:ea typeface="微软雅黑"/>
              </a:rPr>
              <a:t>示例：对比页的标题写出取舍结论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4770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93A5C0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451600"/>
            <a:ext cx="762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157182D3-10FF-4930-A8D8-2BAA0AE52EAB}" type="slidenum">
              <a:rPr lang="zh-CN" sz="1000">
                <a:solidFill>
                  <a:srgbClr val="93A5C0"/>
                </a:solidFill>
                <a:latin typeface="Arial"/>
              </a:rPr>
              <a:t>‹#›</a:t>
            </a:fld>
          </a:p>
        </p:txBody>
      </p:sp>
      <p:sp>
        <p:nvSpPr>
          <p:cNvPr id="7" name="left.bg"/>
          <p:cNvSpPr/>
          <p:nvPr/>
        </p:nvSpPr>
        <p:spPr>
          <a:xfrm>
            <a:off x="609600" y="1498600"/>
            <a:ext cx="5334000" cy="3556000"/>
          </a:xfrm>
          <a:prstGeom prst="roundRect">
            <a:avLst>
              <a:gd name="adj" fmla="val 8000"/>
            </a:avLst>
          </a:prstGeom>
          <a:solidFill>
            <a:srgbClr val="1B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left.head"/>
          <p:cNvSpPr/>
          <p:nvPr/>
        </p:nvSpPr>
        <p:spPr>
          <a:xfrm>
            <a:off x="609600" y="1498600"/>
            <a:ext cx="5334000" cy="584200"/>
          </a:xfrm>
          <a:prstGeom prst="rect">
            <a:avLst/>
          </a:prstGeom>
          <a:solidFill>
            <a:srgbClr val="4C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left.title"/>
          <p:cNvSpPr txBox="1"/>
          <p:nvPr/>
        </p:nvSpPr>
        <p:spPr>
          <a:xfrm>
            <a:off x="863600" y="1498600"/>
            <a:ext cx="4826000" cy="584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0D1524"/>
                </a:solidFill>
                <a:latin typeface="Arial"/>
                <a:ea typeface="微软雅黑"/>
              </a:rPr>
              <a:t>示例：方案 A / 改革前</a:t>
            </a:r>
          </a:p>
        </p:txBody>
      </p:sp>
      <p:sp>
        <p:nvSpPr>
          <p:cNvPr id="10" name="left.body"/>
          <p:cNvSpPr txBox="1"/>
          <p:nvPr/>
        </p:nvSpPr>
        <p:spPr>
          <a:xfrm>
            <a:off x="863600" y="2311400"/>
            <a:ext cx="4826000" cy="2489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7800" indent="-177800">
              <a:lnSpc>
                <a:spcPct val="135000"/>
              </a:lnSpc>
              <a:buClr>
                <a:srgbClr val="35D0BA"/>
              </a:buClr>
              <a:buFont typeface="Arial"/>
              <a:buChar char="•"/>
            </a:pPr>
            <a:r>
              <a:rPr sz="1400" b="0">
                <a:solidFill>
                  <a:srgbClr val="EAF0F8"/>
                </a:solidFill>
                <a:latin typeface="Arial"/>
                <a:ea typeface="微软雅黑"/>
              </a:rPr>
              <a:t>示例：对比维度一的表现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35D0BA"/>
              </a:buClr>
              <a:buFont typeface="Arial"/>
              <a:buChar char="•"/>
            </a:pPr>
            <a:r>
              <a:rPr sz="1400" b="0">
                <a:solidFill>
                  <a:srgbClr val="EAF0F8"/>
                </a:solidFill>
                <a:latin typeface="Arial"/>
                <a:ea typeface="微软雅黑"/>
              </a:rPr>
              <a:t>示例：对比维度二的表现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35D0BA"/>
              </a:buClr>
              <a:buFont typeface="Arial"/>
              <a:buChar char="•"/>
            </a:pPr>
            <a:r>
              <a:rPr sz="1400" b="0">
                <a:solidFill>
                  <a:srgbClr val="EAF0F8"/>
                </a:solidFill>
                <a:latin typeface="Arial"/>
                <a:ea typeface="微软雅黑"/>
              </a:rPr>
              <a:t>示例：对比维度三的表现</a:t>
            </a:r>
          </a:p>
        </p:txBody>
      </p:sp>
      <p:sp>
        <p:nvSpPr>
          <p:cNvPr id="11" name="right.bg"/>
          <p:cNvSpPr/>
          <p:nvPr/>
        </p:nvSpPr>
        <p:spPr>
          <a:xfrm>
            <a:off x="6248400" y="1498600"/>
            <a:ext cx="5334000" cy="3556000"/>
          </a:xfrm>
          <a:prstGeom prst="roundRect">
            <a:avLst>
              <a:gd name="adj" fmla="val 8000"/>
            </a:avLst>
          </a:prstGeom>
          <a:solidFill>
            <a:srgbClr val="1B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ight.head"/>
          <p:cNvSpPr/>
          <p:nvPr/>
        </p:nvSpPr>
        <p:spPr>
          <a:xfrm>
            <a:off x="6248400" y="1498600"/>
            <a:ext cx="5334000" cy="5842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ight.title"/>
          <p:cNvSpPr txBox="1"/>
          <p:nvPr/>
        </p:nvSpPr>
        <p:spPr>
          <a:xfrm>
            <a:off x="6502400" y="1498600"/>
            <a:ext cx="4826000" cy="584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0D1524"/>
                </a:solidFill>
                <a:latin typeface="Arial"/>
                <a:ea typeface="微软雅黑"/>
              </a:rPr>
              <a:t>示例：方案 B / 改革后</a:t>
            </a:r>
          </a:p>
        </p:txBody>
      </p:sp>
      <p:sp>
        <p:nvSpPr>
          <p:cNvPr id="14" name="right.body"/>
          <p:cNvSpPr txBox="1"/>
          <p:nvPr/>
        </p:nvSpPr>
        <p:spPr>
          <a:xfrm>
            <a:off x="6502400" y="2311400"/>
            <a:ext cx="4826000" cy="2489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7800" indent="-177800">
              <a:lnSpc>
                <a:spcPct val="135000"/>
              </a:lnSpc>
              <a:buClr>
                <a:srgbClr val="35D0BA"/>
              </a:buClr>
              <a:buFont typeface="Arial"/>
              <a:buChar char="•"/>
            </a:pPr>
            <a:r>
              <a:rPr sz="1400" b="0">
                <a:solidFill>
                  <a:srgbClr val="EAF0F8"/>
                </a:solidFill>
                <a:latin typeface="Arial"/>
                <a:ea typeface="微软雅黑"/>
              </a:rPr>
              <a:t>示例：对比维度一的表现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35D0BA"/>
              </a:buClr>
              <a:buFont typeface="Arial"/>
              <a:buChar char="•"/>
            </a:pPr>
            <a:r>
              <a:rPr sz="1400" b="0">
                <a:solidFill>
                  <a:srgbClr val="EAF0F8"/>
                </a:solidFill>
                <a:latin typeface="Arial"/>
                <a:ea typeface="微软雅黑"/>
              </a:rPr>
              <a:t>示例：对比维度二的表现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35D0BA"/>
              </a:buClr>
              <a:buFont typeface="Arial"/>
              <a:buChar char="•"/>
            </a:pPr>
            <a:r>
              <a:rPr sz="1400" b="0">
                <a:solidFill>
                  <a:srgbClr val="EAF0F8"/>
                </a:solidFill>
                <a:latin typeface="Arial"/>
                <a:ea typeface="微软雅黑"/>
              </a:rPr>
              <a:t>示例：对比维度三的表现</a:t>
            </a:r>
          </a:p>
        </p:txBody>
      </p:sp>
      <p:sp>
        <p:nvSpPr>
          <p:cNvPr id="15" name="conclusion.bg"/>
          <p:cNvSpPr/>
          <p:nvPr/>
        </p:nvSpPr>
        <p:spPr>
          <a:xfrm>
            <a:off x="609600" y="5257800"/>
            <a:ext cx="10972800" cy="660400"/>
          </a:xfrm>
          <a:prstGeom prst="roundRect">
            <a:avLst>
              <a:gd name="adj" fmla="val 8000"/>
            </a:avLst>
          </a:prstGeom>
          <a:solidFill>
            <a:srgbClr val="1B2943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conclusion.text"/>
          <p:cNvSpPr txBox="1"/>
          <p:nvPr/>
        </p:nvSpPr>
        <p:spPr>
          <a:xfrm>
            <a:off x="863600" y="5257800"/>
            <a:ext cx="10464800" cy="660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EAF0F8"/>
                </a:solidFill>
                <a:latin typeface="Arial"/>
                <a:ea typeface="微软雅黑"/>
              </a:rPr>
              <a:t>示例结论：在什么条件下选哪一个，理由是什么。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C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marker"/>
          <p:cNvSpPr/>
          <p:nvPr/>
        </p:nvSpPr>
        <p:spPr>
          <a:xfrm>
            <a:off x="609600" y="431800"/>
            <a:ext cx="101600" cy="101600"/>
          </a:xfrm>
          <a:prstGeom prst="ellipse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7874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5D0BA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AF0F8"/>
                </a:solidFill>
                <a:latin typeface="Arial"/>
                <a:ea typeface="微软雅黑"/>
              </a:rPr>
              <a:t>示例：流程页的标题说明整体做法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4770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93A5C0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451600"/>
            <a:ext cx="762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94A8F043-12DE-426C-B440-A151FC90D0B0}" type="slidenum">
              <a:rPr lang="zh-CN" sz="1000">
                <a:solidFill>
                  <a:srgbClr val="93A5C0"/>
                </a:solidFill>
                <a:latin typeface="Arial"/>
              </a:rPr>
              <a:t>‹#›</a:t>
            </a:fld>
          </a:p>
        </p:txBody>
      </p:sp>
      <p:sp>
        <p:nvSpPr>
          <p:cNvPr id="7" name="step1.dot"/>
          <p:cNvSpPr/>
          <p:nvPr/>
        </p:nvSpPr>
        <p:spPr>
          <a:xfrm>
            <a:off x="609600" y="1701800"/>
            <a:ext cx="660400" cy="660400"/>
          </a:xfrm>
          <a:prstGeom prst="ellipse">
            <a:avLst/>
          </a:prstGeom>
          <a:solidFill>
            <a:srgbClr val="4C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step1.no"/>
          <p:cNvSpPr txBox="1"/>
          <p:nvPr/>
        </p:nvSpPr>
        <p:spPr>
          <a:xfrm>
            <a:off x="609600" y="1701800"/>
            <a:ext cx="660400" cy="660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EAF0F8"/>
                </a:solidFill>
                <a:latin typeface="Arial"/>
                <a:ea typeface="微软雅黑"/>
              </a:rPr>
              <a:t>1</a:t>
            </a:r>
          </a:p>
        </p:txBody>
      </p:sp>
      <p:sp>
        <p:nvSpPr>
          <p:cNvPr id="9" name="step1.bg"/>
          <p:cNvSpPr/>
          <p:nvPr/>
        </p:nvSpPr>
        <p:spPr>
          <a:xfrm>
            <a:off x="609600" y="2616200"/>
            <a:ext cx="2438400" cy="2667000"/>
          </a:xfrm>
          <a:prstGeom prst="roundRect">
            <a:avLst>
              <a:gd name="adj" fmla="val 8000"/>
            </a:avLst>
          </a:prstGeom>
          <a:solidFill>
            <a:srgbClr val="1B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step1.title"/>
          <p:cNvSpPr txBox="1"/>
          <p:nvPr/>
        </p:nvSpPr>
        <p:spPr>
          <a:xfrm>
            <a:off x="838200" y="2844800"/>
            <a:ext cx="1981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EAF0F8"/>
                </a:solidFill>
                <a:latin typeface="Arial"/>
                <a:ea typeface="微软雅黑"/>
              </a:rPr>
              <a:t>示例：第一步</a:t>
            </a:r>
          </a:p>
        </p:txBody>
      </p:sp>
      <p:sp>
        <p:nvSpPr>
          <p:cNvPr id="11" name="step1.body"/>
          <p:cNvSpPr txBox="1"/>
          <p:nvPr/>
        </p:nvSpPr>
        <p:spPr>
          <a:xfrm>
            <a:off x="838200" y="3556000"/>
            <a:ext cx="19812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93A5C0"/>
                </a:solidFill>
                <a:latin typeface="Arial"/>
                <a:ea typeface="微软雅黑"/>
              </a:rPr>
              <a:t>示例：这一步做什么、谁负责、产出什么。</a:t>
            </a:r>
          </a:p>
        </p:txBody>
      </p:sp>
      <p:sp>
        <p:nvSpPr>
          <p:cNvPr id="12" name="step2.dot"/>
          <p:cNvSpPr/>
          <p:nvPr/>
        </p:nvSpPr>
        <p:spPr>
          <a:xfrm>
            <a:off x="3454400" y="1701800"/>
            <a:ext cx="660400" cy="660400"/>
          </a:xfrm>
          <a:prstGeom prst="ellipse">
            <a:avLst/>
          </a:prstGeom>
          <a:solidFill>
            <a:srgbClr val="4C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step2.no"/>
          <p:cNvSpPr txBox="1"/>
          <p:nvPr/>
        </p:nvSpPr>
        <p:spPr>
          <a:xfrm>
            <a:off x="3454400" y="1701800"/>
            <a:ext cx="660400" cy="660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EAF0F8"/>
                </a:solidFill>
                <a:latin typeface="Arial"/>
                <a:ea typeface="微软雅黑"/>
              </a:rPr>
              <a:t>2</a:t>
            </a:r>
          </a:p>
        </p:txBody>
      </p:sp>
      <p:cxnSp>
        <p:nvCxnSpPr>
          <p:cNvPr id="14" name="step2.link"/>
          <p:cNvCxnSpPr/>
          <p:nvPr/>
        </p:nvCxnSpPr>
        <p:spPr>
          <a:xfrm>
            <a:off x="1422400" y="2032000"/>
            <a:ext cx="1879600" cy="0"/>
          </a:xfrm>
          <a:prstGeom prst="line">
            <a:avLst/>
          </a:prstGeom>
          <a:ln w="19050">
            <a:solidFill>
              <a:srgbClr val="2C3D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step2.bg"/>
          <p:cNvSpPr/>
          <p:nvPr/>
        </p:nvSpPr>
        <p:spPr>
          <a:xfrm>
            <a:off x="3454400" y="2616200"/>
            <a:ext cx="2438400" cy="2667000"/>
          </a:xfrm>
          <a:prstGeom prst="roundRect">
            <a:avLst>
              <a:gd name="adj" fmla="val 8000"/>
            </a:avLst>
          </a:prstGeom>
          <a:solidFill>
            <a:srgbClr val="1B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step2.title"/>
          <p:cNvSpPr txBox="1"/>
          <p:nvPr/>
        </p:nvSpPr>
        <p:spPr>
          <a:xfrm>
            <a:off x="3683000" y="2844800"/>
            <a:ext cx="1981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EAF0F8"/>
                </a:solidFill>
                <a:latin typeface="Arial"/>
                <a:ea typeface="微软雅黑"/>
              </a:rPr>
              <a:t>示例：第二步</a:t>
            </a:r>
          </a:p>
        </p:txBody>
      </p:sp>
      <p:sp>
        <p:nvSpPr>
          <p:cNvPr id="17" name="step2.body"/>
          <p:cNvSpPr txBox="1"/>
          <p:nvPr/>
        </p:nvSpPr>
        <p:spPr>
          <a:xfrm>
            <a:off x="3683000" y="3556000"/>
            <a:ext cx="19812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93A5C0"/>
                </a:solidFill>
                <a:latin typeface="Arial"/>
                <a:ea typeface="微软雅黑"/>
              </a:rPr>
              <a:t>示例：这一步做什么、谁负责、产出什么。</a:t>
            </a:r>
          </a:p>
        </p:txBody>
      </p:sp>
      <p:sp>
        <p:nvSpPr>
          <p:cNvPr id="18" name="step3.dot"/>
          <p:cNvSpPr/>
          <p:nvPr/>
        </p:nvSpPr>
        <p:spPr>
          <a:xfrm>
            <a:off x="6299200" y="1701800"/>
            <a:ext cx="660400" cy="660400"/>
          </a:xfrm>
          <a:prstGeom prst="ellipse">
            <a:avLst/>
          </a:prstGeom>
          <a:solidFill>
            <a:srgbClr val="4C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step3.no"/>
          <p:cNvSpPr txBox="1"/>
          <p:nvPr/>
        </p:nvSpPr>
        <p:spPr>
          <a:xfrm>
            <a:off x="6299200" y="1701800"/>
            <a:ext cx="660400" cy="660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EAF0F8"/>
                </a:solidFill>
                <a:latin typeface="Arial"/>
                <a:ea typeface="微软雅黑"/>
              </a:rPr>
              <a:t>3</a:t>
            </a:r>
          </a:p>
        </p:txBody>
      </p:sp>
      <p:cxnSp>
        <p:nvCxnSpPr>
          <p:cNvPr id="20" name="step3.link"/>
          <p:cNvCxnSpPr/>
          <p:nvPr/>
        </p:nvCxnSpPr>
        <p:spPr>
          <a:xfrm>
            <a:off x="4267200" y="2032000"/>
            <a:ext cx="1879600" cy="0"/>
          </a:xfrm>
          <a:prstGeom prst="line">
            <a:avLst/>
          </a:prstGeom>
          <a:ln w="19050">
            <a:solidFill>
              <a:srgbClr val="2C3D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step3.bg"/>
          <p:cNvSpPr/>
          <p:nvPr/>
        </p:nvSpPr>
        <p:spPr>
          <a:xfrm>
            <a:off x="6299200" y="2616200"/>
            <a:ext cx="2438400" cy="2667000"/>
          </a:xfrm>
          <a:prstGeom prst="roundRect">
            <a:avLst>
              <a:gd name="adj" fmla="val 8000"/>
            </a:avLst>
          </a:prstGeom>
          <a:solidFill>
            <a:srgbClr val="1B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step3.title"/>
          <p:cNvSpPr txBox="1"/>
          <p:nvPr/>
        </p:nvSpPr>
        <p:spPr>
          <a:xfrm>
            <a:off x="6527800" y="2844800"/>
            <a:ext cx="1981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EAF0F8"/>
                </a:solidFill>
                <a:latin typeface="Arial"/>
                <a:ea typeface="微软雅黑"/>
              </a:rPr>
              <a:t>示例：第三步</a:t>
            </a:r>
          </a:p>
        </p:txBody>
      </p:sp>
      <p:sp>
        <p:nvSpPr>
          <p:cNvPr id="23" name="step3.body"/>
          <p:cNvSpPr txBox="1"/>
          <p:nvPr/>
        </p:nvSpPr>
        <p:spPr>
          <a:xfrm>
            <a:off x="6527800" y="3556000"/>
            <a:ext cx="19812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93A5C0"/>
                </a:solidFill>
                <a:latin typeface="Arial"/>
                <a:ea typeface="微软雅黑"/>
              </a:rPr>
              <a:t>示例：这一步做什么、谁负责、产出什么。</a:t>
            </a:r>
          </a:p>
        </p:txBody>
      </p:sp>
      <p:sp>
        <p:nvSpPr>
          <p:cNvPr id="24" name="step4.dot"/>
          <p:cNvSpPr/>
          <p:nvPr/>
        </p:nvSpPr>
        <p:spPr>
          <a:xfrm>
            <a:off x="9144000" y="1701800"/>
            <a:ext cx="660400" cy="660400"/>
          </a:xfrm>
          <a:prstGeom prst="ellipse">
            <a:avLst/>
          </a:prstGeom>
          <a:solidFill>
            <a:srgbClr val="4C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step4.no"/>
          <p:cNvSpPr txBox="1"/>
          <p:nvPr/>
        </p:nvSpPr>
        <p:spPr>
          <a:xfrm>
            <a:off x="9144000" y="1701800"/>
            <a:ext cx="660400" cy="660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EAF0F8"/>
                </a:solidFill>
                <a:latin typeface="Arial"/>
                <a:ea typeface="微软雅黑"/>
              </a:rPr>
              <a:t>4</a:t>
            </a:r>
          </a:p>
        </p:txBody>
      </p:sp>
      <p:cxnSp>
        <p:nvCxnSpPr>
          <p:cNvPr id="26" name="step4.link"/>
          <p:cNvCxnSpPr/>
          <p:nvPr/>
        </p:nvCxnSpPr>
        <p:spPr>
          <a:xfrm>
            <a:off x="7112000" y="2032000"/>
            <a:ext cx="1879600" cy="0"/>
          </a:xfrm>
          <a:prstGeom prst="line">
            <a:avLst/>
          </a:prstGeom>
          <a:ln w="19050">
            <a:solidFill>
              <a:srgbClr val="2C3D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step4.bg"/>
          <p:cNvSpPr/>
          <p:nvPr/>
        </p:nvSpPr>
        <p:spPr>
          <a:xfrm>
            <a:off x="9144000" y="2616200"/>
            <a:ext cx="2438400" cy="2667000"/>
          </a:xfrm>
          <a:prstGeom prst="roundRect">
            <a:avLst>
              <a:gd name="adj" fmla="val 8000"/>
            </a:avLst>
          </a:prstGeom>
          <a:solidFill>
            <a:srgbClr val="1B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step4.title"/>
          <p:cNvSpPr txBox="1"/>
          <p:nvPr/>
        </p:nvSpPr>
        <p:spPr>
          <a:xfrm>
            <a:off x="9372600" y="2844800"/>
            <a:ext cx="1981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EAF0F8"/>
                </a:solidFill>
                <a:latin typeface="Arial"/>
                <a:ea typeface="微软雅黑"/>
              </a:rPr>
              <a:t>示例：第四步</a:t>
            </a:r>
          </a:p>
        </p:txBody>
      </p:sp>
      <p:sp>
        <p:nvSpPr>
          <p:cNvPr id="29" name="step4.body"/>
          <p:cNvSpPr txBox="1"/>
          <p:nvPr/>
        </p:nvSpPr>
        <p:spPr>
          <a:xfrm>
            <a:off x="9372600" y="3556000"/>
            <a:ext cx="19812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93A5C0"/>
                </a:solidFill>
                <a:latin typeface="Arial"/>
                <a:ea typeface="微软雅黑"/>
              </a:rPr>
              <a:t>示例：这一步做什么、谁负责、产出什么。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C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marker"/>
          <p:cNvSpPr/>
          <p:nvPr/>
        </p:nvSpPr>
        <p:spPr>
          <a:xfrm>
            <a:off x="609600" y="431800"/>
            <a:ext cx="101600" cy="101600"/>
          </a:xfrm>
          <a:prstGeom prst="ellipse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7874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5D0BA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AF0F8"/>
                </a:solidFill>
                <a:latin typeface="Arial"/>
                <a:ea typeface="微软雅黑"/>
              </a:rPr>
              <a:t>示例：时间轴页的标题写出发展主线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4770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93A5C0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451600"/>
            <a:ext cx="762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54E278E1-C5B5-451E-9E2A-70361E419950}" type="slidenum">
              <a:rPr lang="zh-CN" sz="1000">
                <a:solidFill>
                  <a:srgbClr val="93A5C0"/>
                </a:solidFill>
                <a:latin typeface="Arial"/>
              </a:rPr>
              <a:t>‹#›</a:t>
            </a:fld>
          </a:p>
        </p:txBody>
      </p:sp>
      <p:cxnSp>
        <p:nvCxnSpPr>
          <p:cNvPr id="7" name="deco.axis"/>
          <p:cNvCxnSpPr/>
          <p:nvPr/>
        </p:nvCxnSpPr>
        <p:spPr>
          <a:xfrm>
            <a:off x="609600" y="2997200"/>
            <a:ext cx="10972800" cy="0"/>
          </a:xfrm>
          <a:prstGeom prst="line">
            <a:avLst/>
          </a:prstGeom>
          <a:ln w="25400">
            <a:solidFill>
              <a:srgbClr val="2C3D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ode1.dot"/>
          <p:cNvSpPr/>
          <p:nvPr/>
        </p:nvSpPr>
        <p:spPr>
          <a:xfrm>
            <a:off x="660400" y="2908300"/>
            <a:ext cx="177800" cy="177800"/>
          </a:xfrm>
          <a:prstGeom prst="ellipse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node1.time"/>
          <p:cNvSpPr txBox="1"/>
          <p:nvPr/>
        </p:nvSpPr>
        <p:spPr>
          <a:xfrm>
            <a:off x="609600" y="22352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35D0BA"/>
                </a:solidFill>
                <a:latin typeface="Arial"/>
                <a:ea typeface="微软雅黑"/>
              </a:rPr>
              <a:t>2022</a:t>
            </a:r>
          </a:p>
        </p:txBody>
      </p:sp>
      <p:sp>
        <p:nvSpPr>
          <p:cNvPr id="10" name="node1.title"/>
          <p:cNvSpPr txBox="1"/>
          <p:nvPr/>
        </p:nvSpPr>
        <p:spPr>
          <a:xfrm>
            <a:off x="609600" y="3302000"/>
            <a:ext cx="1991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EAF0F8"/>
                </a:solidFill>
                <a:latin typeface="Arial"/>
                <a:ea typeface="微软雅黑"/>
              </a:rPr>
              <a:t>示例：关键事件</a:t>
            </a:r>
          </a:p>
        </p:txBody>
      </p:sp>
      <p:sp>
        <p:nvSpPr>
          <p:cNvPr id="11" name="node1.body"/>
          <p:cNvSpPr txBox="1"/>
          <p:nvPr/>
        </p:nvSpPr>
        <p:spPr>
          <a:xfrm>
            <a:off x="609600" y="3962400"/>
            <a:ext cx="199136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93A5C0"/>
                </a:solidFill>
                <a:latin typeface="Arial"/>
                <a:ea typeface="微软雅黑"/>
              </a:rPr>
              <a:t>示例：一两句话说明意义或成果。</a:t>
            </a:r>
          </a:p>
        </p:txBody>
      </p:sp>
      <p:sp>
        <p:nvSpPr>
          <p:cNvPr id="12" name="node2.dot"/>
          <p:cNvSpPr/>
          <p:nvPr/>
        </p:nvSpPr>
        <p:spPr>
          <a:xfrm>
            <a:off x="2854960" y="2908300"/>
            <a:ext cx="177800" cy="177800"/>
          </a:xfrm>
          <a:prstGeom prst="ellipse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node2.time"/>
          <p:cNvSpPr txBox="1"/>
          <p:nvPr/>
        </p:nvSpPr>
        <p:spPr>
          <a:xfrm>
            <a:off x="2804160" y="22352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35D0BA"/>
                </a:solidFill>
                <a:latin typeface="Arial"/>
                <a:ea typeface="微软雅黑"/>
              </a:rPr>
              <a:t>2023</a:t>
            </a:r>
          </a:p>
        </p:txBody>
      </p:sp>
      <p:sp>
        <p:nvSpPr>
          <p:cNvPr id="14" name="node2.title"/>
          <p:cNvSpPr txBox="1"/>
          <p:nvPr/>
        </p:nvSpPr>
        <p:spPr>
          <a:xfrm>
            <a:off x="2804160" y="3302000"/>
            <a:ext cx="1991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EAF0F8"/>
                </a:solidFill>
                <a:latin typeface="Arial"/>
                <a:ea typeface="微软雅黑"/>
              </a:rPr>
              <a:t>示例：关键事件</a:t>
            </a:r>
          </a:p>
        </p:txBody>
      </p:sp>
      <p:sp>
        <p:nvSpPr>
          <p:cNvPr id="15" name="node2.body"/>
          <p:cNvSpPr txBox="1"/>
          <p:nvPr/>
        </p:nvSpPr>
        <p:spPr>
          <a:xfrm>
            <a:off x="2804160" y="3962400"/>
            <a:ext cx="199136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93A5C0"/>
                </a:solidFill>
                <a:latin typeface="Arial"/>
                <a:ea typeface="微软雅黑"/>
              </a:rPr>
              <a:t>示例：一两句话说明意义或成果。</a:t>
            </a:r>
          </a:p>
        </p:txBody>
      </p:sp>
      <p:sp>
        <p:nvSpPr>
          <p:cNvPr id="16" name="node3.dot"/>
          <p:cNvSpPr/>
          <p:nvPr/>
        </p:nvSpPr>
        <p:spPr>
          <a:xfrm>
            <a:off x="5049520" y="2908300"/>
            <a:ext cx="177800" cy="177800"/>
          </a:xfrm>
          <a:prstGeom prst="ellipse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node3.time"/>
          <p:cNvSpPr txBox="1"/>
          <p:nvPr/>
        </p:nvSpPr>
        <p:spPr>
          <a:xfrm>
            <a:off x="4998720" y="22352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35D0BA"/>
                </a:solidFill>
                <a:latin typeface="Arial"/>
                <a:ea typeface="微软雅黑"/>
              </a:rPr>
              <a:t>2024</a:t>
            </a:r>
          </a:p>
        </p:txBody>
      </p:sp>
      <p:sp>
        <p:nvSpPr>
          <p:cNvPr id="18" name="node3.title"/>
          <p:cNvSpPr txBox="1"/>
          <p:nvPr/>
        </p:nvSpPr>
        <p:spPr>
          <a:xfrm>
            <a:off x="4998720" y="3302000"/>
            <a:ext cx="1991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EAF0F8"/>
                </a:solidFill>
                <a:latin typeface="Arial"/>
                <a:ea typeface="微软雅黑"/>
              </a:rPr>
              <a:t>示例：关键事件</a:t>
            </a:r>
          </a:p>
        </p:txBody>
      </p:sp>
      <p:sp>
        <p:nvSpPr>
          <p:cNvPr id="19" name="node3.body"/>
          <p:cNvSpPr txBox="1"/>
          <p:nvPr/>
        </p:nvSpPr>
        <p:spPr>
          <a:xfrm>
            <a:off x="4998720" y="3962400"/>
            <a:ext cx="199136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93A5C0"/>
                </a:solidFill>
                <a:latin typeface="Arial"/>
                <a:ea typeface="微软雅黑"/>
              </a:rPr>
              <a:t>示例：一两句话说明意义或成果。</a:t>
            </a:r>
          </a:p>
        </p:txBody>
      </p:sp>
      <p:sp>
        <p:nvSpPr>
          <p:cNvPr id="20" name="node4.dot"/>
          <p:cNvSpPr/>
          <p:nvPr/>
        </p:nvSpPr>
        <p:spPr>
          <a:xfrm>
            <a:off x="7244080" y="2908300"/>
            <a:ext cx="177800" cy="177800"/>
          </a:xfrm>
          <a:prstGeom prst="ellipse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node4.time"/>
          <p:cNvSpPr txBox="1"/>
          <p:nvPr/>
        </p:nvSpPr>
        <p:spPr>
          <a:xfrm>
            <a:off x="7193280" y="22352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35D0BA"/>
                </a:solidFill>
                <a:latin typeface="Arial"/>
                <a:ea typeface="微软雅黑"/>
              </a:rPr>
              <a:t>2025</a:t>
            </a:r>
          </a:p>
        </p:txBody>
      </p:sp>
      <p:sp>
        <p:nvSpPr>
          <p:cNvPr id="22" name="node4.title"/>
          <p:cNvSpPr txBox="1"/>
          <p:nvPr/>
        </p:nvSpPr>
        <p:spPr>
          <a:xfrm>
            <a:off x="7193280" y="3302000"/>
            <a:ext cx="1991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EAF0F8"/>
                </a:solidFill>
                <a:latin typeface="Arial"/>
                <a:ea typeface="微软雅黑"/>
              </a:rPr>
              <a:t>示例：关键事件</a:t>
            </a:r>
          </a:p>
        </p:txBody>
      </p:sp>
      <p:sp>
        <p:nvSpPr>
          <p:cNvPr id="23" name="node4.body"/>
          <p:cNvSpPr txBox="1"/>
          <p:nvPr/>
        </p:nvSpPr>
        <p:spPr>
          <a:xfrm>
            <a:off x="7193280" y="3962400"/>
            <a:ext cx="199136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93A5C0"/>
                </a:solidFill>
                <a:latin typeface="Arial"/>
                <a:ea typeface="微软雅黑"/>
              </a:rPr>
              <a:t>示例：一两句话说明意义或成果。</a:t>
            </a:r>
          </a:p>
        </p:txBody>
      </p:sp>
      <p:sp>
        <p:nvSpPr>
          <p:cNvPr id="24" name="node5.dot"/>
          <p:cNvSpPr/>
          <p:nvPr/>
        </p:nvSpPr>
        <p:spPr>
          <a:xfrm>
            <a:off x="9438640" y="2908300"/>
            <a:ext cx="177800" cy="177800"/>
          </a:xfrm>
          <a:prstGeom prst="ellipse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node5.time"/>
          <p:cNvSpPr txBox="1"/>
          <p:nvPr/>
        </p:nvSpPr>
        <p:spPr>
          <a:xfrm>
            <a:off x="9387840" y="22352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35D0BA"/>
                </a:solidFill>
                <a:latin typeface="Arial"/>
                <a:ea typeface="微软雅黑"/>
              </a:rPr>
              <a:t>2026</a:t>
            </a:r>
          </a:p>
        </p:txBody>
      </p:sp>
      <p:sp>
        <p:nvSpPr>
          <p:cNvPr id="26" name="node5.title"/>
          <p:cNvSpPr txBox="1"/>
          <p:nvPr/>
        </p:nvSpPr>
        <p:spPr>
          <a:xfrm>
            <a:off x="9387840" y="3302000"/>
            <a:ext cx="1991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EAF0F8"/>
                </a:solidFill>
                <a:latin typeface="Arial"/>
                <a:ea typeface="微软雅黑"/>
              </a:rPr>
              <a:t>示例：关键事件</a:t>
            </a:r>
          </a:p>
        </p:txBody>
      </p:sp>
      <p:sp>
        <p:nvSpPr>
          <p:cNvPr id="27" name="node5.body"/>
          <p:cNvSpPr txBox="1"/>
          <p:nvPr/>
        </p:nvSpPr>
        <p:spPr>
          <a:xfrm>
            <a:off x="9387840" y="3962400"/>
            <a:ext cx="199136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93A5C0"/>
                </a:solidFill>
                <a:latin typeface="Arial"/>
                <a:ea typeface="微软雅黑"/>
              </a:rPr>
              <a:t>示例：一两句话说明意义或成果。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C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marker"/>
          <p:cNvSpPr/>
          <p:nvPr/>
        </p:nvSpPr>
        <p:spPr>
          <a:xfrm>
            <a:off x="609600" y="431800"/>
            <a:ext cx="101600" cy="101600"/>
          </a:xfrm>
          <a:prstGeom prst="ellipse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7874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5D0BA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AF0F8"/>
                </a:solidFill>
                <a:latin typeface="Arial"/>
                <a:ea typeface="微软雅黑"/>
              </a:rPr>
              <a:t>示例：表格页的标题写出需要关注的结论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4770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93A5C0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451600"/>
            <a:ext cx="762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0F24C20D-656D-441B-A855-A01279147666}" type="slidenum">
              <a:rPr lang="zh-CN" sz="1000">
                <a:solidFill>
                  <a:srgbClr val="93A5C0"/>
                </a:solidFill>
                <a:latin typeface="Arial"/>
              </a:rPr>
              <a:t>‹#›</a:t>
            </a:fld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609600" y="1498600"/>
          <a:ext cx="10972798" cy="254000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4180114"/>
                <a:gridCol w="2873828"/>
                <a:gridCol w="2090057"/>
                <a:gridCol w="1828799"/>
              </a:tblGrid>
              <a:tr h="508000">
                <a:tc>
                  <a:txBody>
                    <a:bodyPr wrap="square" lIns="101600" rIns="101600" tIns="50800" bIns="50800"/>
                    <a:lstStyle/>
                    <a:p>
                      <a:r>
                        <a:rPr sz="1300" b="1">
                          <a:solidFill>
                            <a:srgbClr val="EAF0F8"/>
                          </a:solidFill>
                          <a:latin typeface="Arial"/>
                          <a:ea typeface="微软雅黑"/>
                        </a:rPr>
                        <a:t>示例：事项</a:t>
                      </a:r>
                    </a:p>
                  </a:txBody>
                  <a:tcPr anchor="ctr">
                    <a:solidFill>
                      <a:srgbClr val="4C7BD9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300" b="1">
                          <a:solidFill>
                            <a:srgbClr val="EAF0F8"/>
                          </a:solidFill>
                          <a:latin typeface="Arial"/>
                          <a:ea typeface="微软雅黑"/>
                        </a:rPr>
                        <a:t>责任单位</a:t>
                      </a:r>
                    </a:p>
                  </a:txBody>
                  <a:tcPr anchor="ctr">
                    <a:solidFill>
                      <a:srgbClr val="4C7BD9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300" b="1">
                          <a:solidFill>
                            <a:srgbClr val="EAF0F8"/>
                          </a:solidFill>
                          <a:latin typeface="Arial"/>
                          <a:ea typeface="微软雅黑"/>
                        </a:rPr>
                        <a:t>完成时限</a:t>
                      </a:r>
                    </a:p>
                  </a:txBody>
                  <a:tcPr anchor="ctr">
                    <a:solidFill>
                      <a:srgbClr val="4C7BD9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300" b="1">
                          <a:solidFill>
                            <a:srgbClr val="EAF0F8"/>
                          </a:solidFill>
                          <a:latin typeface="Arial"/>
                          <a:ea typeface="微软雅黑"/>
                        </a:rPr>
                        <a:t>进展</a:t>
                      </a:r>
                    </a:p>
                  </a:txBody>
                  <a:tcPr anchor="ctr">
                    <a:solidFill>
                      <a:srgbClr val="4C7BD9"/>
                    </a:solidFill>
                  </a:tcPr>
                </a:tc>
              </a:tr>
              <a:tr h="508000"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EAF0F8"/>
                          </a:solidFill>
                          <a:latin typeface="Arial"/>
                          <a:ea typeface="微软雅黑"/>
                        </a:rPr>
                        <a:t>示例：重点任务一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C3D5C"/>
                      </a:solidFill>
                    </a:lnB>
                    <a:solidFill>
                      <a:srgbClr val="121C2E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EAF0F8"/>
                          </a:solidFill>
                          <a:latin typeface="Arial"/>
                          <a:ea typeface="微软雅黑"/>
                        </a:rPr>
                        <a:t>示例部门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C3D5C"/>
                      </a:solidFill>
                    </a:lnB>
                    <a:solidFill>
                      <a:srgbClr val="121C2E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EAF0F8"/>
                          </a:solidFill>
                          <a:latin typeface="Arial"/>
                          <a:ea typeface="微软雅黑"/>
                        </a:rPr>
                        <a:t>2026-12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C3D5C"/>
                      </a:solidFill>
                    </a:lnB>
                    <a:solidFill>
                      <a:srgbClr val="121C2E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EAF0F8"/>
                          </a:solidFill>
                          <a:latin typeface="Arial"/>
                          <a:ea typeface="微软雅黑"/>
                        </a:rPr>
                        <a:t>已完成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C3D5C"/>
                      </a:solidFill>
                    </a:lnB>
                    <a:solidFill>
                      <a:srgbClr val="121C2E"/>
                    </a:solidFill>
                  </a:tcPr>
                </a:tc>
              </a:tr>
              <a:tr h="508000"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EAF0F8"/>
                          </a:solidFill>
                          <a:latin typeface="Arial"/>
                          <a:ea typeface="微软雅黑"/>
                        </a:rPr>
                        <a:t>示例：重点任务二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C3D5C"/>
                      </a:solidFill>
                    </a:lnB>
                    <a:solidFill>
                      <a:srgbClr val="1B2943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EAF0F8"/>
                          </a:solidFill>
                          <a:latin typeface="Arial"/>
                          <a:ea typeface="微软雅黑"/>
                        </a:rPr>
                        <a:t>示例部门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C3D5C"/>
                      </a:solidFill>
                    </a:lnB>
                    <a:solidFill>
                      <a:srgbClr val="1B2943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EAF0F8"/>
                          </a:solidFill>
                          <a:latin typeface="Arial"/>
                          <a:ea typeface="微软雅黑"/>
                        </a:rPr>
                        <a:t>2026-12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C3D5C"/>
                      </a:solidFill>
                    </a:lnB>
                    <a:solidFill>
                      <a:srgbClr val="1B2943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EAF0F8"/>
                          </a:solidFill>
                          <a:latin typeface="Arial"/>
                          <a:ea typeface="微软雅黑"/>
                        </a:rPr>
                        <a:t>推进中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C3D5C"/>
                      </a:solidFill>
                    </a:lnB>
                    <a:solidFill>
                      <a:srgbClr val="1B2943"/>
                    </a:solidFill>
                  </a:tcPr>
                </a:tc>
              </a:tr>
              <a:tr h="508000"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EAF0F8"/>
                          </a:solidFill>
                          <a:latin typeface="Arial"/>
                          <a:ea typeface="微软雅黑"/>
                        </a:rPr>
                        <a:t>示例：重点任务三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C3D5C"/>
                      </a:solidFill>
                    </a:lnB>
                    <a:solidFill>
                      <a:srgbClr val="121C2E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EAF0F8"/>
                          </a:solidFill>
                          <a:latin typeface="Arial"/>
                          <a:ea typeface="微软雅黑"/>
                        </a:rPr>
                        <a:t>示例部门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C3D5C"/>
                      </a:solidFill>
                    </a:lnB>
                    <a:solidFill>
                      <a:srgbClr val="121C2E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EAF0F8"/>
                          </a:solidFill>
                          <a:latin typeface="Arial"/>
                          <a:ea typeface="微软雅黑"/>
                        </a:rPr>
                        <a:t>2027-03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C3D5C"/>
                      </a:solidFill>
                    </a:lnB>
                    <a:solidFill>
                      <a:srgbClr val="121C2E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EAF0F8"/>
                          </a:solidFill>
                          <a:latin typeface="Arial"/>
                          <a:ea typeface="微软雅黑"/>
                        </a:rPr>
                        <a:t>推进中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C3D5C"/>
                      </a:solidFill>
                    </a:lnB>
                    <a:solidFill>
                      <a:srgbClr val="121C2E"/>
                    </a:solidFill>
                  </a:tcPr>
                </a:tc>
              </a:tr>
              <a:tr h="508000"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EAF0F8"/>
                          </a:solidFill>
                          <a:latin typeface="Arial"/>
                          <a:ea typeface="微软雅黑"/>
                        </a:rPr>
                        <a:t>示例：重点任务四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C3D5C"/>
                      </a:solidFill>
                    </a:lnB>
                    <a:solidFill>
                      <a:srgbClr val="1B2943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EAF0F8"/>
                          </a:solidFill>
                          <a:latin typeface="Arial"/>
                          <a:ea typeface="微软雅黑"/>
                        </a:rPr>
                        <a:t>示例部门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C3D5C"/>
                      </a:solidFill>
                    </a:lnB>
                    <a:solidFill>
                      <a:srgbClr val="1B2943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EAF0F8"/>
                          </a:solidFill>
                          <a:latin typeface="Arial"/>
                          <a:ea typeface="微软雅黑"/>
                        </a:rPr>
                        <a:t>2027-06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C3D5C"/>
                      </a:solidFill>
                    </a:lnB>
                    <a:solidFill>
                      <a:srgbClr val="1B2943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EAF0F8"/>
                          </a:solidFill>
                          <a:latin typeface="Arial"/>
                          <a:ea typeface="微软雅黑"/>
                        </a:rPr>
                        <a:t>未启动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C3D5C"/>
                      </a:solidFill>
                    </a:lnB>
                    <a:solidFill>
                      <a:srgbClr val="1B2943"/>
                    </a:solidFill>
                  </a:tcPr>
                </a:tc>
              </a:tr>
            </a:tbl>
          </a:graphicData>
        </a:graphic>
      </p:graphicFrame>
      <p:sp>
        <p:nvSpPr>
          <p:cNvPr id="8" name="note"/>
          <p:cNvSpPr txBox="1"/>
          <p:nvPr/>
        </p:nvSpPr>
        <p:spPr>
          <a:xfrm>
            <a:off x="609600" y="42672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93A5C0"/>
                </a:solidFill>
                <a:latin typeface="Arial"/>
                <a:ea typeface="微软雅黑"/>
              </a:rPr>
              <a:t>示例：表下说明一句需要领导关注或协调的事项。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C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marker"/>
          <p:cNvSpPr/>
          <p:nvPr/>
        </p:nvSpPr>
        <p:spPr>
          <a:xfrm>
            <a:off x="609600" y="431800"/>
            <a:ext cx="101600" cy="101600"/>
          </a:xfrm>
          <a:prstGeom prst="ellipse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7874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5D0BA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AF0F8"/>
                </a:solidFill>
                <a:latin typeface="Arial"/>
                <a:ea typeface="微软雅黑"/>
              </a:rPr>
              <a:t>示例：产品亮点的总标题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4770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93A5C0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451600"/>
            <a:ext cx="762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5D65B706-AFB9-4269-912C-8D90F60E1292}" type="slidenum">
              <a:rPr lang="zh-CN" sz="1000">
                <a:solidFill>
                  <a:srgbClr val="93A5C0"/>
                </a:solidFill>
                <a:latin typeface="Arial"/>
              </a:rPr>
              <a:t>‹#›</a:t>
            </a:fld>
          </a:p>
        </p:txBody>
      </p:sp>
      <p:sp>
        <p:nvSpPr>
          <p:cNvPr id="7" name="image.box"/>
          <p:cNvSpPr/>
          <p:nvPr/>
        </p:nvSpPr>
        <p:spPr>
          <a:xfrm>
            <a:off x="609600" y="1498600"/>
            <a:ext cx="6350000" cy="4318000"/>
          </a:xfrm>
          <a:prstGeom prst="roundRect">
            <a:avLst>
              <a:gd name="adj" fmla="val 8000"/>
            </a:avLst>
          </a:prstGeom>
          <a:solidFill>
            <a:srgbClr val="1B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image.label"/>
          <p:cNvSpPr txBox="1"/>
          <p:nvPr/>
        </p:nvSpPr>
        <p:spPr>
          <a:xfrm>
            <a:off x="914400" y="3505200"/>
            <a:ext cx="57404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93A5C0"/>
                </a:solidFill>
                <a:latin typeface="Arial"/>
                <a:ea typeface="微软雅黑"/>
              </a:rPr>
              <a:t>示例：产品界面截图或主视觉</a:t>
            </a:r>
          </a:p>
        </p:txBody>
      </p:sp>
      <p:sp>
        <p:nvSpPr>
          <p:cNvPr id="9" name="headline"/>
          <p:cNvSpPr txBox="1"/>
          <p:nvPr/>
        </p:nvSpPr>
        <p:spPr>
          <a:xfrm>
            <a:off x="7366000" y="1498600"/>
            <a:ext cx="42164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EAF0F8"/>
                </a:solidFill>
                <a:latin typeface="Arial"/>
                <a:ea typeface="微软雅黑"/>
              </a:rPr>
              <a:t>示例：一句话讲清产品最打动人的价值</a:t>
            </a:r>
          </a:p>
        </p:txBody>
      </p:sp>
      <p:sp>
        <p:nvSpPr>
          <p:cNvPr id="10" name="feat1.dot"/>
          <p:cNvSpPr/>
          <p:nvPr/>
        </p:nvSpPr>
        <p:spPr>
          <a:xfrm>
            <a:off x="7366000" y="2743200"/>
            <a:ext cx="127000" cy="127000"/>
          </a:xfrm>
          <a:prstGeom prst="ellipse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feat1.title"/>
          <p:cNvSpPr txBox="1"/>
          <p:nvPr/>
        </p:nvSpPr>
        <p:spPr>
          <a:xfrm>
            <a:off x="7645400" y="2667000"/>
            <a:ext cx="39370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EAF0F8"/>
                </a:solidFill>
                <a:latin typeface="Arial"/>
                <a:ea typeface="微软雅黑"/>
              </a:rPr>
              <a:t>示例：亮点一</a:t>
            </a:r>
          </a:p>
        </p:txBody>
      </p:sp>
      <p:sp>
        <p:nvSpPr>
          <p:cNvPr id="12" name="feat1.body"/>
          <p:cNvSpPr txBox="1"/>
          <p:nvPr/>
        </p:nvSpPr>
        <p:spPr>
          <a:xfrm>
            <a:off x="7645400" y="3022600"/>
            <a:ext cx="3937000" cy="55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93A5C0"/>
                </a:solidFill>
                <a:latin typeface="Arial"/>
                <a:ea typeface="微软雅黑"/>
              </a:rPr>
              <a:t>示例：一句话说明它解决了什么问题。</a:t>
            </a:r>
          </a:p>
        </p:txBody>
      </p:sp>
      <p:sp>
        <p:nvSpPr>
          <p:cNvPr id="13" name="feat2.dot"/>
          <p:cNvSpPr/>
          <p:nvPr/>
        </p:nvSpPr>
        <p:spPr>
          <a:xfrm>
            <a:off x="7366000" y="3810000"/>
            <a:ext cx="127000" cy="127000"/>
          </a:xfrm>
          <a:prstGeom prst="ellipse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feat2.title"/>
          <p:cNvSpPr txBox="1"/>
          <p:nvPr/>
        </p:nvSpPr>
        <p:spPr>
          <a:xfrm>
            <a:off x="7645400" y="3733800"/>
            <a:ext cx="39370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EAF0F8"/>
                </a:solidFill>
                <a:latin typeface="Arial"/>
                <a:ea typeface="微软雅黑"/>
              </a:rPr>
              <a:t>示例：亮点二</a:t>
            </a:r>
          </a:p>
        </p:txBody>
      </p:sp>
      <p:sp>
        <p:nvSpPr>
          <p:cNvPr id="15" name="feat2.body"/>
          <p:cNvSpPr txBox="1"/>
          <p:nvPr/>
        </p:nvSpPr>
        <p:spPr>
          <a:xfrm>
            <a:off x="7645400" y="4089400"/>
            <a:ext cx="3937000" cy="55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93A5C0"/>
                </a:solidFill>
                <a:latin typeface="Arial"/>
                <a:ea typeface="微软雅黑"/>
              </a:rPr>
              <a:t>示例：一句话说明它解决了什么问题。</a:t>
            </a:r>
          </a:p>
        </p:txBody>
      </p:sp>
      <p:sp>
        <p:nvSpPr>
          <p:cNvPr id="16" name="feat3.dot"/>
          <p:cNvSpPr/>
          <p:nvPr/>
        </p:nvSpPr>
        <p:spPr>
          <a:xfrm>
            <a:off x="7366000" y="4876800"/>
            <a:ext cx="127000" cy="127000"/>
          </a:xfrm>
          <a:prstGeom prst="ellipse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feat3.title"/>
          <p:cNvSpPr txBox="1"/>
          <p:nvPr/>
        </p:nvSpPr>
        <p:spPr>
          <a:xfrm>
            <a:off x="7645400" y="4800600"/>
            <a:ext cx="39370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EAF0F8"/>
                </a:solidFill>
                <a:latin typeface="Arial"/>
                <a:ea typeface="微软雅黑"/>
              </a:rPr>
              <a:t>示例：亮点三</a:t>
            </a:r>
          </a:p>
        </p:txBody>
      </p:sp>
      <p:sp>
        <p:nvSpPr>
          <p:cNvPr id="18" name="feat3.body"/>
          <p:cNvSpPr txBox="1"/>
          <p:nvPr/>
        </p:nvSpPr>
        <p:spPr>
          <a:xfrm>
            <a:off x="7645400" y="5156200"/>
            <a:ext cx="3937000" cy="55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93A5C0"/>
                </a:solidFill>
                <a:latin typeface="Arial"/>
                <a:ea typeface="微软雅黑"/>
              </a:rPr>
              <a:t>示例：一句话说明它解决了什么问题。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5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glow1"/>
          <p:cNvSpPr/>
          <p:nvPr/>
        </p:nvSpPr>
        <p:spPr>
          <a:xfrm>
            <a:off x="7620000" y="-1524000"/>
            <a:ext cx="6604000" cy="6604000"/>
          </a:xfrm>
          <a:prstGeom prst="ellipse">
            <a:avLst/>
          </a:prstGeom>
          <a:solidFill>
            <a:srgbClr val="4C7BD9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deco.glow2"/>
          <p:cNvSpPr/>
          <p:nvPr/>
        </p:nvSpPr>
        <p:spPr>
          <a:xfrm>
            <a:off x="9652000" y="2921000"/>
            <a:ext cx="4318000" cy="4318000"/>
          </a:xfrm>
          <a:prstGeom prst="ellipse">
            <a:avLst/>
          </a:prstGeom>
          <a:solidFill>
            <a:srgbClr val="35D0BA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914400" y="2413000"/>
            <a:ext cx="8128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EAF0F8"/>
                </a:solidFill>
                <a:latin typeface="Arial"/>
                <a:ea typeface="微软雅黑"/>
              </a:rPr>
              <a:t>感谢聆听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914400" y="3454400"/>
            <a:ext cx="8128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3A5C0"/>
                </a:solidFill>
                <a:latin typeface="Arial"/>
                <a:ea typeface="微软雅黑"/>
              </a:rPr>
              <a:t>示例：恳请各位领导批评指正</a:t>
            </a:r>
          </a:p>
        </p:txBody>
      </p:sp>
      <p:sp>
        <p:nvSpPr>
          <p:cNvPr id="6" name="contact"/>
          <p:cNvSpPr txBox="1"/>
          <p:nvPr/>
        </p:nvSpPr>
        <p:spPr>
          <a:xfrm>
            <a:off x="914400" y="5588000"/>
            <a:ext cx="8128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93A5C0"/>
                </a:solidFill>
                <a:latin typeface="Arial"/>
                <a:ea typeface="微软雅黑"/>
              </a:rPr>
              <a:t>示例单位 · 联系人 · 联系方式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ch-dark">
  <a:themeElements>
    <a:clrScheme name="tech-dark">
      <a:dk1>
        <a:srgbClr val="0D1524"/>
      </a:dk1>
      <a:lt1>
        <a:srgbClr val="FFFFFF"/>
      </a:lt1>
      <a:dk2>
        <a:srgbClr val="0D1524"/>
      </a:dk2>
      <a:lt2>
        <a:srgbClr val="F2F5FA"/>
      </a:lt2>
      <a:accent1>
        <a:srgbClr val="35D0BA"/>
      </a:accent1>
      <a:accent2>
        <a:srgbClr val="35D0BA"/>
      </a:accent2>
      <a:accent3>
        <a:srgbClr val="4C7BD9"/>
      </a:accent3>
      <a:accent4>
        <a:srgbClr val="93A5C0"/>
      </a:accent4>
      <a:accent5>
        <a:srgbClr val="93A5C0"/>
      </a:accent5>
      <a:accent6>
        <a:srgbClr val="2C3D5C"/>
      </a:accent6>
      <a:hlink>
        <a:srgbClr val="4C7BD9"/>
      </a:hlink>
      <a:folHlink>
        <a:srgbClr val="93A5C0"/>
      </a:folHlink>
    </a:clrScheme>
    <a:fontScheme name="tech-dark">
      <a:majorFont>
        <a:latin typeface="Arial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深空 模板</dc:title>
  <dc:subject/>
  <dc:creator/>
  <cp:keywords/>
  <dc:description>generated using python-pptx</dc:description>
  <cp:lastModifiedBy/>
  <cp:revision>1</cp:revision>
  <dcterms:created xsi:type="dcterms:W3CDTF">2026-10-27T00:00:00Z</dcterms:created>
  <dcterms:modified xsi:type="dcterms:W3CDTF">2026-10-27T00:00:00Z</dcterms:modified>
  <cp:category/>
</cp:coreProperties>
</file>