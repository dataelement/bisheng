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示例：营业收入（亿元）</c:v>
                </c:pt>
              </c:strCache>
            </c:strRef>
          </c:tx>
          <c:spPr>
            <a:solidFill>
              <a:srgbClr val="8B1A2B"/>
            </a:solidFill>
          </c:spPr>
          <c:dLbls>
            <c:numFmt formatCode="0" sourceLinked="0"/>
            <c:txPr>
              <a:bodyPr/>
              <a:lstStyle/>
              <a:p>
                <a:pPr>
                  <a:defRPr sz="1000">
                    <a:solidFill>
                      <a:srgbClr val="2B2B2B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82.1</c:v>
                </c:pt>
                <c:pt idx="1">
                  <c:v>95.4</c:v>
                </c:pt>
                <c:pt idx="2">
                  <c:v>108.7</c:v>
                </c:pt>
                <c:pt idx="3">
                  <c:v>121.3</c:v>
                </c:pt>
                <c:pt idx="4">
                  <c:v>136.0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6DDD0"/>
            </a:solidFill>
          </a:ln>
        </c:spPr>
        <c:txPr>
          <a:bodyPr/>
          <a:lstStyle/>
          <a:p>
            <a:pPr>
              <a:defRPr sz="1000">
                <a:solidFill>
                  <a:srgbClr val="6B6B6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DDD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B6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6B6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cover（封面）：文稿开头；主标题写核心判断或文稿名称。页面上的文字均为示例，使用时整体替换。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agenda（目录）：4–5 个章节的目录。页面上的文字均为示例，使用时整体替换。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section（章节页）：章节过渡，一句话交代本章问题。页面上的文字均为示例，使用时整体替换。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statement（观点页）：一句结论加一段依据，用于关键判断。页面上的文字均为示例，使用时整体替换。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two-column（图文两栏）：左侧要点、右侧照片或截图。页面上的文字均为示例，使用时整体替换。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cards-3（三卡片）：三个并列的举措、成果或特点。页面上的文字均为示例，使用时整体替换。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cards-4（四卡片）：四个维度或四项工作。页面上的文字均为示例，使用时整体替换。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kpi-4（关键指标）：3–4 个关键数字加一句解读。页面上的文字均为示例，使用时整体替换。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chart-insight（图表加解读）：一张趋势或对比图，右侧写读图结论。页面上的文字均为示例，使用时整体替换。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compare（对比）：两个方案、改革前后、我们与对标的对比。页面上的文字均为示例，使用时整体替换。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process（流程）：3–4 个有先后顺序的步骤。页面上的文字均为示例，使用时整体替换。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timeline（时间轴）：3–5 个时间节点的历程或计划。页面上的文字均为示例，使用时整体替换。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table（表格）：任务清单、责任分工、多维对照。页面上的文字均为示例，使用时整体替换。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honor-wall（荣誉成果）：荣誉、奖项或标志性成果的陈列。页面上的文字均为示例，使用时整体替换。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示例版式 closing（结尾页）：致谢与联系方式。页面上的文字均为示例，使用时整体替换。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ring1"/>
          <p:cNvSpPr/>
          <p:nvPr/>
        </p:nvSpPr>
        <p:spPr>
          <a:xfrm>
            <a:off x="7366000" y="635000"/>
            <a:ext cx="4572000" cy="4572000"/>
          </a:xfrm>
          <a:prstGeom prst="ellipse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o.ring2"/>
          <p:cNvSpPr/>
          <p:nvPr/>
        </p:nvSpPr>
        <p:spPr>
          <a:xfrm>
            <a:off x="8255000" y="1524000"/>
            <a:ext cx="2794000" cy="2794000"/>
          </a:xfrm>
          <a:prstGeom prst="ellipse">
            <a:avLst/>
          </a:prstGeom>
          <a:noFill/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914400" y="1498600"/>
            <a:ext cx="6096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9A84C"/>
                </a:solidFill>
                <a:latin typeface="Arial"/>
                <a:ea typeface="微软雅黑"/>
              </a:rPr>
              <a:t>示例 · 2026 年度工作汇报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914400" y="2057400"/>
            <a:ext cx="6096000" cy="165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Arial"/>
                <a:ea typeface="黑体"/>
              </a:rPr>
              <a:t>示例：主标题写一句核心判断或文稿名称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914400" y="3886200"/>
            <a:ext cx="60960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0D9B5"/>
                </a:solidFill>
                <a:latin typeface="Arial"/>
                <a:ea typeface="微软雅黑"/>
              </a:rPr>
              <a:t>示例：副标题补充范围、时间或汇报对象</a:t>
            </a:r>
          </a:p>
        </p:txBody>
      </p:sp>
      <p:sp>
        <p:nvSpPr>
          <p:cNvPr id="7" name="deco.band"/>
          <p:cNvSpPr/>
          <p:nvPr/>
        </p:nvSpPr>
        <p:spPr>
          <a:xfrm>
            <a:off x="0" y="5791200"/>
            <a:ext cx="12192000" cy="1066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rg"/>
          <p:cNvSpPr txBox="1"/>
          <p:nvPr/>
        </p:nvSpPr>
        <p:spPr>
          <a:xfrm>
            <a:off x="914400" y="6146800"/>
            <a:ext cx="6604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B1A2B"/>
                </a:solidFill>
                <a:latin typeface="Arial"/>
                <a:ea typeface="微软雅黑"/>
              </a:rPr>
              <a:t>示例单位名称</a:t>
            </a:r>
          </a:p>
        </p:txBody>
      </p:sp>
      <p:sp>
        <p:nvSpPr>
          <p:cNvPr id="9" name="date"/>
          <p:cNvSpPr txBox="1"/>
          <p:nvPr/>
        </p:nvSpPr>
        <p:spPr>
          <a:xfrm>
            <a:off x="8890000" y="6146800"/>
            <a:ext cx="23876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0">
                <a:solidFill>
                  <a:srgbClr val="8B1A2B"/>
                </a:solidFill>
                <a:latin typeface="Arial"/>
                <a:ea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16256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A8232F"/>
                </a:solidFill>
                <a:latin typeface="Arial"/>
                <a:ea typeface="微软雅黑"/>
              </a:rPr>
              <a:t>CONTENTS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1905000"/>
            <a:ext cx="4064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8B1A2B"/>
                </a:solidFill>
                <a:latin typeface="Arial"/>
                <a:ea typeface="黑体"/>
              </a:rPr>
              <a:t>目录</a:t>
            </a:r>
          </a:p>
        </p:txBody>
      </p:sp>
      <p:sp>
        <p:nvSpPr>
          <p:cNvPr id="4" name="item1.no"/>
          <p:cNvSpPr txBox="1"/>
          <p:nvPr/>
        </p:nvSpPr>
        <p:spPr>
          <a:xfrm>
            <a:off x="5334000" y="1524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8232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" name="item1.text"/>
          <p:cNvSpPr txBox="1"/>
          <p:nvPr/>
        </p:nvSpPr>
        <p:spPr>
          <a:xfrm>
            <a:off x="6248400" y="1600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B2B2B"/>
                </a:solidFill>
                <a:latin typeface="Arial"/>
                <a:ea typeface="微软雅黑"/>
              </a:rPr>
              <a:t>示例：经营概况</a:t>
            </a:r>
          </a:p>
        </p:txBody>
      </p:sp>
      <p:cxnSp>
        <p:nvCxnSpPr>
          <p:cNvPr id="6" name="item1.rule"/>
          <p:cNvCxnSpPr/>
          <p:nvPr/>
        </p:nvCxnSpPr>
        <p:spPr>
          <a:xfrm>
            <a:off x="5334000" y="2235200"/>
            <a:ext cx="6248400" cy="0"/>
          </a:xfrm>
          <a:prstGeom prst="line">
            <a:avLst/>
          </a:prstGeom>
          <a:ln w="9525">
            <a:solidFill>
              <a:srgbClr val="E6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tem2.no"/>
          <p:cNvSpPr txBox="1"/>
          <p:nvPr/>
        </p:nvSpPr>
        <p:spPr>
          <a:xfrm>
            <a:off x="5334000" y="2413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8232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8" name="item2.text"/>
          <p:cNvSpPr txBox="1"/>
          <p:nvPr/>
        </p:nvSpPr>
        <p:spPr>
          <a:xfrm>
            <a:off x="6248400" y="2489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B2B2B"/>
                </a:solidFill>
                <a:latin typeface="Arial"/>
                <a:ea typeface="微软雅黑"/>
              </a:rPr>
              <a:t>示例：重点工作进展</a:t>
            </a:r>
          </a:p>
        </p:txBody>
      </p:sp>
      <p:cxnSp>
        <p:nvCxnSpPr>
          <p:cNvPr id="9" name="item2.rule"/>
          <p:cNvCxnSpPr/>
          <p:nvPr/>
        </p:nvCxnSpPr>
        <p:spPr>
          <a:xfrm>
            <a:off x="5334000" y="3124200"/>
            <a:ext cx="6248400" cy="0"/>
          </a:xfrm>
          <a:prstGeom prst="line">
            <a:avLst/>
          </a:prstGeom>
          <a:ln w="9525">
            <a:solidFill>
              <a:srgbClr val="E6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tem3.no"/>
          <p:cNvSpPr txBox="1"/>
          <p:nvPr/>
        </p:nvSpPr>
        <p:spPr>
          <a:xfrm>
            <a:off x="5334000" y="3302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8232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1" name="item3.text"/>
          <p:cNvSpPr txBox="1"/>
          <p:nvPr/>
        </p:nvSpPr>
        <p:spPr>
          <a:xfrm>
            <a:off x="6248400" y="3378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B2B2B"/>
                </a:solidFill>
                <a:latin typeface="Arial"/>
                <a:ea typeface="微软雅黑"/>
              </a:rPr>
              <a:t>示例：问题与原因分析</a:t>
            </a:r>
          </a:p>
        </p:txBody>
      </p:sp>
      <p:cxnSp>
        <p:nvCxnSpPr>
          <p:cNvPr id="12" name="item3.rule"/>
          <p:cNvCxnSpPr/>
          <p:nvPr/>
        </p:nvCxnSpPr>
        <p:spPr>
          <a:xfrm>
            <a:off x="5334000" y="4013200"/>
            <a:ext cx="6248400" cy="0"/>
          </a:xfrm>
          <a:prstGeom prst="line">
            <a:avLst/>
          </a:prstGeom>
          <a:ln w="9525">
            <a:solidFill>
              <a:srgbClr val="E6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tem4.no"/>
          <p:cNvSpPr txBox="1"/>
          <p:nvPr/>
        </p:nvSpPr>
        <p:spPr>
          <a:xfrm>
            <a:off x="5334000" y="4191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8232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14" name="item4.text"/>
          <p:cNvSpPr txBox="1"/>
          <p:nvPr/>
        </p:nvSpPr>
        <p:spPr>
          <a:xfrm>
            <a:off x="6248400" y="4267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B2B2B"/>
                </a:solidFill>
                <a:latin typeface="Arial"/>
                <a:ea typeface="微软雅黑"/>
              </a:rPr>
              <a:t>示例：下一步计划</a:t>
            </a:r>
          </a:p>
        </p:txBody>
      </p:sp>
      <p:cxnSp>
        <p:nvCxnSpPr>
          <p:cNvPr id="15" name="item4.rule"/>
          <p:cNvCxnSpPr/>
          <p:nvPr/>
        </p:nvCxnSpPr>
        <p:spPr>
          <a:xfrm>
            <a:off x="5334000" y="4902200"/>
            <a:ext cx="6248400" cy="0"/>
          </a:xfrm>
          <a:prstGeom prst="line">
            <a:avLst/>
          </a:prstGeom>
          <a:ln w="9525">
            <a:solidFill>
              <a:srgbClr val="E6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tem5.no"/>
          <p:cNvSpPr txBox="1"/>
          <p:nvPr/>
        </p:nvSpPr>
        <p:spPr>
          <a:xfrm>
            <a:off x="5334000" y="5080000"/>
            <a:ext cx="76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8232F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17" name="item5.text"/>
          <p:cNvSpPr txBox="1"/>
          <p:nvPr/>
        </p:nvSpPr>
        <p:spPr>
          <a:xfrm>
            <a:off x="6248400" y="5156200"/>
            <a:ext cx="5334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2B2B2B"/>
                </a:solidFill>
                <a:latin typeface="Arial"/>
                <a:ea typeface="微软雅黑"/>
              </a:rPr>
              <a:t>示例：需协调事项</a:t>
            </a:r>
          </a:p>
        </p:txBody>
      </p:sp>
      <p:cxnSp>
        <p:nvCxnSpPr>
          <p:cNvPr id="18" name="item5.rule"/>
          <p:cNvCxnSpPr/>
          <p:nvPr/>
        </p:nvCxnSpPr>
        <p:spPr>
          <a:xfrm>
            <a:off x="5334000" y="5791200"/>
            <a:ext cx="6248400" cy="0"/>
          </a:xfrm>
          <a:prstGeom prst="line">
            <a:avLst/>
          </a:prstGeom>
          <a:ln w="9525">
            <a:solidFill>
              <a:srgbClr val="E6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20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3AEF6613-A19C-5D0A-9B2B-52A6A0F70223}" type="slidenum">
              <a:rPr lang="zh-CN" sz="1000">
                <a:solidFill>
                  <a:srgbClr val="6B6B6B"/>
                </a:solidFill>
                <a:latin typeface="Arial"/>
              </a:rPr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ring1"/>
          <p:cNvSpPr/>
          <p:nvPr/>
        </p:nvSpPr>
        <p:spPr>
          <a:xfrm>
            <a:off x="7366000" y="635000"/>
            <a:ext cx="4572000" cy="4572000"/>
          </a:xfrm>
          <a:prstGeom prst="ellipse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o.ring2"/>
          <p:cNvSpPr/>
          <p:nvPr/>
        </p:nvSpPr>
        <p:spPr>
          <a:xfrm>
            <a:off x="8255000" y="1524000"/>
            <a:ext cx="2794000" cy="2794000"/>
          </a:xfrm>
          <a:prstGeom prst="ellipse">
            <a:avLst/>
          </a:prstGeom>
          <a:noFill/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no"/>
          <p:cNvSpPr txBox="1"/>
          <p:nvPr/>
        </p:nvSpPr>
        <p:spPr>
          <a:xfrm>
            <a:off x="914400" y="1905000"/>
            <a:ext cx="38100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800" b="1">
                <a:solidFill>
                  <a:srgbClr val="C9A84C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914400" y="3429000"/>
            <a:ext cx="8128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FFFFF"/>
                </a:solidFill>
                <a:latin typeface="Arial"/>
                <a:ea typeface="黑体"/>
              </a:rPr>
              <a:t>示例：章节标题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914400" y="4318000"/>
            <a:ext cx="812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F0D9B5"/>
                </a:solidFill>
                <a:latin typeface="Arial"/>
                <a:ea typeface="微软雅黑"/>
              </a:rPr>
              <a:t>示例：一句话说明本章要回答的问题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0D9B5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8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D887D9B9-1A0E-5E69-AEF4-07EB6219CC61}" type="slidenum">
              <a:rPr lang="zh-CN" sz="1000">
                <a:solidFill>
                  <a:srgbClr val="F0D9B5"/>
                </a:solidFill>
                <a:latin typeface="Arial"/>
              </a:rPr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232F"/>
                </a:solidFill>
                <a:latin typeface="Arial"/>
                <a:ea typeface="微软雅黑"/>
              </a:rPr>
              <a:t>01 · 核心观点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4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9FF07212-5E86-54A6-8D9B-E91040569310}" type="slidenum">
              <a:rPr lang="zh-CN" sz="1000">
                <a:solidFill>
                  <a:srgbClr val="6B6B6B"/>
                </a:solidFill>
                <a:latin typeface="Arial"/>
              </a:rPr>
              <a:t>‹#›</a:t>
            </a:fld>
          </a:p>
        </p:txBody>
      </p:sp>
      <p:sp>
        <p:nvSpPr>
          <p:cNvPr id="5" name="deco.quote"/>
          <p:cNvSpPr/>
          <p:nvPr/>
        </p:nvSpPr>
        <p:spPr>
          <a:xfrm>
            <a:off x="609600" y="1701800"/>
            <a:ext cx="508000" cy="63500"/>
          </a:xfrm>
          <a:prstGeom prst="rect">
            <a:avLst/>
          </a:prstGeom>
          <a:solidFill>
            <a:srgbClr val="A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atement"/>
          <p:cNvSpPr txBox="1"/>
          <p:nvPr/>
        </p:nvSpPr>
        <p:spPr>
          <a:xfrm>
            <a:off x="609600" y="1981200"/>
            <a:ext cx="10160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2B2B2B"/>
                </a:solidFill>
                <a:latin typeface="Arial"/>
                <a:ea typeface="黑体"/>
              </a:rPr>
              <a:t>示例：用一句完整的话写出本页结论，让听众不看其他内容也能带走它</a:t>
            </a:r>
          </a:p>
        </p:txBody>
      </p:sp>
      <p:sp>
        <p:nvSpPr>
          <p:cNvPr id="7" name="support"/>
          <p:cNvSpPr txBox="1"/>
          <p:nvPr/>
        </p:nvSpPr>
        <p:spPr>
          <a:xfrm>
            <a:off x="609600" y="4267200"/>
            <a:ext cx="8382000" cy="1066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6B6B6B"/>
                </a:solidFill>
                <a:latin typeface="Arial"/>
                <a:ea typeface="微软雅黑"/>
              </a:rPr>
              <a:t>示例：用一两句话交代支撑这个判断的事实、数据或依据。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09600" y="5969000"/>
            <a:ext cx="812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示例来源：填写数据或材料出处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711200"/>
            <a:ext cx="76200" cy="381000"/>
          </a:xfrm>
          <a:prstGeom prst="rect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8128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232F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812800" y="635000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8B1A2B"/>
                </a:solidFill>
                <a:latin typeface="Arial"/>
                <a:ea typeface="黑体"/>
              </a:rPr>
              <a:t>示例：图文页的标题写本页结论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BAD348B4-D482-5C6B-B216-D150C16A7C14}" type="slidenum">
              <a:rPr lang="zh-CN" sz="1000">
                <a:solidFill>
                  <a:srgbClr val="6B6B6B"/>
                </a:solidFill>
                <a:latin typeface="Arial"/>
              </a:rPr>
              <a:t>‹#›</a:t>
            </a:fld>
          </a:p>
        </p:txBody>
      </p:sp>
      <p:sp>
        <p:nvSpPr>
          <p:cNvPr id="7" name="lead"/>
          <p:cNvSpPr txBox="1"/>
          <p:nvPr/>
        </p:nvSpPr>
        <p:spPr>
          <a:xfrm>
            <a:off x="609600" y="1549400"/>
            <a:ext cx="5080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B2B2B"/>
                </a:solidFill>
                <a:latin typeface="Arial"/>
                <a:ea typeface="微软雅黑"/>
              </a:rPr>
              <a:t>示例：先用一句加粗的话点题，再展开要点。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609600" y="2438400"/>
            <a:ext cx="5080000" cy="330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0000"/>
              </a:lnSpc>
              <a:buClr>
                <a:srgbClr val="A8232F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  <a:latin typeface="Arial"/>
                <a:ea typeface="微软雅黑"/>
              </a:rPr>
              <a:t>示例要点一：写事实或做法，一行一个要点</a:t>
            </a:r>
          </a:p>
          <a:p>
            <a:pPr algn="l" marL="177800" indent="-177800">
              <a:lnSpc>
                <a:spcPct val="130000"/>
              </a:lnSpc>
              <a:spcBef>
                <a:spcPts val="525"/>
              </a:spcBef>
              <a:buClr>
                <a:srgbClr val="A8232F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  <a:latin typeface="Arial"/>
                <a:ea typeface="微软雅黑"/>
              </a:rPr>
              <a:t>示例要点二：数字要带单位和期间</a:t>
            </a:r>
          </a:p>
          <a:p>
            <a:pPr algn="l" marL="177800" indent="-177800">
              <a:lnSpc>
                <a:spcPct val="130000"/>
              </a:lnSpc>
              <a:spcBef>
                <a:spcPts val="525"/>
              </a:spcBef>
              <a:buClr>
                <a:srgbClr val="A8232F"/>
              </a:buClr>
              <a:buFont typeface="Arial"/>
              <a:buChar char="•"/>
            </a:pPr>
            <a:r>
              <a:rPr sz="1500" b="0">
                <a:solidFill>
                  <a:srgbClr val="2B2B2B"/>
                </a:solidFill>
                <a:latin typeface="Arial"/>
                <a:ea typeface="微软雅黑"/>
              </a:rPr>
              <a:t>示例要点三：最多五条，放不下就拆页</a:t>
            </a:r>
          </a:p>
        </p:txBody>
      </p:sp>
      <p:sp>
        <p:nvSpPr>
          <p:cNvPr id="9" name="image.box"/>
          <p:cNvSpPr/>
          <p:nvPr/>
        </p:nvSpPr>
        <p:spPr>
          <a:xfrm>
            <a:off x="6096000" y="1498600"/>
            <a:ext cx="5486400" cy="43688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image.label"/>
          <p:cNvSpPr txBox="1"/>
          <p:nvPr/>
        </p:nvSpPr>
        <p:spPr>
          <a:xfrm>
            <a:off x="6400800" y="3530600"/>
            <a:ext cx="4876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示例：图片区，替换为现场照片或产品截图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711200"/>
            <a:ext cx="76200" cy="381000"/>
          </a:xfrm>
          <a:prstGeom prst="rect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8128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232F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812800" y="635000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8B1A2B"/>
                </a:solidFill>
                <a:latin typeface="Arial"/>
                <a:ea typeface="黑体"/>
              </a:rPr>
              <a:t>示例：三个并列要点的总标题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EBE5A372-31F2-5C03-910E-FA360429F541}" type="slidenum">
              <a:rPr lang="zh-CN" sz="1000">
                <a:solidFill>
                  <a:srgbClr val="6B6B6B"/>
                </a:solidFill>
                <a:latin typeface="Arial"/>
              </a:rPr>
              <a:t>‹#›</a:t>
            </a:fld>
          </a:p>
        </p:txBody>
      </p:sp>
      <p:sp>
        <p:nvSpPr>
          <p:cNvPr id="7" name="lead"/>
          <p:cNvSpPr txBox="1"/>
          <p:nvPr/>
        </p:nvSpPr>
        <p:spPr>
          <a:xfrm>
            <a:off x="609600" y="14986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B6B"/>
                </a:solidFill>
                <a:latin typeface="Arial"/>
                <a:ea typeface="微软雅黑"/>
              </a:rPr>
              <a:t>示例：一句话说明这三点之间的关系或共同指向。</a:t>
            </a:r>
          </a:p>
        </p:txBody>
      </p:sp>
      <p:sp>
        <p:nvSpPr>
          <p:cNvPr id="8" name="card1.bg"/>
          <p:cNvSpPr/>
          <p:nvPr/>
        </p:nvSpPr>
        <p:spPr>
          <a:xfrm>
            <a:off x="609600" y="2159000"/>
            <a:ext cx="3454400" cy="3175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ard1.no"/>
          <p:cNvSpPr txBox="1"/>
          <p:nvPr/>
        </p:nvSpPr>
        <p:spPr>
          <a:xfrm>
            <a:off x="9144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8232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10" name="card1.title"/>
          <p:cNvSpPr txBox="1"/>
          <p:nvPr/>
        </p:nvSpPr>
        <p:spPr>
          <a:xfrm>
            <a:off x="9144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B2B2B"/>
                </a:solidFill>
                <a:latin typeface="Arial"/>
                <a:ea typeface="微软雅黑"/>
              </a:rPr>
              <a:t>示例：要点一的小标题</a:t>
            </a:r>
          </a:p>
        </p:txBody>
      </p:sp>
      <p:sp>
        <p:nvSpPr>
          <p:cNvPr id="11" name="card1.body"/>
          <p:cNvSpPr txBox="1"/>
          <p:nvPr/>
        </p:nvSpPr>
        <p:spPr>
          <a:xfrm>
            <a:off x="9144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B6B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  <p:sp>
        <p:nvSpPr>
          <p:cNvPr id="12" name="card2.bg"/>
          <p:cNvSpPr/>
          <p:nvPr/>
        </p:nvSpPr>
        <p:spPr>
          <a:xfrm>
            <a:off x="4368800" y="2159000"/>
            <a:ext cx="3454400" cy="3175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ard2.no"/>
          <p:cNvSpPr txBox="1"/>
          <p:nvPr/>
        </p:nvSpPr>
        <p:spPr>
          <a:xfrm>
            <a:off x="46736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8232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4" name="card2.title"/>
          <p:cNvSpPr txBox="1"/>
          <p:nvPr/>
        </p:nvSpPr>
        <p:spPr>
          <a:xfrm>
            <a:off x="46736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B2B2B"/>
                </a:solidFill>
                <a:latin typeface="Arial"/>
                <a:ea typeface="微软雅黑"/>
              </a:rPr>
              <a:t>示例：要点二的小标题</a:t>
            </a:r>
          </a:p>
        </p:txBody>
      </p:sp>
      <p:sp>
        <p:nvSpPr>
          <p:cNvPr id="15" name="card2.body"/>
          <p:cNvSpPr txBox="1"/>
          <p:nvPr/>
        </p:nvSpPr>
        <p:spPr>
          <a:xfrm>
            <a:off x="46736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B6B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  <p:sp>
        <p:nvSpPr>
          <p:cNvPr id="16" name="card3.bg"/>
          <p:cNvSpPr/>
          <p:nvPr/>
        </p:nvSpPr>
        <p:spPr>
          <a:xfrm>
            <a:off x="8128000" y="2159000"/>
            <a:ext cx="3454400" cy="3175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ard3.no"/>
          <p:cNvSpPr txBox="1"/>
          <p:nvPr/>
        </p:nvSpPr>
        <p:spPr>
          <a:xfrm>
            <a:off x="8432800" y="2438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8232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8" name="card3.title"/>
          <p:cNvSpPr txBox="1"/>
          <p:nvPr/>
        </p:nvSpPr>
        <p:spPr>
          <a:xfrm>
            <a:off x="8432800" y="2997200"/>
            <a:ext cx="2844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B2B2B"/>
                </a:solidFill>
                <a:latin typeface="Arial"/>
                <a:ea typeface="微软雅黑"/>
              </a:rPr>
              <a:t>示例：要点三的小标题</a:t>
            </a:r>
          </a:p>
        </p:txBody>
      </p:sp>
      <p:sp>
        <p:nvSpPr>
          <p:cNvPr id="19" name="card3.body"/>
          <p:cNvSpPr txBox="1"/>
          <p:nvPr/>
        </p:nvSpPr>
        <p:spPr>
          <a:xfrm>
            <a:off x="8432800" y="3759200"/>
            <a:ext cx="2844800" cy="1346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B6B"/>
                </a:solidFill>
                <a:latin typeface="Arial"/>
                <a:ea typeface="微软雅黑"/>
              </a:rPr>
              <a:t>示例：两三句话说明做了什么、带来什么变化，最好有一个数字。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711200"/>
            <a:ext cx="76200" cy="381000"/>
          </a:xfrm>
          <a:prstGeom prst="rect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8128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232F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812800" y="635000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8B1A2B"/>
                </a:solidFill>
                <a:latin typeface="Arial"/>
                <a:ea typeface="黑体"/>
              </a:rPr>
              <a:t>示例：四项工作或四个维度的总标题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BF3FF314-EB09-5DCB-A5FB-356FA35A9976}" type="slidenum">
              <a:rPr lang="zh-CN" sz="1000">
                <a:solidFill>
                  <a:srgbClr val="6B6B6B"/>
                </a:solidFill>
                <a:latin typeface="Arial"/>
              </a:rPr>
              <a:t>‹#›</a:t>
            </a:fld>
          </a:p>
        </p:txBody>
      </p:sp>
      <p:sp>
        <p:nvSpPr>
          <p:cNvPr id="7" name="card1.bg"/>
          <p:cNvSpPr/>
          <p:nvPr/>
        </p:nvSpPr>
        <p:spPr>
          <a:xfrm>
            <a:off x="609600" y="1498600"/>
            <a:ext cx="5359400" cy="21336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ard1.no"/>
          <p:cNvSpPr txBox="1"/>
          <p:nvPr/>
        </p:nvSpPr>
        <p:spPr>
          <a:xfrm>
            <a:off x="914400" y="17780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8232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" name="card1.title"/>
          <p:cNvSpPr txBox="1"/>
          <p:nvPr/>
        </p:nvSpPr>
        <p:spPr>
          <a:xfrm>
            <a:off x="914400" y="23368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B2B2B"/>
                </a:solidFill>
                <a:latin typeface="Arial"/>
                <a:ea typeface="微软雅黑"/>
              </a:rPr>
              <a:t>示例：维度一</a:t>
            </a:r>
          </a:p>
        </p:txBody>
      </p:sp>
      <p:sp>
        <p:nvSpPr>
          <p:cNvPr id="10" name="card1.body"/>
          <p:cNvSpPr txBox="1"/>
          <p:nvPr/>
        </p:nvSpPr>
        <p:spPr>
          <a:xfrm>
            <a:off x="914400" y="27432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B6B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1" name="card2.bg"/>
          <p:cNvSpPr/>
          <p:nvPr/>
        </p:nvSpPr>
        <p:spPr>
          <a:xfrm>
            <a:off x="6223000" y="1498600"/>
            <a:ext cx="5359400" cy="21336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ard2.no"/>
          <p:cNvSpPr txBox="1"/>
          <p:nvPr/>
        </p:nvSpPr>
        <p:spPr>
          <a:xfrm>
            <a:off x="6527800" y="17780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8232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13" name="card2.title"/>
          <p:cNvSpPr txBox="1"/>
          <p:nvPr/>
        </p:nvSpPr>
        <p:spPr>
          <a:xfrm>
            <a:off x="6527800" y="23368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B2B2B"/>
                </a:solidFill>
                <a:latin typeface="Arial"/>
                <a:ea typeface="微软雅黑"/>
              </a:rPr>
              <a:t>示例：维度二</a:t>
            </a:r>
          </a:p>
        </p:txBody>
      </p:sp>
      <p:sp>
        <p:nvSpPr>
          <p:cNvPr id="14" name="card2.body"/>
          <p:cNvSpPr txBox="1"/>
          <p:nvPr/>
        </p:nvSpPr>
        <p:spPr>
          <a:xfrm>
            <a:off x="6527800" y="27432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B6B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5" name="card3.bg"/>
          <p:cNvSpPr/>
          <p:nvPr/>
        </p:nvSpPr>
        <p:spPr>
          <a:xfrm>
            <a:off x="609600" y="3886200"/>
            <a:ext cx="5359400" cy="21336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ard3.no"/>
          <p:cNvSpPr txBox="1"/>
          <p:nvPr/>
        </p:nvSpPr>
        <p:spPr>
          <a:xfrm>
            <a:off x="914400" y="41656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8232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17" name="card3.title"/>
          <p:cNvSpPr txBox="1"/>
          <p:nvPr/>
        </p:nvSpPr>
        <p:spPr>
          <a:xfrm>
            <a:off x="914400" y="47244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B2B2B"/>
                </a:solidFill>
                <a:latin typeface="Arial"/>
                <a:ea typeface="微软雅黑"/>
              </a:rPr>
              <a:t>示例：维度三</a:t>
            </a:r>
          </a:p>
        </p:txBody>
      </p:sp>
      <p:sp>
        <p:nvSpPr>
          <p:cNvPr id="18" name="card3.body"/>
          <p:cNvSpPr txBox="1"/>
          <p:nvPr/>
        </p:nvSpPr>
        <p:spPr>
          <a:xfrm>
            <a:off x="914400" y="51308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B6B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  <p:sp>
        <p:nvSpPr>
          <p:cNvPr id="19" name="card4.bg"/>
          <p:cNvSpPr/>
          <p:nvPr/>
        </p:nvSpPr>
        <p:spPr>
          <a:xfrm>
            <a:off x="6223000" y="3886200"/>
            <a:ext cx="5359400" cy="21336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ard4.no"/>
          <p:cNvSpPr txBox="1"/>
          <p:nvPr/>
        </p:nvSpPr>
        <p:spPr>
          <a:xfrm>
            <a:off x="6527800" y="41656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8232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21" name="card4.title"/>
          <p:cNvSpPr txBox="1"/>
          <p:nvPr/>
        </p:nvSpPr>
        <p:spPr>
          <a:xfrm>
            <a:off x="6527800" y="4724400"/>
            <a:ext cx="47498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B2B2B"/>
                </a:solidFill>
                <a:latin typeface="Arial"/>
                <a:ea typeface="微软雅黑"/>
              </a:rPr>
              <a:t>示例：维度四</a:t>
            </a:r>
          </a:p>
        </p:txBody>
      </p:sp>
      <p:sp>
        <p:nvSpPr>
          <p:cNvPr id="22" name="card4.body"/>
          <p:cNvSpPr txBox="1"/>
          <p:nvPr/>
        </p:nvSpPr>
        <p:spPr>
          <a:xfrm>
            <a:off x="6527800" y="5130800"/>
            <a:ext cx="4749800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6B6B"/>
                </a:solidFill>
                <a:latin typeface="Arial"/>
                <a:ea typeface="微软雅黑"/>
              </a:rPr>
              <a:t>示例：一两句话写清现状与成效。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711200"/>
            <a:ext cx="76200" cy="381000"/>
          </a:xfrm>
          <a:prstGeom prst="rect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8128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232F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812800" y="635000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8B1A2B"/>
                </a:solidFill>
                <a:latin typeface="Arial"/>
                <a:ea typeface="黑体"/>
              </a:rPr>
              <a:t>示例：用四个关键指标概括本期成绩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8C5906EF-027D-5F88-B1CC-F8CAD78E28C8}" type="slidenum">
              <a:rPr lang="zh-CN" sz="1000">
                <a:solidFill>
                  <a:srgbClr val="6B6B6B"/>
                </a:solidFill>
                <a:latin typeface="Arial"/>
              </a:rPr>
              <a:t>‹#›</a:t>
            </a:fld>
          </a:p>
        </p:txBody>
      </p:sp>
      <p:sp>
        <p:nvSpPr>
          <p:cNvPr id="7" name="kpi1.number"/>
          <p:cNvSpPr txBox="1"/>
          <p:nvPr/>
        </p:nvSpPr>
        <p:spPr>
          <a:xfrm>
            <a:off x="6096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8B1A2B"/>
                </a:solidFill>
                <a:latin typeface="Arial"/>
                <a:ea typeface="微软雅黑"/>
              </a:rPr>
              <a:t>128.6</a:t>
            </a:r>
          </a:p>
        </p:txBody>
      </p:sp>
      <p:sp>
        <p:nvSpPr>
          <p:cNvPr id="8" name="kpi1.unit"/>
          <p:cNvSpPr txBox="1"/>
          <p:nvPr/>
        </p:nvSpPr>
        <p:spPr>
          <a:xfrm>
            <a:off x="6096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示例单位：亿元</a:t>
            </a:r>
          </a:p>
        </p:txBody>
      </p:sp>
      <p:sp>
        <p:nvSpPr>
          <p:cNvPr id="9" name="kpi1.label"/>
          <p:cNvSpPr txBox="1"/>
          <p:nvPr/>
        </p:nvSpPr>
        <p:spPr>
          <a:xfrm>
            <a:off x="6096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B2B2B"/>
                </a:solidFill>
                <a:latin typeface="Arial"/>
                <a:ea typeface="微软雅黑"/>
              </a:rPr>
              <a:t>示例：营业收入</a:t>
            </a:r>
          </a:p>
        </p:txBody>
      </p:sp>
      <p:sp>
        <p:nvSpPr>
          <p:cNvPr id="10" name="kpi1.note"/>
          <p:cNvSpPr txBox="1"/>
          <p:nvPr/>
        </p:nvSpPr>
        <p:spPr>
          <a:xfrm>
            <a:off x="6096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11" name="kpi2.rule"/>
          <p:cNvCxnSpPr/>
          <p:nvPr/>
        </p:nvCxnSpPr>
        <p:spPr>
          <a:xfrm>
            <a:off x="3276600" y="2006600"/>
            <a:ext cx="0" cy="2540000"/>
          </a:xfrm>
          <a:prstGeom prst="line">
            <a:avLst/>
          </a:prstGeom>
          <a:ln w="9525">
            <a:solidFill>
              <a:srgbClr val="E6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kpi2.number"/>
          <p:cNvSpPr txBox="1"/>
          <p:nvPr/>
        </p:nvSpPr>
        <p:spPr>
          <a:xfrm>
            <a:off x="34290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8B1A2B"/>
                </a:solidFill>
                <a:latin typeface="Arial"/>
                <a:ea typeface="微软雅黑"/>
              </a:rPr>
              <a:t>12.4%</a:t>
            </a:r>
          </a:p>
        </p:txBody>
      </p:sp>
      <p:sp>
        <p:nvSpPr>
          <p:cNvPr id="13" name="kpi2.unit"/>
          <p:cNvSpPr txBox="1"/>
          <p:nvPr/>
        </p:nvSpPr>
        <p:spPr>
          <a:xfrm>
            <a:off x="34290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示例单位：同比</a:t>
            </a:r>
          </a:p>
        </p:txBody>
      </p:sp>
      <p:sp>
        <p:nvSpPr>
          <p:cNvPr id="14" name="kpi2.label"/>
          <p:cNvSpPr txBox="1"/>
          <p:nvPr/>
        </p:nvSpPr>
        <p:spPr>
          <a:xfrm>
            <a:off x="34290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B2B2B"/>
                </a:solidFill>
                <a:latin typeface="Arial"/>
                <a:ea typeface="微软雅黑"/>
              </a:rPr>
              <a:t>示例：增长率</a:t>
            </a:r>
          </a:p>
        </p:txBody>
      </p:sp>
      <p:sp>
        <p:nvSpPr>
          <p:cNvPr id="15" name="kpi2.note"/>
          <p:cNvSpPr txBox="1"/>
          <p:nvPr/>
        </p:nvSpPr>
        <p:spPr>
          <a:xfrm>
            <a:off x="34290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16" name="kpi3.rule"/>
          <p:cNvCxnSpPr/>
          <p:nvPr/>
        </p:nvCxnSpPr>
        <p:spPr>
          <a:xfrm>
            <a:off x="6096000" y="2006600"/>
            <a:ext cx="0" cy="2540000"/>
          </a:xfrm>
          <a:prstGeom prst="line">
            <a:avLst/>
          </a:prstGeom>
          <a:ln w="9525">
            <a:solidFill>
              <a:srgbClr val="E6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kpi3.number"/>
          <p:cNvSpPr txBox="1"/>
          <p:nvPr/>
        </p:nvSpPr>
        <p:spPr>
          <a:xfrm>
            <a:off x="62484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8B1A2B"/>
                </a:solidFill>
                <a:latin typeface="Arial"/>
                <a:ea typeface="微软雅黑"/>
              </a:rPr>
              <a:t>36</a:t>
            </a:r>
          </a:p>
        </p:txBody>
      </p:sp>
      <p:sp>
        <p:nvSpPr>
          <p:cNvPr id="18" name="kpi3.unit"/>
          <p:cNvSpPr txBox="1"/>
          <p:nvPr/>
        </p:nvSpPr>
        <p:spPr>
          <a:xfrm>
            <a:off x="62484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示例单位：个</a:t>
            </a:r>
          </a:p>
        </p:txBody>
      </p:sp>
      <p:sp>
        <p:nvSpPr>
          <p:cNvPr id="19" name="kpi3.label"/>
          <p:cNvSpPr txBox="1"/>
          <p:nvPr/>
        </p:nvSpPr>
        <p:spPr>
          <a:xfrm>
            <a:off x="62484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B2B2B"/>
                </a:solidFill>
                <a:latin typeface="Arial"/>
                <a:ea typeface="微软雅黑"/>
              </a:rPr>
              <a:t>示例：新签项目</a:t>
            </a:r>
          </a:p>
        </p:txBody>
      </p:sp>
      <p:sp>
        <p:nvSpPr>
          <p:cNvPr id="20" name="kpi3.note"/>
          <p:cNvSpPr txBox="1"/>
          <p:nvPr/>
        </p:nvSpPr>
        <p:spPr>
          <a:xfrm>
            <a:off x="62484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cxnSp>
        <p:nvCxnSpPr>
          <p:cNvPr id="21" name="kpi4.rule"/>
          <p:cNvCxnSpPr/>
          <p:nvPr/>
        </p:nvCxnSpPr>
        <p:spPr>
          <a:xfrm>
            <a:off x="8915400" y="2006600"/>
            <a:ext cx="0" cy="2540000"/>
          </a:xfrm>
          <a:prstGeom prst="line">
            <a:avLst/>
          </a:prstGeom>
          <a:ln w="9525">
            <a:solidFill>
              <a:srgbClr val="E6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kpi4.number"/>
          <p:cNvSpPr txBox="1"/>
          <p:nvPr/>
        </p:nvSpPr>
        <p:spPr>
          <a:xfrm>
            <a:off x="9067800" y="19558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8B1A2B"/>
                </a:solidFill>
                <a:latin typeface="Arial"/>
                <a:ea typeface="微软雅黑"/>
              </a:rPr>
              <a:t>98.7%</a:t>
            </a:r>
          </a:p>
        </p:txBody>
      </p:sp>
      <p:sp>
        <p:nvSpPr>
          <p:cNvPr id="23" name="kpi4.unit"/>
          <p:cNvSpPr txBox="1"/>
          <p:nvPr/>
        </p:nvSpPr>
        <p:spPr>
          <a:xfrm>
            <a:off x="9067800" y="2819400"/>
            <a:ext cx="2514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示例单位：全年</a:t>
            </a:r>
          </a:p>
        </p:txBody>
      </p:sp>
      <p:sp>
        <p:nvSpPr>
          <p:cNvPr id="24" name="kpi4.label"/>
          <p:cNvSpPr txBox="1"/>
          <p:nvPr/>
        </p:nvSpPr>
        <p:spPr>
          <a:xfrm>
            <a:off x="9067800" y="3225800"/>
            <a:ext cx="25146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B2B2B"/>
                </a:solidFill>
                <a:latin typeface="Arial"/>
                <a:ea typeface="微软雅黑"/>
              </a:rPr>
              <a:t>示例：交付准时率</a:t>
            </a:r>
          </a:p>
        </p:txBody>
      </p:sp>
      <p:sp>
        <p:nvSpPr>
          <p:cNvPr id="25" name="kpi4.note"/>
          <p:cNvSpPr txBox="1"/>
          <p:nvPr/>
        </p:nvSpPr>
        <p:spPr>
          <a:xfrm>
            <a:off x="9067800" y="3632200"/>
            <a:ext cx="2514600" cy="812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示例：一句话说明口径或变化原因</a:t>
            </a:r>
          </a:p>
        </p:txBody>
      </p:sp>
      <p:sp>
        <p:nvSpPr>
          <p:cNvPr id="26" name="takeaway.bg"/>
          <p:cNvSpPr/>
          <p:nvPr/>
        </p:nvSpPr>
        <p:spPr>
          <a:xfrm>
            <a:off x="609600" y="4876800"/>
            <a:ext cx="10972800" cy="762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akeaway.text"/>
          <p:cNvSpPr txBox="1"/>
          <p:nvPr/>
        </p:nvSpPr>
        <p:spPr>
          <a:xfrm>
            <a:off x="863600" y="4876800"/>
            <a:ext cx="104648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B2B2B"/>
                </a:solidFill>
                <a:latin typeface="Arial"/>
                <a:ea typeface="微软雅黑"/>
              </a:rPr>
              <a:t>示例：一句话解读这组数字说明了什么。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609600" y="57912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示例来源：填写数据口径与出处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711200"/>
            <a:ext cx="76200" cy="381000"/>
          </a:xfrm>
          <a:prstGeom prst="rect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8128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232F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812800" y="635000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8B1A2B"/>
                </a:solidFill>
                <a:latin typeface="Arial"/>
                <a:ea typeface="黑体"/>
              </a:rPr>
              <a:t>示例：图表页的标题直接写出数据结论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916687DC-96ED-51FC-86FD-3B008C08AEE6}" type="slidenum">
              <a:rPr lang="zh-CN" sz="1000">
                <a:solidFill>
                  <a:srgbClr val="6B6B6B"/>
                </a:solidFill>
                <a:latin typeface="Arial"/>
              </a:rPr>
              <a:t>‹#›</a:t>
            </a:fld>
          </a:p>
        </p:txBody>
      </p:sp>
      <p:graphicFrame>
        <p:nvGraphicFramePr>
          <p:cNvPr id="7" name="chart"/>
          <p:cNvGraphicFramePr>
            <a:graphicFrameLocks noGrp="1"/>
          </p:cNvGraphicFramePr>
          <p:nvPr/>
        </p:nvGraphicFramePr>
        <p:xfrm>
          <a:off x="609600" y="1498600"/>
          <a:ext cx="7112000" cy="4191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insight.bg"/>
          <p:cNvSpPr/>
          <p:nvPr/>
        </p:nvSpPr>
        <p:spPr>
          <a:xfrm>
            <a:off x="8026400" y="1498600"/>
            <a:ext cx="3556000" cy="4191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insight.title"/>
          <p:cNvSpPr txBox="1"/>
          <p:nvPr/>
        </p:nvSpPr>
        <p:spPr>
          <a:xfrm>
            <a:off x="8280400" y="1778000"/>
            <a:ext cx="30480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B2B2B"/>
                </a:solidFill>
                <a:latin typeface="Arial"/>
                <a:ea typeface="微软雅黑"/>
              </a:rPr>
              <a:t>示例：读图要点</a:t>
            </a:r>
          </a:p>
        </p:txBody>
      </p:sp>
      <p:sp>
        <p:nvSpPr>
          <p:cNvPr id="10" name="insight.body"/>
          <p:cNvSpPr txBox="1"/>
          <p:nvPr/>
        </p:nvSpPr>
        <p:spPr>
          <a:xfrm>
            <a:off x="8280400" y="2463800"/>
            <a:ext cx="3048000" cy="292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A8232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  <a:latin typeface="Arial"/>
                <a:ea typeface="微软雅黑"/>
              </a:rPr>
              <a:t>示例：拐点或异常出现在哪里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A8232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  <a:latin typeface="Arial"/>
                <a:ea typeface="微软雅黑"/>
              </a:rPr>
              <a:t>示例：原因是什么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A8232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  <a:latin typeface="Arial"/>
                <a:ea typeface="微软雅黑"/>
              </a:rPr>
              <a:t>示例：意味着什么、要做什么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609600" y="5816600"/>
            <a:ext cx="711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示例来源：填写数据口径与出处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711200"/>
            <a:ext cx="76200" cy="381000"/>
          </a:xfrm>
          <a:prstGeom prst="rect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8128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232F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812800" y="635000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8B1A2B"/>
                </a:solidFill>
                <a:latin typeface="Arial"/>
                <a:ea typeface="黑体"/>
              </a:rPr>
              <a:t>示例：对比页的标题写出取舍结论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EE961F01-0033-51A5-9400-102DDB535032}" type="slidenum">
              <a:rPr lang="zh-CN" sz="1000">
                <a:solidFill>
                  <a:srgbClr val="6B6B6B"/>
                </a:solidFill>
                <a:latin typeface="Arial"/>
              </a:rPr>
              <a:t>‹#›</a:t>
            </a:fld>
          </a:p>
        </p:txBody>
      </p:sp>
      <p:sp>
        <p:nvSpPr>
          <p:cNvPr id="7" name="left.bg"/>
          <p:cNvSpPr/>
          <p:nvPr/>
        </p:nvSpPr>
        <p:spPr>
          <a:xfrm>
            <a:off x="609600" y="1498600"/>
            <a:ext cx="5334000" cy="3556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eft.head"/>
          <p:cNvSpPr/>
          <p:nvPr/>
        </p:nvSpPr>
        <p:spPr>
          <a:xfrm>
            <a:off x="609600" y="1498600"/>
            <a:ext cx="5334000" cy="5842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eft.title"/>
          <p:cNvSpPr txBox="1"/>
          <p:nvPr/>
        </p:nvSpPr>
        <p:spPr>
          <a:xfrm>
            <a:off x="863600" y="1498600"/>
            <a:ext cx="4826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rial"/>
                <a:ea typeface="微软雅黑"/>
              </a:rPr>
              <a:t>示例：方案 A / 改革前</a:t>
            </a:r>
          </a:p>
        </p:txBody>
      </p:sp>
      <p:sp>
        <p:nvSpPr>
          <p:cNvPr id="10" name="left.body"/>
          <p:cNvSpPr txBox="1"/>
          <p:nvPr/>
        </p:nvSpPr>
        <p:spPr>
          <a:xfrm>
            <a:off x="863600" y="2311400"/>
            <a:ext cx="4826000" cy="248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A8232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  <a:latin typeface="Arial"/>
                <a:ea typeface="微软雅黑"/>
              </a:rPr>
              <a:t>示例：对比维度一的表现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A8232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  <a:latin typeface="Arial"/>
                <a:ea typeface="微软雅黑"/>
              </a:rPr>
              <a:t>示例：对比维度二的表现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A8232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  <a:latin typeface="Arial"/>
                <a:ea typeface="微软雅黑"/>
              </a:rPr>
              <a:t>示例：对比维度三的表现</a:t>
            </a:r>
          </a:p>
        </p:txBody>
      </p:sp>
      <p:sp>
        <p:nvSpPr>
          <p:cNvPr id="11" name="right.bg"/>
          <p:cNvSpPr/>
          <p:nvPr/>
        </p:nvSpPr>
        <p:spPr>
          <a:xfrm>
            <a:off x="6248400" y="1498600"/>
            <a:ext cx="5334000" cy="3556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ight.head"/>
          <p:cNvSpPr/>
          <p:nvPr/>
        </p:nvSpPr>
        <p:spPr>
          <a:xfrm>
            <a:off x="6248400" y="1498600"/>
            <a:ext cx="5334000" cy="584200"/>
          </a:xfrm>
          <a:prstGeom prst="rect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ight.title"/>
          <p:cNvSpPr txBox="1"/>
          <p:nvPr/>
        </p:nvSpPr>
        <p:spPr>
          <a:xfrm>
            <a:off x="6502400" y="1498600"/>
            <a:ext cx="48260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FFFFF"/>
                </a:solidFill>
                <a:latin typeface="Arial"/>
                <a:ea typeface="微软雅黑"/>
              </a:rPr>
              <a:t>示例：方案 B / 改革后</a:t>
            </a:r>
          </a:p>
        </p:txBody>
      </p:sp>
      <p:sp>
        <p:nvSpPr>
          <p:cNvPr id="14" name="right.body"/>
          <p:cNvSpPr txBox="1"/>
          <p:nvPr/>
        </p:nvSpPr>
        <p:spPr>
          <a:xfrm>
            <a:off x="6502400" y="2311400"/>
            <a:ext cx="4826000" cy="248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7800" indent="-177800">
              <a:lnSpc>
                <a:spcPct val="135000"/>
              </a:lnSpc>
              <a:buClr>
                <a:srgbClr val="A8232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  <a:latin typeface="Arial"/>
                <a:ea typeface="微软雅黑"/>
              </a:rPr>
              <a:t>示例：对比维度一的表现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A8232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  <a:latin typeface="Arial"/>
                <a:ea typeface="微软雅黑"/>
              </a:rPr>
              <a:t>示例：对比维度二的表现</a:t>
            </a:r>
          </a:p>
          <a:p>
            <a:pPr algn="l" marL="177800" indent="-177800">
              <a:lnSpc>
                <a:spcPct val="135000"/>
              </a:lnSpc>
              <a:spcBef>
                <a:spcPts val="489"/>
              </a:spcBef>
              <a:buClr>
                <a:srgbClr val="A8232F"/>
              </a:buClr>
              <a:buFont typeface="Arial"/>
              <a:buChar char="•"/>
            </a:pPr>
            <a:r>
              <a:rPr sz="1400" b="0">
                <a:solidFill>
                  <a:srgbClr val="2B2B2B"/>
                </a:solidFill>
                <a:latin typeface="Arial"/>
                <a:ea typeface="微软雅黑"/>
              </a:rPr>
              <a:t>示例：对比维度三的表现</a:t>
            </a:r>
          </a:p>
        </p:txBody>
      </p:sp>
      <p:sp>
        <p:nvSpPr>
          <p:cNvPr id="15" name="conclusion.bg"/>
          <p:cNvSpPr/>
          <p:nvPr/>
        </p:nvSpPr>
        <p:spPr>
          <a:xfrm>
            <a:off x="609600" y="5257800"/>
            <a:ext cx="10972800" cy="660400"/>
          </a:xfrm>
          <a:prstGeom prst="rect">
            <a:avLst/>
          </a:prstGeom>
          <a:solidFill>
            <a:srgbClr val="FFFFFF"/>
          </a:solidFill>
          <a:ln w="15875">
            <a:solidFill>
              <a:srgbClr val="A823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onclusion.text"/>
          <p:cNvSpPr txBox="1"/>
          <p:nvPr/>
        </p:nvSpPr>
        <p:spPr>
          <a:xfrm>
            <a:off x="863600" y="5257800"/>
            <a:ext cx="104648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B2B2B"/>
                </a:solidFill>
                <a:latin typeface="Arial"/>
                <a:ea typeface="微软雅黑"/>
              </a:rPr>
              <a:t>示例结论：在什么条件下选哪一个，理由是什么。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711200"/>
            <a:ext cx="76200" cy="381000"/>
          </a:xfrm>
          <a:prstGeom prst="rect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8128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232F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812800" y="635000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8B1A2B"/>
                </a:solidFill>
                <a:latin typeface="Arial"/>
                <a:ea typeface="黑体"/>
              </a:rPr>
              <a:t>示例：流程页的标题说明整体做法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A09B69B4-13F1-5435-8235-A60129D5357D}" type="slidenum">
              <a:rPr lang="zh-CN" sz="1000">
                <a:solidFill>
                  <a:srgbClr val="6B6B6B"/>
                </a:solidFill>
                <a:latin typeface="Arial"/>
              </a:rPr>
              <a:t>‹#›</a:t>
            </a:fld>
          </a:p>
        </p:txBody>
      </p:sp>
      <p:sp>
        <p:nvSpPr>
          <p:cNvPr id="7" name="step1.dot"/>
          <p:cNvSpPr/>
          <p:nvPr/>
        </p:nvSpPr>
        <p:spPr>
          <a:xfrm>
            <a:off x="609600" y="1701800"/>
            <a:ext cx="660400" cy="660400"/>
          </a:xfrm>
          <a:prstGeom prst="ellipse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ep1.no"/>
          <p:cNvSpPr txBox="1"/>
          <p:nvPr/>
        </p:nvSpPr>
        <p:spPr>
          <a:xfrm>
            <a:off x="6096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9" name="step1.bg"/>
          <p:cNvSpPr/>
          <p:nvPr/>
        </p:nvSpPr>
        <p:spPr>
          <a:xfrm>
            <a:off x="609600" y="2616200"/>
            <a:ext cx="2438400" cy="2667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ep1.title"/>
          <p:cNvSpPr txBox="1"/>
          <p:nvPr/>
        </p:nvSpPr>
        <p:spPr>
          <a:xfrm>
            <a:off x="8382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B2B2B"/>
                </a:solidFill>
                <a:latin typeface="Arial"/>
                <a:ea typeface="微软雅黑"/>
              </a:rPr>
              <a:t>示例：第一步</a:t>
            </a:r>
          </a:p>
        </p:txBody>
      </p:sp>
      <p:sp>
        <p:nvSpPr>
          <p:cNvPr id="11" name="step1.body"/>
          <p:cNvSpPr txBox="1"/>
          <p:nvPr/>
        </p:nvSpPr>
        <p:spPr>
          <a:xfrm>
            <a:off x="8382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B6B6B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12" name="step2.dot"/>
          <p:cNvSpPr/>
          <p:nvPr/>
        </p:nvSpPr>
        <p:spPr>
          <a:xfrm>
            <a:off x="3454400" y="1701800"/>
            <a:ext cx="660400" cy="660400"/>
          </a:xfrm>
          <a:prstGeom prst="ellipse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ep2.no"/>
          <p:cNvSpPr txBox="1"/>
          <p:nvPr/>
        </p:nvSpPr>
        <p:spPr>
          <a:xfrm>
            <a:off x="34544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cxnSp>
        <p:nvCxnSpPr>
          <p:cNvPr id="14" name="step2.link"/>
          <p:cNvCxnSpPr/>
          <p:nvPr/>
        </p:nvCxnSpPr>
        <p:spPr>
          <a:xfrm>
            <a:off x="1422400" y="2032000"/>
            <a:ext cx="1879600" cy="0"/>
          </a:xfrm>
          <a:prstGeom prst="line">
            <a:avLst/>
          </a:prstGeom>
          <a:ln w="19050">
            <a:solidFill>
              <a:srgbClr val="E6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ep2.bg"/>
          <p:cNvSpPr/>
          <p:nvPr/>
        </p:nvSpPr>
        <p:spPr>
          <a:xfrm>
            <a:off x="3454400" y="2616200"/>
            <a:ext cx="2438400" cy="2667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ep2.title"/>
          <p:cNvSpPr txBox="1"/>
          <p:nvPr/>
        </p:nvSpPr>
        <p:spPr>
          <a:xfrm>
            <a:off x="36830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B2B2B"/>
                </a:solidFill>
                <a:latin typeface="Arial"/>
                <a:ea typeface="微软雅黑"/>
              </a:rPr>
              <a:t>示例：第二步</a:t>
            </a:r>
          </a:p>
        </p:txBody>
      </p:sp>
      <p:sp>
        <p:nvSpPr>
          <p:cNvPr id="17" name="step2.body"/>
          <p:cNvSpPr txBox="1"/>
          <p:nvPr/>
        </p:nvSpPr>
        <p:spPr>
          <a:xfrm>
            <a:off x="36830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B6B6B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18" name="step3.dot"/>
          <p:cNvSpPr/>
          <p:nvPr/>
        </p:nvSpPr>
        <p:spPr>
          <a:xfrm>
            <a:off x="6299200" y="1701800"/>
            <a:ext cx="660400" cy="660400"/>
          </a:xfrm>
          <a:prstGeom prst="ellipse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ep3.no"/>
          <p:cNvSpPr txBox="1"/>
          <p:nvPr/>
        </p:nvSpPr>
        <p:spPr>
          <a:xfrm>
            <a:off x="62992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cxnSp>
        <p:nvCxnSpPr>
          <p:cNvPr id="20" name="step3.link"/>
          <p:cNvCxnSpPr/>
          <p:nvPr/>
        </p:nvCxnSpPr>
        <p:spPr>
          <a:xfrm>
            <a:off x="4267200" y="2032000"/>
            <a:ext cx="1879600" cy="0"/>
          </a:xfrm>
          <a:prstGeom prst="line">
            <a:avLst/>
          </a:prstGeom>
          <a:ln w="19050">
            <a:solidFill>
              <a:srgbClr val="E6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tep3.bg"/>
          <p:cNvSpPr/>
          <p:nvPr/>
        </p:nvSpPr>
        <p:spPr>
          <a:xfrm>
            <a:off x="6299200" y="2616200"/>
            <a:ext cx="2438400" cy="2667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ep3.title"/>
          <p:cNvSpPr txBox="1"/>
          <p:nvPr/>
        </p:nvSpPr>
        <p:spPr>
          <a:xfrm>
            <a:off x="65278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B2B2B"/>
                </a:solidFill>
                <a:latin typeface="Arial"/>
                <a:ea typeface="微软雅黑"/>
              </a:rPr>
              <a:t>示例：第三步</a:t>
            </a:r>
          </a:p>
        </p:txBody>
      </p:sp>
      <p:sp>
        <p:nvSpPr>
          <p:cNvPr id="23" name="step3.body"/>
          <p:cNvSpPr txBox="1"/>
          <p:nvPr/>
        </p:nvSpPr>
        <p:spPr>
          <a:xfrm>
            <a:off x="65278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B6B6B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  <p:sp>
        <p:nvSpPr>
          <p:cNvPr id="24" name="step4.dot"/>
          <p:cNvSpPr/>
          <p:nvPr/>
        </p:nvSpPr>
        <p:spPr>
          <a:xfrm>
            <a:off x="9144000" y="1701800"/>
            <a:ext cx="660400" cy="660400"/>
          </a:xfrm>
          <a:prstGeom prst="ellipse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ep4.no"/>
          <p:cNvSpPr txBox="1"/>
          <p:nvPr/>
        </p:nvSpPr>
        <p:spPr>
          <a:xfrm>
            <a:off x="9144000" y="1701800"/>
            <a:ext cx="6604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cxnSp>
        <p:nvCxnSpPr>
          <p:cNvPr id="26" name="step4.link"/>
          <p:cNvCxnSpPr/>
          <p:nvPr/>
        </p:nvCxnSpPr>
        <p:spPr>
          <a:xfrm>
            <a:off x="7112000" y="2032000"/>
            <a:ext cx="1879600" cy="0"/>
          </a:xfrm>
          <a:prstGeom prst="line">
            <a:avLst/>
          </a:prstGeom>
          <a:ln w="19050">
            <a:solidFill>
              <a:srgbClr val="E6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ep4.bg"/>
          <p:cNvSpPr/>
          <p:nvPr/>
        </p:nvSpPr>
        <p:spPr>
          <a:xfrm>
            <a:off x="9144000" y="2616200"/>
            <a:ext cx="2438400" cy="2667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ep4.title"/>
          <p:cNvSpPr txBox="1"/>
          <p:nvPr/>
        </p:nvSpPr>
        <p:spPr>
          <a:xfrm>
            <a:off x="9372600" y="2844800"/>
            <a:ext cx="198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B2B2B"/>
                </a:solidFill>
                <a:latin typeface="Arial"/>
                <a:ea typeface="微软雅黑"/>
              </a:rPr>
              <a:t>示例：第四步</a:t>
            </a:r>
          </a:p>
        </p:txBody>
      </p:sp>
      <p:sp>
        <p:nvSpPr>
          <p:cNvPr id="29" name="step4.body"/>
          <p:cNvSpPr txBox="1"/>
          <p:nvPr/>
        </p:nvSpPr>
        <p:spPr>
          <a:xfrm>
            <a:off x="9372600" y="3556000"/>
            <a:ext cx="19812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B6B6B"/>
                </a:solidFill>
                <a:latin typeface="Arial"/>
                <a:ea typeface="微软雅黑"/>
              </a:rPr>
              <a:t>示例：这一步做什么、谁负责、产出什么。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711200"/>
            <a:ext cx="76200" cy="381000"/>
          </a:xfrm>
          <a:prstGeom prst="rect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8128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232F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812800" y="635000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8B1A2B"/>
                </a:solidFill>
                <a:latin typeface="Arial"/>
                <a:ea typeface="黑体"/>
              </a:rPr>
              <a:t>示例：时间轴页的标题写出发展主线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7904B3E3-99C9-5874-B64E-21A24746328C}" type="slidenum">
              <a:rPr lang="zh-CN" sz="1000">
                <a:solidFill>
                  <a:srgbClr val="6B6B6B"/>
                </a:solidFill>
                <a:latin typeface="Arial"/>
              </a:rPr>
              <a:t>‹#›</a:t>
            </a:fld>
          </a:p>
        </p:txBody>
      </p:sp>
      <p:cxnSp>
        <p:nvCxnSpPr>
          <p:cNvPr id="7" name="deco.axis"/>
          <p:cNvCxnSpPr/>
          <p:nvPr/>
        </p:nvCxnSpPr>
        <p:spPr>
          <a:xfrm>
            <a:off x="609600" y="2997200"/>
            <a:ext cx="10972800" cy="0"/>
          </a:xfrm>
          <a:prstGeom prst="line">
            <a:avLst/>
          </a:prstGeom>
          <a:ln w="25400">
            <a:solidFill>
              <a:srgbClr val="E6D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ode1.dot"/>
          <p:cNvSpPr/>
          <p:nvPr/>
        </p:nvSpPr>
        <p:spPr>
          <a:xfrm>
            <a:off x="660400" y="2908300"/>
            <a:ext cx="177800" cy="177800"/>
          </a:xfrm>
          <a:prstGeom prst="ellipse">
            <a:avLst/>
          </a:prstGeom>
          <a:solidFill>
            <a:srgbClr val="A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node1.time"/>
          <p:cNvSpPr txBox="1"/>
          <p:nvPr/>
        </p:nvSpPr>
        <p:spPr>
          <a:xfrm>
            <a:off x="60960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8B1A2B"/>
                </a:solidFill>
                <a:latin typeface="Arial"/>
                <a:ea typeface="微软雅黑"/>
              </a:rPr>
              <a:t>2022</a:t>
            </a:r>
          </a:p>
        </p:txBody>
      </p:sp>
      <p:sp>
        <p:nvSpPr>
          <p:cNvPr id="10" name="node1.title"/>
          <p:cNvSpPr txBox="1"/>
          <p:nvPr/>
        </p:nvSpPr>
        <p:spPr>
          <a:xfrm>
            <a:off x="60960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B2B2B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1" name="node1.body"/>
          <p:cNvSpPr txBox="1"/>
          <p:nvPr/>
        </p:nvSpPr>
        <p:spPr>
          <a:xfrm>
            <a:off x="60960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12" name="node2.dot"/>
          <p:cNvSpPr/>
          <p:nvPr/>
        </p:nvSpPr>
        <p:spPr>
          <a:xfrm>
            <a:off x="2854960" y="2908300"/>
            <a:ext cx="177800" cy="177800"/>
          </a:xfrm>
          <a:prstGeom prst="ellipse">
            <a:avLst/>
          </a:prstGeom>
          <a:solidFill>
            <a:srgbClr val="A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node2.time"/>
          <p:cNvSpPr txBox="1"/>
          <p:nvPr/>
        </p:nvSpPr>
        <p:spPr>
          <a:xfrm>
            <a:off x="280416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8B1A2B"/>
                </a:solidFill>
                <a:latin typeface="Arial"/>
                <a:ea typeface="微软雅黑"/>
              </a:rPr>
              <a:t>2023</a:t>
            </a:r>
          </a:p>
        </p:txBody>
      </p:sp>
      <p:sp>
        <p:nvSpPr>
          <p:cNvPr id="14" name="node2.title"/>
          <p:cNvSpPr txBox="1"/>
          <p:nvPr/>
        </p:nvSpPr>
        <p:spPr>
          <a:xfrm>
            <a:off x="280416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B2B2B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5" name="node2.body"/>
          <p:cNvSpPr txBox="1"/>
          <p:nvPr/>
        </p:nvSpPr>
        <p:spPr>
          <a:xfrm>
            <a:off x="280416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16" name="node3.dot"/>
          <p:cNvSpPr/>
          <p:nvPr/>
        </p:nvSpPr>
        <p:spPr>
          <a:xfrm>
            <a:off x="5049520" y="2908300"/>
            <a:ext cx="177800" cy="177800"/>
          </a:xfrm>
          <a:prstGeom prst="ellipse">
            <a:avLst/>
          </a:prstGeom>
          <a:solidFill>
            <a:srgbClr val="A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node3.time"/>
          <p:cNvSpPr txBox="1"/>
          <p:nvPr/>
        </p:nvSpPr>
        <p:spPr>
          <a:xfrm>
            <a:off x="499872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8B1A2B"/>
                </a:solidFill>
                <a:latin typeface="Arial"/>
                <a:ea typeface="微软雅黑"/>
              </a:rPr>
              <a:t>2024</a:t>
            </a:r>
          </a:p>
        </p:txBody>
      </p:sp>
      <p:sp>
        <p:nvSpPr>
          <p:cNvPr id="18" name="node3.title"/>
          <p:cNvSpPr txBox="1"/>
          <p:nvPr/>
        </p:nvSpPr>
        <p:spPr>
          <a:xfrm>
            <a:off x="499872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B2B2B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19" name="node3.body"/>
          <p:cNvSpPr txBox="1"/>
          <p:nvPr/>
        </p:nvSpPr>
        <p:spPr>
          <a:xfrm>
            <a:off x="499872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20" name="node4.dot"/>
          <p:cNvSpPr/>
          <p:nvPr/>
        </p:nvSpPr>
        <p:spPr>
          <a:xfrm>
            <a:off x="7244080" y="2908300"/>
            <a:ext cx="177800" cy="177800"/>
          </a:xfrm>
          <a:prstGeom prst="ellipse">
            <a:avLst/>
          </a:prstGeom>
          <a:solidFill>
            <a:srgbClr val="A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node4.time"/>
          <p:cNvSpPr txBox="1"/>
          <p:nvPr/>
        </p:nvSpPr>
        <p:spPr>
          <a:xfrm>
            <a:off x="719328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8B1A2B"/>
                </a:solidFill>
                <a:latin typeface="Arial"/>
                <a:ea typeface="微软雅黑"/>
              </a:rPr>
              <a:t>2025</a:t>
            </a:r>
          </a:p>
        </p:txBody>
      </p:sp>
      <p:sp>
        <p:nvSpPr>
          <p:cNvPr id="22" name="node4.title"/>
          <p:cNvSpPr txBox="1"/>
          <p:nvPr/>
        </p:nvSpPr>
        <p:spPr>
          <a:xfrm>
            <a:off x="719328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B2B2B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23" name="node4.body"/>
          <p:cNvSpPr txBox="1"/>
          <p:nvPr/>
        </p:nvSpPr>
        <p:spPr>
          <a:xfrm>
            <a:off x="719328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  <p:sp>
        <p:nvSpPr>
          <p:cNvPr id="24" name="node5.dot"/>
          <p:cNvSpPr/>
          <p:nvPr/>
        </p:nvSpPr>
        <p:spPr>
          <a:xfrm>
            <a:off x="9438640" y="2908300"/>
            <a:ext cx="177800" cy="177800"/>
          </a:xfrm>
          <a:prstGeom prst="ellipse">
            <a:avLst/>
          </a:prstGeom>
          <a:solidFill>
            <a:srgbClr val="A8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node5.time"/>
          <p:cNvSpPr txBox="1"/>
          <p:nvPr/>
        </p:nvSpPr>
        <p:spPr>
          <a:xfrm>
            <a:off x="9387840" y="22352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8B1A2B"/>
                </a:solidFill>
                <a:latin typeface="Arial"/>
                <a:ea typeface="微软雅黑"/>
              </a:rPr>
              <a:t>2026</a:t>
            </a:r>
          </a:p>
        </p:txBody>
      </p:sp>
      <p:sp>
        <p:nvSpPr>
          <p:cNvPr id="26" name="node5.title"/>
          <p:cNvSpPr txBox="1"/>
          <p:nvPr/>
        </p:nvSpPr>
        <p:spPr>
          <a:xfrm>
            <a:off x="9387840" y="3302000"/>
            <a:ext cx="199136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B2B2B"/>
                </a:solidFill>
                <a:latin typeface="Arial"/>
                <a:ea typeface="微软雅黑"/>
              </a:rPr>
              <a:t>示例：关键事件</a:t>
            </a:r>
          </a:p>
        </p:txBody>
      </p:sp>
      <p:sp>
        <p:nvSpPr>
          <p:cNvPr id="27" name="node5.body"/>
          <p:cNvSpPr txBox="1"/>
          <p:nvPr/>
        </p:nvSpPr>
        <p:spPr>
          <a:xfrm>
            <a:off x="9387840" y="3962400"/>
            <a:ext cx="199136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示例：一两句话说明意义或成果。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711200"/>
            <a:ext cx="76200" cy="381000"/>
          </a:xfrm>
          <a:prstGeom prst="rect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8128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232F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812800" y="635000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8B1A2B"/>
                </a:solidFill>
                <a:latin typeface="Arial"/>
                <a:ea typeface="黑体"/>
              </a:rPr>
              <a:t>示例：表格页的标题写出需要关注的结论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B03037FE-F689-54BA-B840-8E5F678568DA}" type="slidenum">
              <a:rPr lang="zh-CN" sz="1000">
                <a:solidFill>
                  <a:srgbClr val="6B6B6B"/>
                </a:solidFill>
                <a:latin typeface="Arial"/>
              </a:rPr>
              <a:t>‹#›</a:t>
            </a:fld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609600" y="1498600"/>
          <a:ext cx="10972798" cy="25400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180114"/>
                <a:gridCol w="2873828"/>
                <a:gridCol w="2090057"/>
                <a:gridCol w="1828799"/>
              </a:tblGrid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示例：事项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责任单位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完成时限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进展</a:t>
                      </a:r>
                    </a:p>
                  </a:txBody>
                  <a:tcPr anchor="ctr">
                    <a:solidFill>
                      <a:srgbClr val="8B1A2B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示例：重点任务一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2026-12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已完成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示例：重点任务二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2026-12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推进中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8F3EC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示例：重点任务三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2027-03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推进中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示例：重点任务四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示例部门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2027-06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8F3EC"/>
                    </a:solidFill>
                  </a:tcPr>
                </a:tc>
                <a:tc>
                  <a:txBody>
                    <a:bodyPr wrap="square" lIns="101600" rIns="101600" tIns="50800" bIns="50800"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  <a:ea typeface="微软雅黑"/>
                        </a:rPr>
                        <a:t>未启动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6DDD0"/>
                      </a:solidFill>
                    </a:lnB>
                    <a:solidFill>
                      <a:srgbClr val="F8F3EC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609600" y="42672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B6B"/>
                </a:solidFill>
                <a:latin typeface="Arial"/>
                <a:ea typeface="微软雅黑"/>
              </a:rPr>
              <a:t>示例：表下说明一句需要领导关注或协调的事项。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marker"/>
          <p:cNvSpPr/>
          <p:nvPr/>
        </p:nvSpPr>
        <p:spPr>
          <a:xfrm>
            <a:off x="609600" y="711200"/>
            <a:ext cx="76200" cy="381000"/>
          </a:xfrm>
          <a:prstGeom prst="rect">
            <a:avLst/>
          </a:prstGeom>
          <a:solidFill>
            <a:srgbClr val="8B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kicker"/>
          <p:cNvSpPr txBox="1"/>
          <p:nvPr/>
        </p:nvSpPr>
        <p:spPr>
          <a:xfrm>
            <a:off x="812800" y="381000"/>
            <a:ext cx="6604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8232F"/>
                </a:solidFill>
                <a:latin typeface="Arial"/>
                <a:ea typeface="微软雅黑"/>
              </a:rPr>
              <a:t>01 · 示例章节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812800" y="635000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8B1A2B"/>
                </a:solidFill>
                <a:latin typeface="Arial"/>
                <a:ea typeface="黑体"/>
              </a:rPr>
              <a:t>示例：近三年获得的主要荣誉与成果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609600" y="6273800"/>
            <a:ext cx="71120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Arial"/>
                <a:ea typeface="微软雅黑"/>
              </a:rPr>
              <a:t>示例单位 · 文稿名称</a:t>
            </a:r>
          </a:p>
        </p:txBody>
      </p:sp>
      <p:sp>
        <p:nvSpPr>
          <p:cNvPr id="6" name="deco.page"/>
          <p:cNvSpPr txBox="1"/>
          <p:nvPr/>
        </p:nvSpPr>
        <p:spPr>
          <a:xfrm>
            <a:off x="10820400" y="6248400"/>
            <a:ext cx="76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defRPr sz="1000"/>
            </a:pPr>
            <a:fld id="{B217760B-CC2A-5CC8-B384-EC7168CE75E4}" type="slidenum">
              <a:rPr lang="zh-CN" sz="1000">
                <a:solidFill>
                  <a:srgbClr val="6B6B6B"/>
                </a:solidFill>
                <a:latin typeface="Arial"/>
              </a:rPr>
              <a:t>‹#›</a:t>
            </a:fld>
          </a:p>
        </p:txBody>
      </p:sp>
      <p:sp>
        <p:nvSpPr>
          <p:cNvPr id="7" name="honor1.bg"/>
          <p:cNvSpPr/>
          <p:nvPr/>
        </p:nvSpPr>
        <p:spPr>
          <a:xfrm>
            <a:off x="609600" y="1498600"/>
            <a:ext cx="3488266" cy="2032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honor1.badge"/>
          <p:cNvSpPr/>
          <p:nvPr/>
        </p:nvSpPr>
        <p:spPr>
          <a:xfrm>
            <a:off x="863600" y="1778000"/>
            <a:ext cx="711200" cy="711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honor1.year"/>
          <p:cNvSpPr txBox="1"/>
          <p:nvPr/>
        </p:nvSpPr>
        <p:spPr>
          <a:xfrm>
            <a:off x="863600" y="1778000"/>
            <a:ext cx="7112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1A2B"/>
                </a:solidFill>
                <a:latin typeface="Arial"/>
                <a:ea typeface="微软雅黑"/>
              </a:rPr>
              <a:t>2025</a:t>
            </a:r>
          </a:p>
        </p:txBody>
      </p:sp>
      <p:sp>
        <p:nvSpPr>
          <p:cNvPr id="10" name="honor1.title"/>
          <p:cNvSpPr txBox="1"/>
          <p:nvPr/>
        </p:nvSpPr>
        <p:spPr>
          <a:xfrm>
            <a:off x="1778000" y="1803400"/>
            <a:ext cx="2065866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B2B2B"/>
                </a:solidFill>
                <a:latin typeface="Arial"/>
                <a:ea typeface="微软雅黑"/>
              </a:rPr>
              <a:t>示例：荣誉或成果名称</a:t>
            </a:r>
          </a:p>
        </p:txBody>
      </p:sp>
      <p:sp>
        <p:nvSpPr>
          <p:cNvPr id="11" name="honor1.org"/>
          <p:cNvSpPr txBox="1"/>
          <p:nvPr/>
        </p:nvSpPr>
        <p:spPr>
          <a:xfrm>
            <a:off x="863600" y="2717800"/>
            <a:ext cx="2980266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示例：颁发单位或成果说明</a:t>
            </a:r>
          </a:p>
        </p:txBody>
      </p:sp>
      <p:sp>
        <p:nvSpPr>
          <p:cNvPr id="12" name="honor2.bg"/>
          <p:cNvSpPr/>
          <p:nvPr/>
        </p:nvSpPr>
        <p:spPr>
          <a:xfrm>
            <a:off x="4351866" y="1498600"/>
            <a:ext cx="3488266" cy="2032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honor2.badge"/>
          <p:cNvSpPr/>
          <p:nvPr/>
        </p:nvSpPr>
        <p:spPr>
          <a:xfrm>
            <a:off x="4605866" y="1778000"/>
            <a:ext cx="711200" cy="711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honor2.year"/>
          <p:cNvSpPr txBox="1"/>
          <p:nvPr/>
        </p:nvSpPr>
        <p:spPr>
          <a:xfrm>
            <a:off x="4605866" y="1778000"/>
            <a:ext cx="7112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1A2B"/>
                </a:solidFill>
                <a:latin typeface="Arial"/>
                <a:ea typeface="微软雅黑"/>
              </a:rPr>
              <a:t>2025</a:t>
            </a:r>
          </a:p>
        </p:txBody>
      </p:sp>
      <p:sp>
        <p:nvSpPr>
          <p:cNvPr id="15" name="honor2.title"/>
          <p:cNvSpPr txBox="1"/>
          <p:nvPr/>
        </p:nvSpPr>
        <p:spPr>
          <a:xfrm>
            <a:off x="5520266" y="1803400"/>
            <a:ext cx="2065866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B2B2B"/>
                </a:solidFill>
                <a:latin typeface="Arial"/>
                <a:ea typeface="微软雅黑"/>
              </a:rPr>
              <a:t>示例：荣誉或成果名称</a:t>
            </a:r>
          </a:p>
        </p:txBody>
      </p:sp>
      <p:sp>
        <p:nvSpPr>
          <p:cNvPr id="16" name="honor2.org"/>
          <p:cNvSpPr txBox="1"/>
          <p:nvPr/>
        </p:nvSpPr>
        <p:spPr>
          <a:xfrm>
            <a:off x="4605866" y="2717800"/>
            <a:ext cx="2980266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示例：颁发单位或成果说明</a:t>
            </a:r>
          </a:p>
        </p:txBody>
      </p:sp>
      <p:sp>
        <p:nvSpPr>
          <p:cNvPr id="17" name="honor3.bg"/>
          <p:cNvSpPr/>
          <p:nvPr/>
        </p:nvSpPr>
        <p:spPr>
          <a:xfrm>
            <a:off x="8094133" y="1498600"/>
            <a:ext cx="3488266" cy="2032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honor3.badge"/>
          <p:cNvSpPr/>
          <p:nvPr/>
        </p:nvSpPr>
        <p:spPr>
          <a:xfrm>
            <a:off x="8348133" y="1778000"/>
            <a:ext cx="711200" cy="711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honor3.year"/>
          <p:cNvSpPr txBox="1"/>
          <p:nvPr/>
        </p:nvSpPr>
        <p:spPr>
          <a:xfrm>
            <a:off x="8348133" y="1778000"/>
            <a:ext cx="7112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1A2B"/>
                </a:solidFill>
                <a:latin typeface="Arial"/>
                <a:ea typeface="微软雅黑"/>
              </a:rPr>
              <a:t>2025</a:t>
            </a:r>
          </a:p>
        </p:txBody>
      </p:sp>
      <p:sp>
        <p:nvSpPr>
          <p:cNvPr id="20" name="honor3.title"/>
          <p:cNvSpPr txBox="1"/>
          <p:nvPr/>
        </p:nvSpPr>
        <p:spPr>
          <a:xfrm>
            <a:off x="9262533" y="1803400"/>
            <a:ext cx="2065866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B2B2B"/>
                </a:solidFill>
                <a:latin typeface="Arial"/>
                <a:ea typeface="微软雅黑"/>
              </a:rPr>
              <a:t>示例：荣誉或成果名称</a:t>
            </a:r>
          </a:p>
        </p:txBody>
      </p:sp>
      <p:sp>
        <p:nvSpPr>
          <p:cNvPr id="21" name="honor3.org"/>
          <p:cNvSpPr txBox="1"/>
          <p:nvPr/>
        </p:nvSpPr>
        <p:spPr>
          <a:xfrm>
            <a:off x="8348133" y="2717800"/>
            <a:ext cx="2980266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示例：颁发单位或成果说明</a:t>
            </a:r>
          </a:p>
        </p:txBody>
      </p:sp>
      <p:sp>
        <p:nvSpPr>
          <p:cNvPr id="22" name="honor4.bg"/>
          <p:cNvSpPr/>
          <p:nvPr/>
        </p:nvSpPr>
        <p:spPr>
          <a:xfrm>
            <a:off x="609600" y="3784600"/>
            <a:ext cx="3488266" cy="2032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honor4.badge"/>
          <p:cNvSpPr/>
          <p:nvPr/>
        </p:nvSpPr>
        <p:spPr>
          <a:xfrm>
            <a:off x="863600" y="4064000"/>
            <a:ext cx="711200" cy="711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honor4.year"/>
          <p:cNvSpPr txBox="1"/>
          <p:nvPr/>
        </p:nvSpPr>
        <p:spPr>
          <a:xfrm>
            <a:off x="863600" y="4064000"/>
            <a:ext cx="7112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1A2B"/>
                </a:solidFill>
                <a:latin typeface="Arial"/>
                <a:ea typeface="微软雅黑"/>
              </a:rPr>
              <a:t>2025</a:t>
            </a:r>
          </a:p>
        </p:txBody>
      </p:sp>
      <p:sp>
        <p:nvSpPr>
          <p:cNvPr id="25" name="honor4.title"/>
          <p:cNvSpPr txBox="1"/>
          <p:nvPr/>
        </p:nvSpPr>
        <p:spPr>
          <a:xfrm>
            <a:off x="1778000" y="4089400"/>
            <a:ext cx="2065866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B2B2B"/>
                </a:solidFill>
                <a:latin typeface="Arial"/>
                <a:ea typeface="微软雅黑"/>
              </a:rPr>
              <a:t>示例：荣誉或成果名称</a:t>
            </a:r>
          </a:p>
        </p:txBody>
      </p:sp>
      <p:sp>
        <p:nvSpPr>
          <p:cNvPr id="26" name="honor4.org"/>
          <p:cNvSpPr txBox="1"/>
          <p:nvPr/>
        </p:nvSpPr>
        <p:spPr>
          <a:xfrm>
            <a:off x="863600" y="5003800"/>
            <a:ext cx="2980266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示例：颁发单位或成果说明</a:t>
            </a:r>
          </a:p>
        </p:txBody>
      </p:sp>
      <p:sp>
        <p:nvSpPr>
          <p:cNvPr id="27" name="honor5.bg"/>
          <p:cNvSpPr/>
          <p:nvPr/>
        </p:nvSpPr>
        <p:spPr>
          <a:xfrm>
            <a:off x="4351866" y="3784600"/>
            <a:ext cx="3488266" cy="2032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honor5.badge"/>
          <p:cNvSpPr/>
          <p:nvPr/>
        </p:nvSpPr>
        <p:spPr>
          <a:xfrm>
            <a:off x="4605866" y="4064000"/>
            <a:ext cx="711200" cy="711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honor5.year"/>
          <p:cNvSpPr txBox="1"/>
          <p:nvPr/>
        </p:nvSpPr>
        <p:spPr>
          <a:xfrm>
            <a:off x="4605866" y="4064000"/>
            <a:ext cx="7112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1A2B"/>
                </a:solidFill>
                <a:latin typeface="Arial"/>
                <a:ea typeface="微软雅黑"/>
              </a:rPr>
              <a:t>2025</a:t>
            </a:r>
          </a:p>
        </p:txBody>
      </p:sp>
      <p:sp>
        <p:nvSpPr>
          <p:cNvPr id="30" name="honor5.title"/>
          <p:cNvSpPr txBox="1"/>
          <p:nvPr/>
        </p:nvSpPr>
        <p:spPr>
          <a:xfrm>
            <a:off x="5520266" y="4089400"/>
            <a:ext cx="2065866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B2B2B"/>
                </a:solidFill>
                <a:latin typeface="Arial"/>
                <a:ea typeface="微软雅黑"/>
              </a:rPr>
              <a:t>示例：荣誉或成果名称</a:t>
            </a:r>
          </a:p>
        </p:txBody>
      </p:sp>
      <p:sp>
        <p:nvSpPr>
          <p:cNvPr id="31" name="honor5.org"/>
          <p:cNvSpPr txBox="1"/>
          <p:nvPr/>
        </p:nvSpPr>
        <p:spPr>
          <a:xfrm>
            <a:off x="4605866" y="5003800"/>
            <a:ext cx="2980266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示例：颁发单位或成果说明</a:t>
            </a:r>
          </a:p>
        </p:txBody>
      </p:sp>
      <p:sp>
        <p:nvSpPr>
          <p:cNvPr id="32" name="honor6.bg"/>
          <p:cNvSpPr/>
          <p:nvPr/>
        </p:nvSpPr>
        <p:spPr>
          <a:xfrm>
            <a:off x="8094133" y="3784600"/>
            <a:ext cx="3488266" cy="2032000"/>
          </a:xfrm>
          <a:prstGeom prst="rect">
            <a:avLst/>
          </a:prstGeom>
          <a:solidFill>
            <a:srgbClr val="F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honor6.badge"/>
          <p:cNvSpPr/>
          <p:nvPr/>
        </p:nvSpPr>
        <p:spPr>
          <a:xfrm>
            <a:off x="8348133" y="4064000"/>
            <a:ext cx="711200" cy="7112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honor6.year"/>
          <p:cNvSpPr txBox="1"/>
          <p:nvPr/>
        </p:nvSpPr>
        <p:spPr>
          <a:xfrm>
            <a:off x="8348133" y="4064000"/>
            <a:ext cx="711200" cy="711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1A2B"/>
                </a:solidFill>
                <a:latin typeface="Arial"/>
                <a:ea typeface="微软雅黑"/>
              </a:rPr>
              <a:t>2025</a:t>
            </a:r>
          </a:p>
        </p:txBody>
      </p:sp>
      <p:sp>
        <p:nvSpPr>
          <p:cNvPr id="35" name="honor6.title"/>
          <p:cNvSpPr txBox="1"/>
          <p:nvPr/>
        </p:nvSpPr>
        <p:spPr>
          <a:xfrm>
            <a:off x="9262533" y="4089400"/>
            <a:ext cx="2065866" cy="660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B2B2B"/>
                </a:solidFill>
                <a:latin typeface="Arial"/>
                <a:ea typeface="微软雅黑"/>
              </a:rPr>
              <a:t>示例：荣誉或成果名称</a:t>
            </a:r>
          </a:p>
        </p:txBody>
      </p:sp>
      <p:sp>
        <p:nvSpPr>
          <p:cNvPr id="36" name="honor6.org"/>
          <p:cNvSpPr txBox="1"/>
          <p:nvPr/>
        </p:nvSpPr>
        <p:spPr>
          <a:xfrm>
            <a:off x="8348133" y="5003800"/>
            <a:ext cx="2980266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6B6B"/>
                </a:solidFill>
                <a:latin typeface="Arial"/>
                <a:ea typeface="微软雅黑"/>
              </a:rPr>
              <a:t>示例：颁发单位或成果说明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.ring1"/>
          <p:cNvSpPr/>
          <p:nvPr/>
        </p:nvSpPr>
        <p:spPr>
          <a:xfrm>
            <a:off x="7366000" y="635000"/>
            <a:ext cx="4572000" cy="4572000"/>
          </a:xfrm>
          <a:prstGeom prst="ellipse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eco.ring2"/>
          <p:cNvSpPr/>
          <p:nvPr/>
        </p:nvSpPr>
        <p:spPr>
          <a:xfrm>
            <a:off x="8255000" y="1524000"/>
            <a:ext cx="2794000" cy="2794000"/>
          </a:xfrm>
          <a:prstGeom prst="ellipse">
            <a:avLst/>
          </a:prstGeom>
          <a:noFill/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914400" y="2413000"/>
            <a:ext cx="8128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Arial"/>
                <a:ea typeface="黑体"/>
              </a:rPr>
              <a:t>感谢聆听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914400" y="3454400"/>
            <a:ext cx="8128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0D9B5"/>
                </a:solidFill>
                <a:latin typeface="Arial"/>
                <a:ea typeface="微软雅黑"/>
              </a:rPr>
              <a:t>示例：恳请各位领导批评指正</a:t>
            </a:r>
          </a:p>
        </p:txBody>
      </p:sp>
      <p:sp>
        <p:nvSpPr>
          <p:cNvPr id="6" name="contact"/>
          <p:cNvSpPr txBox="1"/>
          <p:nvPr/>
        </p:nvSpPr>
        <p:spPr>
          <a:xfrm>
            <a:off x="914400" y="5588000"/>
            <a:ext cx="8128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0D9B5"/>
                </a:solidFill>
                <a:latin typeface="Arial"/>
                <a:ea typeface="微软雅黑"/>
              </a:rPr>
              <a:t>示例单位 · 联系人 · 联系方式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v-red">
  <a:themeElements>
    <a:clrScheme name="gov-red">
      <a:dk1>
        <a:srgbClr val="2B2B2B"/>
      </a:dk1>
      <a:lt1>
        <a:srgbClr val="FFFFFF"/>
      </a:lt1>
      <a:dk2>
        <a:srgbClr val="8B1A2B"/>
      </a:dk2>
      <a:lt2>
        <a:srgbClr val="F8F3EC"/>
      </a:lt2>
      <a:accent1>
        <a:srgbClr val="8B1A2B"/>
      </a:accent1>
      <a:accent2>
        <a:srgbClr val="A8232F"/>
      </a:accent2>
      <a:accent3>
        <a:srgbClr val="C9A84C"/>
      </a:accent3>
      <a:accent4>
        <a:srgbClr val="6B6B6B"/>
      </a:accent4>
      <a:accent5>
        <a:srgbClr val="F0D9B5"/>
      </a:accent5>
      <a:accent6>
        <a:srgbClr val="E6DDD0"/>
      </a:accent6>
      <a:hlink>
        <a:srgbClr val="C9A84C"/>
      </a:hlink>
      <a:folHlink>
        <a:srgbClr val="6B6B6B"/>
      </a:folHlink>
    </a:clrScheme>
    <a:fontScheme name="gov-red">
      <a:majorFont>
        <a:latin typeface="Arial"/>
        <a:ea typeface="黑体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红韵 模板</dc:title>
  <dc:subject/>
  <dc:creator/>
  <cp:keywords/>
  <dc:description>generated using python-pptx</dc:description>
  <cp:lastModifiedBy/>
  <cp:revision>1</cp:revision>
  <dcterms:created xsi:type="dcterms:W3CDTF">2026-10-27T00:00:00Z</dcterms:created>
  <dcterms:modified xsi:type="dcterms:W3CDTF">2026-10-27T00:00:00Z</dcterms:modified>
  <cp:category/>
</cp:coreProperties>
</file>