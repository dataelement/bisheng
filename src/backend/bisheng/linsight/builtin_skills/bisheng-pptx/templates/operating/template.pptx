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示例：营业收入（亿元）</c:v>
                </c:pt>
              </c:strCache>
            </c:strRef>
          </c:tx>
          <c:spPr>
            <a:solidFill>
              <a:srgbClr val="1B2A4A"/>
            </a:solidFill>
          </c:spP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20293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82.1</c:v>
                </c:pt>
                <c:pt idx="1">
                  <c:v>95.4</c:v>
                </c:pt>
                <c:pt idx="2">
                  <c:v>108.7</c:v>
                </c:pt>
                <c:pt idx="3">
                  <c:v>121.3</c:v>
                </c:pt>
                <c:pt idx="4">
                  <c:v>136.0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FE6"/>
            </a:solidFill>
          </a:ln>
        </c:spPr>
        <c:txPr>
          <a:bodyPr/>
          <a:lstStyle/>
          <a:p>
            <a:pPr>
              <a:defRPr sz="1000">
                <a:solidFill>
                  <a:srgbClr val="66707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DFE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707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6707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2025 收入</c:v>
                </c:pt>
                <c:pt idx="1">
                  <c:v>价格</c:v>
                </c:pt>
                <c:pt idx="2">
                  <c:v>销量</c:v>
                </c:pt>
                <c:pt idx="3">
                  <c:v>结构</c:v>
                </c:pt>
                <c:pt idx="4">
                  <c:v>汇率</c:v>
                </c:pt>
                <c:pt idx="5">
                  <c:v>2026 收入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100.0</c:v>
                </c:pt>
                <c:pt idx="2">
                  <c:v>108.5</c:v>
                </c:pt>
                <c:pt idx="3">
                  <c:v>116.6</c:v>
                </c:pt>
                <c:pt idx="4">
                  <c:v>115.0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示例：收入变动（亿元）</c:v>
                </c:pt>
              </c:strCache>
            </c:strRef>
          </c:tx>
          <c:spPr>
            <a:solidFill>
              <a:srgbClr val="1B2A4A"/>
            </a:solidFill>
          </c:spPr>
          <c:dPt>
            <c:idx val="0"/>
            <c:spPr>
              <a:solidFill>
                <a:srgbClr val="1B2A4A"/>
              </a:solidFill>
            </c:spPr>
          </c:dPt>
          <c:dPt>
            <c:idx val="1"/>
            <c:spPr>
              <a:solidFill>
                <a:srgbClr val="B8955A"/>
              </a:solidFill>
            </c:spPr>
          </c:dPt>
          <c:dPt>
            <c:idx val="2"/>
            <c:spPr>
              <a:solidFill>
                <a:srgbClr val="B8955A"/>
              </a:solidFill>
            </c:spPr>
          </c:dPt>
          <c:dPt>
            <c:idx val="3"/>
            <c:spPr>
              <a:solidFill>
                <a:srgbClr val="C0504D"/>
              </a:solidFill>
            </c:spPr>
          </c:dPt>
          <c:dPt>
            <c:idx val="4"/>
            <c:spPr>
              <a:solidFill>
                <a:srgbClr val="C0504D"/>
              </a:solidFill>
            </c:spPr>
          </c:dPt>
          <c:dPt>
            <c:idx val="5"/>
            <c:spPr>
              <a:solidFill>
                <a:srgbClr val="1B2A4A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solidFill>
                      <a:srgbClr val="20293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 收入</c:v>
                </c:pt>
                <c:pt idx="1">
                  <c:v>价格</c:v>
                </c:pt>
                <c:pt idx="2">
                  <c:v>销量</c:v>
                </c:pt>
                <c:pt idx="3">
                  <c:v>结构</c:v>
                </c:pt>
                <c:pt idx="4">
                  <c:v>汇率</c:v>
                </c:pt>
                <c:pt idx="5">
                  <c:v>2026 收入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100.0</c:v>
                </c:pt>
                <c:pt idx="1">
                  <c:v>8.5</c:v>
                </c:pt>
                <c:pt idx="2">
                  <c:v>12.3</c:v>
                </c:pt>
                <c:pt idx="3">
                  <c:v>4.2</c:v>
                </c:pt>
                <c:pt idx="4">
                  <c:v>1.6</c:v>
                </c:pt>
                <c:pt idx="5">
                  <c:v>115.0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FE6"/>
            </a:solidFill>
          </a:ln>
        </c:spPr>
        <c:txPr>
          <a:bodyPr/>
          <a:lstStyle/>
          <a:p>
            <a:pPr>
              <a:defRPr sz="1000">
                <a:solidFill>
                  <a:srgbClr val="66707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DFE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707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6707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cover（封面）：文稿开头；主标题写核心判断或文稿名称。页面上的文字均为示例，使用时整体替换。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agenda（目录）：4–5 个章节的目录。页面上的文字均为示例，使用时整体替换。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section（章节页）：章节过渡，一句话交代本章问题。页面上的文字均为示例，使用时整体替换。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statement（观点页）：一句结论加一段依据，用于关键判断。页面上的文字均为示例，使用时整体替换。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two-column（图文两栏）：左侧要点、右侧照片或截图。页面上的文字均为示例，使用时整体替换。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cards-3（三卡片）：三个并列的举措、成果或特点。页面上的文字均为示例，使用时整体替换。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cards-4（四卡片）：四个维度或四项工作。页面上的文字均为示例，使用时整体替换。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kpi-4（关键指标）：3–4 个关键数字加一句解读。页面上的文字均为示例，使用时整体替换。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chart-insight（图表加解读）：一张趋势或对比图，右侧写读图结论。页面上的文字均为示例，使用时整体替换。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compare（对比）：两个方案、改革前后、我们与对标的对比。页面上的文字均为示例，使用时整体替换。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process（流程）：3–4 个有先后顺序的步骤。页面上的文字均为示例，使用时整体替换。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timeline（时间轴）：3–5 个时间节点的历程或计划。页面上的文字均为示例，使用时整体替换。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table（表格）：任务清单、责任分工、多维对照。页面上的文字均为示例，使用时整体替换。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scorecard（指标计分表）：多项指标的目标与完成情况，突出异常行。页面上的文字均为示例，使用时整体替换。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bridge（贡献对账）：起点到终点的变化拆解（瀑布图）。页面上的文字均为示例，使用时整体替换。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closing（结尾页）：致谢与联系方式。页面上的文字均为示例，使用时整体替换。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914400" y="1498600"/>
            <a:ext cx="609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3CCDA"/>
                </a:solidFill>
                <a:latin typeface="Arial"/>
                <a:ea typeface="微软雅黑"/>
              </a:rPr>
              <a:t>示例 · 2026 年度工作汇报</a:t>
            </a:r>
          </a:p>
        </p:txBody>
      </p:sp>
      <p:sp>
        <p:nvSpPr>
          <p:cNvPr id="4" name="deco.tab"/>
          <p:cNvSpPr/>
          <p:nvPr/>
        </p:nvSpPr>
        <p:spPr>
          <a:xfrm>
            <a:off x="914400" y="1854200"/>
            <a:ext cx="558800" cy="635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914400" y="2057400"/>
            <a:ext cx="60960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示例：主标题写一句核心判断或文稿名称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914400" y="3886200"/>
            <a:ext cx="609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3CCDA"/>
                </a:solidFill>
                <a:latin typeface="Arial"/>
                <a:ea typeface="微软雅黑"/>
              </a:rPr>
              <a:t>示例：副标题补充范围、时间或汇报对象</a:t>
            </a:r>
          </a:p>
        </p:txBody>
      </p:sp>
      <p:sp>
        <p:nvSpPr>
          <p:cNvPr id="7" name="org"/>
          <p:cNvSpPr txBox="1"/>
          <p:nvPr/>
        </p:nvSpPr>
        <p:spPr>
          <a:xfrm>
            <a:off x="914400" y="58674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微软雅黑"/>
              </a:rPr>
              <a:t>示例单位名称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914400" y="6197600"/>
            <a:ext cx="660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3CCDA"/>
                </a:solidFill>
                <a:latin typeface="Arial"/>
                <a:ea typeface="微软雅黑"/>
              </a:rPr>
              <a:t>2026 年 10 月</a:t>
            </a:r>
          </a:p>
        </p:txBody>
      </p:sp>
      <p:sp>
        <p:nvSpPr>
          <p:cNvPr id="9" name="highlight.number"/>
          <p:cNvSpPr txBox="1"/>
          <p:nvPr/>
        </p:nvSpPr>
        <p:spPr>
          <a:xfrm>
            <a:off x="8128000" y="2489200"/>
            <a:ext cx="3556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000" b="1">
                <a:solidFill>
                  <a:srgbClr val="1B2A4A"/>
                </a:solidFill>
                <a:latin typeface="Arial"/>
                <a:ea typeface="微软雅黑"/>
              </a:rPr>
              <a:t>36.8%</a:t>
            </a:r>
          </a:p>
        </p:txBody>
      </p:sp>
      <p:sp>
        <p:nvSpPr>
          <p:cNvPr id="10" name="highlight.label"/>
          <p:cNvSpPr txBox="1"/>
          <p:nvPr/>
        </p:nvSpPr>
        <p:spPr>
          <a:xfrm>
            <a:off x="8128000" y="3581400"/>
            <a:ext cx="3556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707F"/>
                </a:solidFill>
                <a:latin typeface="Arial"/>
                <a:ea typeface="微软雅黑"/>
              </a:rPr>
              <a:t>示例：一项最能代表本期结论的指标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1625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B8955A"/>
                </a:solidFill>
                <a:latin typeface="Arial"/>
                <a:ea typeface="微软雅黑"/>
              </a:rPr>
              <a:t>CONTENTS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9050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B2A4A"/>
                </a:solidFill>
                <a:latin typeface="Arial"/>
                <a:ea typeface="微软雅黑"/>
              </a:rPr>
              <a:t>目录</a:t>
            </a:r>
          </a:p>
        </p:txBody>
      </p:sp>
      <p:sp>
        <p:nvSpPr>
          <p:cNvPr id="4" name="item1.no"/>
          <p:cNvSpPr txBox="1"/>
          <p:nvPr/>
        </p:nvSpPr>
        <p:spPr>
          <a:xfrm>
            <a:off x="5334000" y="1524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item1.text"/>
          <p:cNvSpPr txBox="1"/>
          <p:nvPr/>
        </p:nvSpPr>
        <p:spPr>
          <a:xfrm>
            <a:off x="6248400" y="1600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0293A"/>
                </a:solidFill>
                <a:latin typeface="Arial"/>
                <a:ea typeface="微软雅黑"/>
              </a:rPr>
              <a:t>示例：经营概况</a:t>
            </a:r>
          </a:p>
        </p:txBody>
      </p:sp>
      <p:cxnSp>
        <p:nvCxnSpPr>
          <p:cNvPr id="6" name="item1.rule"/>
          <p:cNvCxnSpPr/>
          <p:nvPr/>
        </p:nvCxnSpPr>
        <p:spPr>
          <a:xfrm>
            <a:off x="5334000" y="2235200"/>
            <a:ext cx="62484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tem2.no"/>
          <p:cNvSpPr txBox="1"/>
          <p:nvPr/>
        </p:nvSpPr>
        <p:spPr>
          <a:xfrm>
            <a:off x="5334000" y="2413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8" name="item2.text"/>
          <p:cNvSpPr txBox="1"/>
          <p:nvPr/>
        </p:nvSpPr>
        <p:spPr>
          <a:xfrm>
            <a:off x="6248400" y="2489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0293A"/>
                </a:solidFill>
                <a:latin typeface="Arial"/>
                <a:ea typeface="微软雅黑"/>
              </a:rPr>
              <a:t>示例：重点工作进展</a:t>
            </a:r>
          </a:p>
        </p:txBody>
      </p:sp>
      <p:cxnSp>
        <p:nvCxnSpPr>
          <p:cNvPr id="9" name="item2.rule"/>
          <p:cNvCxnSpPr/>
          <p:nvPr/>
        </p:nvCxnSpPr>
        <p:spPr>
          <a:xfrm>
            <a:off x="5334000" y="3124200"/>
            <a:ext cx="62484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tem3.no"/>
          <p:cNvSpPr txBox="1"/>
          <p:nvPr/>
        </p:nvSpPr>
        <p:spPr>
          <a:xfrm>
            <a:off x="5334000" y="3302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1" name="item3.text"/>
          <p:cNvSpPr txBox="1"/>
          <p:nvPr/>
        </p:nvSpPr>
        <p:spPr>
          <a:xfrm>
            <a:off x="6248400" y="3378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0293A"/>
                </a:solidFill>
                <a:latin typeface="Arial"/>
                <a:ea typeface="微软雅黑"/>
              </a:rPr>
              <a:t>示例：问题与原因分析</a:t>
            </a:r>
          </a:p>
        </p:txBody>
      </p:sp>
      <p:cxnSp>
        <p:nvCxnSpPr>
          <p:cNvPr id="12" name="item3.rule"/>
          <p:cNvCxnSpPr/>
          <p:nvPr/>
        </p:nvCxnSpPr>
        <p:spPr>
          <a:xfrm>
            <a:off x="5334000" y="4013200"/>
            <a:ext cx="62484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tem4.no"/>
          <p:cNvSpPr txBox="1"/>
          <p:nvPr/>
        </p:nvSpPr>
        <p:spPr>
          <a:xfrm>
            <a:off x="5334000" y="4191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4" name="item4.text"/>
          <p:cNvSpPr txBox="1"/>
          <p:nvPr/>
        </p:nvSpPr>
        <p:spPr>
          <a:xfrm>
            <a:off x="6248400" y="4267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0293A"/>
                </a:solidFill>
                <a:latin typeface="Arial"/>
                <a:ea typeface="微软雅黑"/>
              </a:rPr>
              <a:t>示例：下一步计划</a:t>
            </a:r>
          </a:p>
        </p:txBody>
      </p:sp>
      <p:cxnSp>
        <p:nvCxnSpPr>
          <p:cNvPr id="15" name="item4.rule"/>
          <p:cNvCxnSpPr/>
          <p:nvPr/>
        </p:nvCxnSpPr>
        <p:spPr>
          <a:xfrm>
            <a:off x="5334000" y="4902200"/>
            <a:ext cx="62484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tem5.no"/>
          <p:cNvSpPr txBox="1"/>
          <p:nvPr/>
        </p:nvSpPr>
        <p:spPr>
          <a:xfrm>
            <a:off x="5334000" y="5080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17" name="item5.text"/>
          <p:cNvSpPr txBox="1"/>
          <p:nvPr/>
        </p:nvSpPr>
        <p:spPr>
          <a:xfrm>
            <a:off x="6248400" y="5156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0293A"/>
                </a:solidFill>
                <a:latin typeface="Arial"/>
                <a:ea typeface="微软雅黑"/>
              </a:rPr>
              <a:t>示例：需协调事项</a:t>
            </a:r>
          </a:p>
        </p:txBody>
      </p:sp>
      <p:cxnSp>
        <p:nvCxnSpPr>
          <p:cNvPr id="18" name="item5.rule"/>
          <p:cNvCxnSpPr/>
          <p:nvPr/>
        </p:nvCxnSpPr>
        <p:spPr>
          <a:xfrm>
            <a:off x="5334000" y="5791200"/>
            <a:ext cx="62484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20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52065C2F-62C1-43B6-8E2C-D9085FDA0DF9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no"/>
          <p:cNvSpPr txBox="1"/>
          <p:nvPr/>
        </p:nvSpPr>
        <p:spPr>
          <a:xfrm>
            <a:off x="914400" y="1905000"/>
            <a:ext cx="3810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800" b="1">
                <a:solidFill>
                  <a:srgbClr val="B8955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914400" y="3429000"/>
            <a:ext cx="8128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示例：章节标题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914400" y="4318000"/>
            <a:ext cx="812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C3CCDA"/>
                </a:solidFill>
                <a:latin typeface="Arial"/>
                <a:ea typeface="微软雅黑"/>
              </a:rPr>
              <a:t>示例：一句话说明本章要回答的问题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3CCD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7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D01B4B53-B79A-4B74-B90D-20AD88541196}" type="slidenum">
              <a:rPr lang="zh-CN" sz="1000">
                <a:solidFill>
                  <a:srgbClr val="C3CCDA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核心观点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5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A6506161-FAD9-417E-B482-B41C2C714864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sp>
        <p:nvSpPr>
          <p:cNvPr id="6" name="deco.quote"/>
          <p:cNvSpPr/>
          <p:nvPr/>
        </p:nvSpPr>
        <p:spPr>
          <a:xfrm>
            <a:off x="609600" y="1701800"/>
            <a:ext cx="508000" cy="635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ement"/>
          <p:cNvSpPr txBox="1"/>
          <p:nvPr/>
        </p:nvSpPr>
        <p:spPr>
          <a:xfrm>
            <a:off x="609600" y="1981200"/>
            <a:ext cx="10160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20293A"/>
                </a:solidFill>
                <a:latin typeface="Arial"/>
                <a:ea typeface="微软雅黑"/>
              </a:rPr>
              <a:t>示例：用一句完整的话写出本页结论，让听众不看其他内容也能带走它</a:t>
            </a:r>
          </a:p>
        </p:txBody>
      </p:sp>
      <p:sp>
        <p:nvSpPr>
          <p:cNvPr id="8" name="support"/>
          <p:cNvSpPr txBox="1"/>
          <p:nvPr/>
        </p:nvSpPr>
        <p:spPr>
          <a:xfrm>
            <a:off x="609600" y="4267200"/>
            <a:ext cx="83820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6707F"/>
                </a:solidFill>
                <a:latin typeface="Arial"/>
                <a:ea typeface="微软雅黑"/>
              </a:rPr>
              <a:t>示例：用一两句话交代支撑这个判断的事实、数据或依据。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609600" y="59690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707F"/>
                </a:solidFill>
                <a:latin typeface="Arial"/>
                <a:ea typeface="微软雅黑"/>
              </a:rPr>
              <a:t>示例来源：填写数据或材料出处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示例：图文页的标题写本页结论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7F439FB1-D088-4556-B6D5-33885DA09249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549400"/>
            <a:ext cx="5080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示例：先用一句加粗的话点题，再展开要点。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09600" y="2438400"/>
            <a:ext cx="5080000" cy="33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0000"/>
              </a:lnSpc>
              <a:buClr>
                <a:srgbClr val="B8955A"/>
              </a:buClr>
              <a:buFont typeface="Arial"/>
              <a:buChar char="•"/>
            </a:pPr>
            <a:r>
              <a:rPr sz="1500" b="0">
                <a:solidFill>
                  <a:srgbClr val="20293A"/>
                </a:solidFill>
                <a:latin typeface="Arial"/>
                <a:ea typeface="微软雅黑"/>
              </a:rPr>
              <a:t>示例要点一：写事实或做法，一行一个要点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B8955A"/>
              </a:buClr>
              <a:buFont typeface="Arial"/>
              <a:buChar char="•"/>
            </a:pPr>
            <a:r>
              <a:rPr sz="1500" b="0">
                <a:solidFill>
                  <a:srgbClr val="20293A"/>
                </a:solidFill>
                <a:latin typeface="Arial"/>
                <a:ea typeface="微软雅黑"/>
              </a:rPr>
              <a:t>示例要点二：数字要带单位和期间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B8955A"/>
              </a:buClr>
              <a:buFont typeface="Arial"/>
              <a:buChar char="•"/>
            </a:pPr>
            <a:r>
              <a:rPr sz="1500" b="0">
                <a:solidFill>
                  <a:srgbClr val="20293A"/>
                </a:solidFill>
                <a:latin typeface="Arial"/>
                <a:ea typeface="微软雅黑"/>
              </a:rPr>
              <a:t>示例要点三：最多五条，放不下就拆页</a:t>
            </a:r>
          </a:p>
        </p:txBody>
      </p:sp>
      <p:sp>
        <p:nvSpPr>
          <p:cNvPr id="9" name="image.box"/>
          <p:cNvSpPr/>
          <p:nvPr/>
        </p:nvSpPr>
        <p:spPr>
          <a:xfrm>
            <a:off x="6096000" y="1498600"/>
            <a:ext cx="5486400" cy="436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mage.label"/>
          <p:cNvSpPr txBox="1"/>
          <p:nvPr/>
        </p:nvSpPr>
        <p:spPr>
          <a:xfrm>
            <a:off x="6400800" y="3530600"/>
            <a:ext cx="4876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示例：图片区，替换为现场照片或产品截图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示例：三个并列要点的总标题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EDCB8DD-97DA-4C8C-B5F4-212B0BC086C3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4986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6707F"/>
                </a:solidFill>
                <a:latin typeface="Arial"/>
                <a:ea typeface="微软雅黑"/>
              </a:rPr>
              <a:t>示例：一句话说明这三点之间的关系或共同指向。</a:t>
            </a:r>
          </a:p>
        </p:txBody>
      </p:sp>
      <p:sp>
        <p:nvSpPr>
          <p:cNvPr id="8" name="card1.bg"/>
          <p:cNvSpPr/>
          <p:nvPr/>
        </p:nvSpPr>
        <p:spPr>
          <a:xfrm>
            <a:off x="609600" y="2159000"/>
            <a:ext cx="3454400" cy="3175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1.no"/>
          <p:cNvSpPr txBox="1"/>
          <p:nvPr/>
        </p:nvSpPr>
        <p:spPr>
          <a:xfrm>
            <a:off x="9144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0" name="card1.title"/>
          <p:cNvSpPr txBox="1"/>
          <p:nvPr/>
        </p:nvSpPr>
        <p:spPr>
          <a:xfrm>
            <a:off x="9144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示例：要点一的小标题</a:t>
            </a:r>
          </a:p>
        </p:txBody>
      </p:sp>
      <p:sp>
        <p:nvSpPr>
          <p:cNvPr id="11" name="card1.body"/>
          <p:cNvSpPr txBox="1"/>
          <p:nvPr/>
        </p:nvSpPr>
        <p:spPr>
          <a:xfrm>
            <a:off x="9144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707F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2" name="card2.bg"/>
          <p:cNvSpPr/>
          <p:nvPr/>
        </p:nvSpPr>
        <p:spPr>
          <a:xfrm>
            <a:off x="4368800" y="2159000"/>
            <a:ext cx="3454400" cy="3175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rd2.no"/>
          <p:cNvSpPr txBox="1"/>
          <p:nvPr/>
        </p:nvSpPr>
        <p:spPr>
          <a:xfrm>
            <a:off x="46736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card2.title"/>
          <p:cNvSpPr txBox="1"/>
          <p:nvPr/>
        </p:nvSpPr>
        <p:spPr>
          <a:xfrm>
            <a:off x="46736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示例：要点二的小标题</a:t>
            </a:r>
          </a:p>
        </p:txBody>
      </p:sp>
      <p:sp>
        <p:nvSpPr>
          <p:cNvPr id="15" name="card2.body"/>
          <p:cNvSpPr txBox="1"/>
          <p:nvPr/>
        </p:nvSpPr>
        <p:spPr>
          <a:xfrm>
            <a:off x="46736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707F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6" name="card3.bg"/>
          <p:cNvSpPr/>
          <p:nvPr/>
        </p:nvSpPr>
        <p:spPr>
          <a:xfrm>
            <a:off x="8128000" y="2159000"/>
            <a:ext cx="3454400" cy="3175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ard3.no"/>
          <p:cNvSpPr txBox="1"/>
          <p:nvPr/>
        </p:nvSpPr>
        <p:spPr>
          <a:xfrm>
            <a:off x="84328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8" name="card3.title"/>
          <p:cNvSpPr txBox="1"/>
          <p:nvPr/>
        </p:nvSpPr>
        <p:spPr>
          <a:xfrm>
            <a:off x="84328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示例：要点三的小标题</a:t>
            </a:r>
          </a:p>
        </p:txBody>
      </p:sp>
      <p:sp>
        <p:nvSpPr>
          <p:cNvPr id="19" name="card3.body"/>
          <p:cNvSpPr txBox="1"/>
          <p:nvPr/>
        </p:nvSpPr>
        <p:spPr>
          <a:xfrm>
            <a:off x="84328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707F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示例：四项工作或四个维度的总标题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87141E0-EAA7-4D22-8F02-BD8D8486D1AA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sp>
        <p:nvSpPr>
          <p:cNvPr id="7" name="card1.bg"/>
          <p:cNvSpPr/>
          <p:nvPr/>
        </p:nvSpPr>
        <p:spPr>
          <a:xfrm>
            <a:off x="609600" y="1498600"/>
            <a:ext cx="5359400" cy="2133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ard1.no"/>
          <p:cNvSpPr txBox="1"/>
          <p:nvPr/>
        </p:nvSpPr>
        <p:spPr>
          <a:xfrm>
            <a:off x="9144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card1.title"/>
          <p:cNvSpPr txBox="1"/>
          <p:nvPr/>
        </p:nvSpPr>
        <p:spPr>
          <a:xfrm>
            <a:off x="9144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示例：维度一</a:t>
            </a:r>
          </a:p>
        </p:txBody>
      </p:sp>
      <p:sp>
        <p:nvSpPr>
          <p:cNvPr id="10" name="card1.body"/>
          <p:cNvSpPr txBox="1"/>
          <p:nvPr/>
        </p:nvSpPr>
        <p:spPr>
          <a:xfrm>
            <a:off x="9144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707F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1" name="card2.bg"/>
          <p:cNvSpPr/>
          <p:nvPr/>
        </p:nvSpPr>
        <p:spPr>
          <a:xfrm>
            <a:off x="6223000" y="1498600"/>
            <a:ext cx="5359400" cy="2133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ard2.no"/>
          <p:cNvSpPr txBox="1"/>
          <p:nvPr/>
        </p:nvSpPr>
        <p:spPr>
          <a:xfrm>
            <a:off x="65278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3" name="card2.title"/>
          <p:cNvSpPr txBox="1"/>
          <p:nvPr/>
        </p:nvSpPr>
        <p:spPr>
          <a:xfrm>
            <a:off x="65278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示例：维度二</a:t>
            </a:r>
          </a:p>
        </p:txBody>
      </p:sp>
      <p:sp>
        <p:nvSpPr>
          <p:cNvPr id="14" name="card2.body"/>
          <p:cNvSpPr txBox="1"/>
          <p:nvPr/>
        </p:nvSpPr>
        <p:spPr>
          <a:xfrm>
            <a:off x="65278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707F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5" name="card3.bg"/>
          <p:cNvSpPr/>
          <p:nvPr/>
        </p:nvSpPr>
        <p:spPr>
          <a:xfrm>
            <a:off x="609600" y="3886200"/>
            <a:ext cx="5359400" cy="2133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ard3.no"/>
          <p:cNvSpPr txBox="1"/>
          <p:nvPr/>
        </p:nvSpPr>
        <p:spPr>
          <a:xfrm>
            <a:off x="9144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7" name="card3.title"/>
          <p:cNvSpPr txBox="1"/>
          <p:nvPr/>
        </p:nvSpPr>
        <p:spPr>
          <a:xfrm>
            <a:off x="9144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示例：维度三</a:t>
            </a:r>
          </a:p>
        </p:txBody>
      </p:sp>
      <p:sp>
        <p:nvSpPr>
          <p:cNvPr id="18" name="card3.body"/>
          <p:cNvSpPr txBox="1"/>
          <p:nvPr/>
        </p:nvSpPr>
        <p:spPr>
          <a:xfrm>
            <a:off x="9144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707F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9" name="card4.bg"/>
          <p:cNvSpPr/>
          <p:nvPr/>
        </p:nvSpPr>
        <p:spPr>
          <a:xfrm>
            <a:off x="6223000" y="3886200"/>
            <a:ext cx="5359400" cy="2133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ard4.no"/>
          <p:cNvSpPr txBox="1"/>
          <p:nvPr/>
        </p:nvSpPr>
        <p:spPr>
          <a:xfrm>
            <a:off x="65278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B8955A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1" name="card4.title"/>
          <p:cNvSpPr txBox="1"/>
          <p:nvPr/>
        </p:nvSpPr>
        <p:spPr>
          <a:xfrm>
            <a:off x="65278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示例：维度四</a:t>
            </a:r>
          </a:p>
        </p:txBody>
      </p:sp>
      <p:sp>
        <p:nvSpPr>
          <p:cNvPr id="22" name="card4.body"/>
          <p:cNvSpPr txBox="1"/>
          <p:nvPr/>
        </p:nvSpPr>
        <p:spPr>
          <a:xfrm>
            <a:off x="65278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707F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示例：用四个关键指标概括本期成绩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5BF19C-DE87-464B-A520-D7C0728FB05D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sp>
        <p:nvSpPr>
          <p:cNvPr id="7" name="kpi1.number"/>
          <p:cNvSpPr txBox="1"/>
          <p:nvPr/>
        </p:nvSpPr>
        <p:spPr>
          <a:xfrm>
            <a:off x="6096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B2A4A"/>
                </a:solidFill>
                <a:latin typeface="Arial"/>
                <a:ea typeface="微软雅黑"/>
              </a:rPr>
              <a:t>128.6</a:t>
            </a:r>
          </a:p>
        </p:txBody>
      </p:sp>
      <p:sp>
        <p:nvSpPr>
          <p:cNvPr id="8" name="kpi1.unit"/>
          <p:cNvSpPr txBox="1"/>
          <p:nvPr/>
        </p:nvSpPr>
        <p:spPr>
          <a:xfrm>
            <a:off x="6096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示例单位：亿元</a:t>
            </a:r>
          </a:p>
        </p:txBody>
      </p:sp>
      <p:sp>
        <p:nvSpPr>
          <p:cNvPr id="9" name="kpi1.label"/>
          <p:cNvSpPr txBox="1"/>
          <p:nvPr/>
        </p:nvSpPr>
        <p:spPr>
          <a:xfrm>
            <a:off x="6096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0293A"/>
                </a:solidFill>
                <a:latin typeface="Arial"/>
                <a:ea typeface="微软雅黑"/>
              </a:rPr>
              <a:t>示例：营业收入</a:t>
            </a:r>
          </a:p>
        </p:txBody>
      </p:sp>
      <p:sp>
        <p:nvSpPr>
          <p:cNvPr id="10" name="kpi1.note"/>
          <p:cNvSpPr txBox="1"/>
          <p:nvPr/>
        </p:nvSpPr>
        <p:spPr>
          <a:xfrm>
            <a:off x="6096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1" name="kpi2.rule"/>
          <p:cNvCxnSpPr/>
          <p:nvPr/>
        </p:nvCxnSpPr>
        <p:spPr>
          <a:xfrm>
            <a:off x="3276600" y="2006600"/>
            <a:ext cx="0" cy="254000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kpi2.number"/>
          <p:cNvSpPr txBox="1"/>
          <p:nvPr/>
        </p:nvSpPr>
        <p:spPr>
          <a:xfrm>
            <a:off x="34290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B2A4A"/>
                </a:solidFill>
                <a:latin typeface="Arial"/>
                <a:ea typeface="微软雅黑"/>
              </a:rPr>
              <a:t>12.4%</a:t>
            </a:r>
          </a:p>
        </p:txBody>
      </p:sp>
      <p:sp>
        <p:nvSpPr>
          <p:cNvPr id="13" name="kpi2.unit"/>
          <p:cNvSpPr txBox="1"/>
          <p:nvPr/>
        </p:nvSpPr>
        <p:spPr>
          <a:xfrm>
            <a:off x="34290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示例单位：同比</a:t>
            </a:r>
          </a:p>
        </p:txBody>
      </p:sp>
      <p:sp>
        <p:nvSpPr>
          <p:cNvPr id="14" name="kpi2.label"/>
          <p:cNvSpPr txBox="1"/>
          <p:nvPr/>
        </p:nvSpPr>
        <p:spPr>
          <a:xfrm>
            <a:off x="34290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0293A"/>
                </a:solidFill>
                <a:latin typeface="Arial"/>
                <a:ea typeface="微软雅黑"/>
              </a:rPr>
              <a:t>示例：增长率</a:t>
            </a:r>
          </a:p>
        </p:txBody>
      </p:sp>
      <p:sp>
        <p:nvSpPr>
          <p:cNvPr id="15" name="kpi2.note"/>
          <p:cNvSpPr txBox="1"/>
          <p:nvPr/>
        </p:nvSpPr>
        <p:spPr>
          <a:xfrm>
            <a:off x="34290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6" name="kpi3.rule"/>
          <p:cNvCxnSpPr/>
          <p:nvPr/>
        </p:nvCxnSpPr>
        <p:spPr>
          <a:xfrm>
            <a:off x="6096000" y="2006600"/>
            <a:ext cx="0" cy="254000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kpi3.number"/>
          <p:cNvSpPr txBox="1"/>
          <p:nvPr/>
        </p:nvSpPr>
        <p:spPr>
          <a:xfrm>
            <a:off x="62484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B2A4A"/>
                </a:solidFill>
                <a:latin typeface="Arial"/>
                <a:ea typeface="微软雅黑"/>
              </a:rPr>
              <a:t>36</a:t>
            </a:r>
          </a:p>
        </p:txBody>
      </p:sp>
      <p:sp>
        <p:nvSpPr>
          <p:cNvPr id="18" name="kpi3.unit"/>
          <p:cNvSpPr txBox="1"/>
          <p:nvPr/>
        </p:nvSpPr>
        <p:spPr>
          <a:xfrm>
            <a:off x="62484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示例单位：个</a:t>
            </a:r>
          </a:p>
        </p:txBody>
      </p:sp>
      <p:sp>
        <p:nvSpPr>
          <p:cNvPr id="19" name="kpi3.label"/>
          <p:cNvSpPr txBox="1"/>
          <p:nvPr/>
        </p:nvSpPr>
        <p:spPr>
          <a:xfrm>
            <a:off x="62484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0293A"/>
                </a:solidFill>
                <a:latin typeface="Arial"/>
                <a:ea typeface="微软雅黑"/>
              </a:rPr>
              <a:t>示例：新签项目</a:t>
            </a:r>
          </a:p>
        </p:txBody>
      </p:sp>
      <p:sp>
        <p:nvSpPr>
          <p:cNvPr id="20" name="kpi3.note"/>
          <p:cNvSpPr txBox="1"/>
          <p:nvPr/>
        </p:nvSpPr>
        <p:spPr>
          <a:xfrm>
            <a:off x="62484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21" name="kpi4.rule"/>
          <p:cNvCxnSpPr/>
          <p:nvPr/>
        </p:nvCxnSpPr>
        <p:spPr>
          <a:xfrm>
            <a:off x="8915400" y="2006600"/>
            <a:ext cx="0" cy="254000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kpi4.number"/>
          <p:cNvSpPr txBox="1"/>
          <p:nvPr/>
        </p:nvSpPr>
        <p:spPr>
          <a:xfrm>
            <a:off x="90678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B2A4A"/>
                </a:solidFill>
                <a:latin typeface="Arial"/>
                <a:ea typeface="微软雅黑"/>
              </a:rPr>
              <a:t>98.7%</a:t>
            </a:r>
          </a:p>
        </p:txBody>
      </p:sp>
      <p:sp>
        <p:nvSpPr>
          <p:cNvPr id="23" name="kpi4.unit"/>
          <p:cNvSpPr txBox="1"/>
          <p:nvPr/>
        </p:nvSpPr>
        <p:spPr>
          <a:xfrm>
            <a:off x="90678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示例单位：全年</a:t>
            </a:r>
          </a:p>
        </p:txBody>
      </p:sp>
      <p:sp>
        <p:nvSpPr>
          <p:cNvPr id="24" name="kpi4.label"/>
          <p:cNvSpPr txBox="1"/>
          <p:nvPr/>
        </p:nvSpPr>
        <p:spPr>
          <a:xfrm>
            <a:off x="90678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0293A"/>
                </a:solidFill>
                <a:latin typeface="Arial"/>
                <a:ea typeface="微软雅黑"/>
              </a:rPr>
              <a:t>示例：交付准时率</a:t>
            </a:r>
          </a:p>
        </p:txBody>
      </p:sp>
      <p:sp>
        <p:nvSpPr>
          <p:cNvPr id="25" name="kpi4.note"/>
          <p:cNvSpPr txBox="1"/>
          <p:nvPr/>
        </p:nvSpPr>
        <p:spPr>
          <a:xfrm>
            <a:off x="90678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sp>
        <p:nvSpPr>
          <p:cNvPr id="26" name="takeaway.bg"/>
          <p:cNvSpPr/>
          <p:nvPr/>
        </p:nvSpPr>
        <p:spPr>
          <a:xfrm>
            <a:off x="609600" y="4876800"/>
            <a:ext cx="10972800" cy="762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akeaway.text"/>
          <p:cNvSpPr txBox="1"/>
          <p:nvPr/>
        </p:nvSpPr>
        <p:spPr>
          <a:xfrm>
            <a:off x="863600" y="4876800"/>
            <a:ext cx="104648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0293A"/>
                </a:solidFill>
                <a:latin typeface="Arial"/>
                <a:ea typeface="微软雅黑"/>
              </a:rPr>
              <a:t>示例：一句话解读这组数字说明了什么。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609600" y="57912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707F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示例：图表页的标题直接写出数据结论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E092A15-D214-451A-BC74-59C3F3F8597A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609600" y="1498600"/>
          <a:ext cx="7112000" cy="419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sight.bg"/>
          <p:cNvSpPr/>
          <p:nvPr/>
        </p:nvSpPr>
        <p:spPr>
          <a:xfrm>
            <a:off x="8026400" y="1498600"/>
            <a:ext cx="3556000" cy="4191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nsight.title"/>
          <p:cNvSpPr txBox="1"/>
          <p:nvPr/>
        </p:nvSpPr>
        <p:spPr>
          <a:xfrm>
            <a:off x="8280400" y="1778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示例：读图要点</a:t>
            </a:r>
          </a:p>
        </p:txBody>
      </p:sp>
      <p:sp>
        <p:nvSpPr>
          <p:cNvPr id="10" name="insight.body"/>
          <p:cNvSpPr txBox="1"/>
          <p:nvPr/>
        </p:nvSpPr>
        <p:spPr>
          <a:xfrm>
            <a:off x="8280400" y="2463800"/>
            <a:ext cx="3048000" cy="292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示例：拐点或异常出现在哪里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示例：原因是什么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示例：意味着什么、要做什么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609600" y="58166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707F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示例：对比页的标题写出取舍结论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8FFD5C-576C-4E12-B317-A2C1C8455F48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sp>
        <p:nvSpPr>
          <p:cNvPr id="7" name="left.bg"/>
          <p:cNvSpPr/>
          <p:nvPr/>
        </p:nvSpPr>
        <p:spPr>
          <a:xfrm>
            <a:off x="609600" y="1498600"/>
            <a:ext cx="5334000" cy="3556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eft.head"/>
          <p:cNvSpPr/>
          <p:nvPr/>
        </p:nvSpPr>
        <p:spPr>
          <a:xfrm>
            <a:off x="609600" y="1498600"/>
            <a:ext cx="5334000" cy="584200"/>
          </a:xfrm>
          <a:prstGeom prst="rect">
            <a:avLst/>
          </a:prstGeom>
          <a:solidFill>
            <a:srgbClr val="44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eft.title"/>
          <p:cNvSpPr txBox="1"/>
          <p:nvPr/>
        </p:nvSpPr>
        <p:spPr>
          <a:xfrm>
            <a:off x="8636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rial"/>
                <a:ea typeface="微软雅黑"/>
              </a:rPr>
              <a:t>示例：方案 A / 改革前</a:t>
            </a:r>
          </a:p>
        </p:txBody>
      </p:sp>
      <p:sp>
        <p:nvSpPr>
          <p:cNvPr id="10" name="left.body"/>
          <p:cNvSpPr txBox="1"/>
          <p:nvPr/>
        </p:nvSpPr>
        <p:spPr>
          <a:xfrm>
            <a:off x="8636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1" name="right.bg"/>
          <p:cNvSpPr/>
          <p:nvPr/>
        </p:nvSpPr>
        <p:spPr>
          <a:xfrm>
            <a:off x="6248400" y="1498600"/>
            <a:ext cx="5334000" cy="3556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ight.head"/>
          <p:cNvSpPr/>
          <p:nvPr/>
        </p:nvSpPr>
        <p:spPr>
          <a:xfrm>
            <a:off x="6248400" y="1498600"/>
            <a:ext cx="5334000" cy="584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.title"/>
          <p:cNvSpPr txBox="1"/>
          <p:nvPr/>
        </p:nvSpPr>
        <p:spPr>
          <a:xfrm>
            <a:off x="65024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rial"/>
                <a:ea typeface="微软雅黑"/>
              </a:rPr>
              <a:t>示例：方案 B / 改革后</a:t>
            </a:r>
          </a:p>
        </p:txBody>
      </p:sp>
      <p:sp>
        <p:nvSpPr>
          <p:cNvPr id="14" name="right.body"/>
          <p:cNvSpPr txBox="1"/>
          <p:nvPr/>
        </p:nvSpPr>
        <p:spPr>
          <a:xfrm>
            <a:off x="65024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5" name="conclusion.bg"/>
          <p:cNvSpPr/>
          <p:nvPr/>
        </p:nvSpPr>
        <p:spPr>
          <a:xfrm>
            <a:off x="609600" y="5257800"/>
            <a:ext cx="10972800" cy="660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89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onclusion.text"/>
          <p:cNvSpPr txBox="1"/>
          <p:nvPr/>
        </p:nvSpPr>
        <p:spPr>
          <a:xfrm>
            <a:off x="863600" y="5257800"/>
            <a:ext cx="104648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0293A"/>
                </a:solidFill>
                <a:latin typeface="Arial"/>
                <a:ea typeface="微软雅黑"/>
              </a:rPr>
              <a:t>示例结论：在什么条件下选哪一个，理由是什么。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示例：流程页的标题说明整体做法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EC2AC07E-F139-4B93-96E0-139B83D74CD9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sp>
        <p:nvSpPr>
          <p:cNvPr id="7" name="step1.dot"/>
          <p:cNvSpPr/>
          <p:nvPr/>
        </p:nvSpPr>
        <p:spPr>
          <a:xfrm>
            <a:off x="609600" y="1701800"/>
            <a:ext cx="660400" cy="6604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ep1.no"/>
          <p:cNvSpPr txBox="1"/>
          <p:nvPr/>
        </p:nvSpPr>
        <p:spPr>
          <a:xfrm>
            <a:off x="6096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9" name="step1.bg"/>
          <p:cNvSpPr/>
          <p:nvPr/>
        </p:nvSpPr>
        <p:spPr>
          <a:xfrm>
            <a:off x="609600" y="2616200"/>
            <a:ext cx="2438400" cy="2667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ep1.title"/>
          <p:cNvSpPr txBox="1"/>
          <p:nvPr/>
        </p:nvSpPr>
        <p:spPr>
          <a:xfrm>
            <a:off x="8382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0293A"/>
                </a:solidFill>
                <a:latin typeface="Arial"/>
                <a:ea typeface="微软雅黑"/>
              </a:rPr>
              <a:t>示例：第一步</a:t>
            </a:r>
          </a:p>
        </p:txBody>
      </p:sp>
      <p:sp>
        <p:nvSpPr>
          <p:cNvPr id="11" name="step1.body"/>
          <p:cNvSpPr txBox="1"/>
          <p:nvPr/>
        </p:nvSpPr>
        <p:spPr>
          <a:xfrm>
            <a:off x="8382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6707F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2" name="step2.dot"/>
          <p:cNvSpPr/>
          <p:nvPr/>
        </p:nvSpPr>
        <p:spPr>
          <a:xfrm>
            <a:off x="3454400" y="1701800"/>
            <a:ext cx="660400" cy="6604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2.no"/>
          <p:cNvSpPr txBox="1"/>
          <p:nvPr/>
        </p:nvSpPr>
        <p:spPr>
          <a:xfrm>
            <a:off x="34544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cxnSp>
        <p:nvCxnSpPr>
          <p:cNvPr id="14" name="step2.link"/>
          <p:cNvCxnSpPr/>
          <p:nvPr/>
        </p:nvCxnSpPr>
        <p:spPr>
          <a:xfrm>
            <a:off x="1422400" y="2032000"/>
            <a:ext cx="1879600" cy="0"/>
          </a:xfrm>
          <a:prstGeom prst="line">
            <a:avLst/>
          </a:prstGeom>
          <a:ln w="1905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ep2.bg"/>
          <p:cNvSpPr/>
          <p:nvPr/>
        </p:nvSpPr>
        <p:spPr>
          <a:xfrm>
            <a:off x="3454400" y="2616200"/>
            <a:ext cx="2438400" cy="2667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ep2.title"/>
          <p:cNvSpPr txBox="1"/>
          <p:nvPr/>
        </p:nvSpPr>
        <p:spPr>
          <a:xfrm>
            <a:off x="36830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0293A"/>
                </a:solidFill>
                <a:latin typeface="Arial"/>
                <a:ea typeface="微软雅黑"/>
              </a:rPr>
              <a:t>示例：第二步</a:t>
            </a:r>
          </a:p>
        </p:txBody>
      </p:sp>
      <p:sp>
        <p:nvSpPr>
          <p:cNvPr id="17" name="step2.body"/>
          <p:cNvSpPr txBox="1"/>
          <p:nvPr/>
        </p:nvSpPr>
        <p:spPr>
          <a:xfrm>
            <a:off x="36830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6707F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8" name="step3.dot"/>
          <p:cNvSpPr/>
          <p:nvPr/>
        </p:nvSpPr>
        <p:spPr>
          <a:xfrm>
            <a:off x="6299200" y="1701800"/>
            <a:ext cx="660400" cy="6604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ep3.no"/>
          <p:cNvSpPr txBox="1"/>
          <p:nvPr/>
        </p:nvSpPr>
        <p:spPr>
          <a:xfrm>
            <a:off x="62992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cxnSp>
        <p:nvCxnSpPr>
          <p:cNvPr id="20" name="step3.link"/>
          <p:cNvCxnSpPr/>
          <p:nvPr/>
        </p:nvCxnSpPr>
        <p:spPr>
          <a:xfrm>
            <a:off x="4267200" y="2032000"/>
            <a:ext cx="1879600" cy="0"/>
          </a:xfrm>
          <a:prstGeom prst="line">
            <a:avLst/>
          </a:prstGeom>
          <a:ln w="1905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3.bg"/>
          <p:cNvSpPr/>
          <p:nvPr/>
        </p:nvSpPr>
        <p:spPr>
          <a:xfrm>
            <a:off x="6299200" y="2616200"/>
            <a:ext cx="2438400" cy="2667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ep3.title"/>
          <p:cNvSpPr txBox="1"/>
          <p:nvPr/>
        </p:nvSpPr>
        <p:spPr>
          <a:xfrm>
            <a:off x="65278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0293A"/>
                </a:solidFill>
                <a:latin typeface="Arial"/>
                <a:ea typeface="微软雅黑"/>
              </a:rPr>
              <a:t>示例：第三步</a:t>
            </a:r>
          </a:p>
        </p:txBody>
      </p:sp>
      <p:sp>
        <p:nvSpPr>
          <p:cNvPr id="23" name="step3.body"/>
          <p:cNvSpPr txBox="1"/>
          <p:nvPr/>
        </p:nvSpPr>
        <p:spPr>
          <a:xfrm>
            <a:off x="65278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6707F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24" name="step4.dot"/>
          <p:cNvSpPr/>
          <p:nvPr/>
        </p:nvSpPr>
        <p:spPr>
          <a:xfrm>
            <a:off x="9144000" y="1701800"/>
            <a:ext cx="660400" cy="6604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ep4.no"/>
          <p:cNvSpPr txBox="1"/>
          <p:nvPr/>
        </p:nvSpPr>
        <p:spPr>
          <a:xfrm>
            <a:off x="91440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cxnSp>
        <p:nvCxnSpPr>
          <p:cNvPr id="26" name="step4.link"/>
          <p:cNvCxnSpPr/>
          <p:nvPr/>
        </p:nvCxnSpPr>
        <p:spPr>
          <a:xfrm>
            <a:off x="7112000" y="2032000"/>
            <a:ext cx="1879600" cy="0"/>
          </a:xfrm>
          <a:prstGeom prst="line">
            <a:avLst/>
          </a:prstGeom>
          <a:ln w="1905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ep4.bg"/>
          <p:cNvSpPr/>
          <p:nvPr/>
        </p:nvSpPr>
        <p:spPr>
          <a:xfrm>
            <a:off x="9144000" y="2616200"/>
            <a:ext cx="2438400" cy="2667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ep4.title"/>
          <p:cNvSpPr txBox="1"/>
          <p:nvPr/>
        </p:nvSpPr>
        <p:spPr>
          <a:xfrm>
            <a:off x="93726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0293A"/>
                </a:solidFill>
                <a:latin typeface="Arial"/>
                <a:ea typeface="微软雅黑"/>
              </a:rPr>
              <a:t>示例：第四步</a:t>
            </a:r>
          </a:p>
        </p:txBody>
      </p:sp>
      <p:sp>
        <p:nvSpPr>
          <p:cNvPr id="29" name="step4.body"/>
          <p:cNvSpPr txBox="1"/>
          <p:nvPr/>
        </p:nvSpPr>
        <p:spPr>
          <a:xfrm>
            <a:off x="93726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6707F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示例：时间轴页的标题写出发展主线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DEAA4885-0553-4CB3-8BCD-6AC27495E922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cxnSp>
        <p:nvCxnSpPr>
          <p:cNvPr id="7" name="deco.axis"/>
          <p:cNvCxnSpPr/>
          <p:nvPr/>
        </p:nvCxnSpPr>
        <p:spPr>
          <a:xfrm>
            <a:off x="609600" y="2997200"/>
            <a:ext cx="10972800" cy="0"/>
          </a:xfrm>
          <a:prstGeom prst="line">
            <a:avLst/>
          </a:prstGeom>
          <a:ln w="2540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ode1.dot"/>
          <p:cNvSpPr/>
          <p:nvPr/>
        </p:nvSpPr>
        <p:spPr>
          <a:xfrm>
            <a:off x="660400" y="2908300"/>
            <a:ext cx="177800" cy="177800"/>
          </a:xfrm>
          <a:prstGeom prst="ellipse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node1.time"/>
          <p:cNvSpPr txBox="1"/>
          <p:nvPr/>
        </p:nvSpPr>
        <p:spPr>
          <a:xfrm>
            <a:off x="60960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A4A"/>
                </a:solidFill>
                <a:latin typeface="Arial"/>
                <a:ea typeface="微软雅黑"/>
              </a:rPr>
              <a:t>2022</a:t>
            </a:r>
          </a:p>
        </p:txBody>
      </p:sp>
      <p:sp>
        <p:nvSpPr>
          <p:cNvPr id="10" name="node1.title"/>
          <p:cNvSpPr txBox="1"/>
          <p:nvPr/>
        </p:nvSpPr>
        <p:spPr>
          <a:xfrm>
            <a:off x="60960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0293A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1" name="node1.body"/>
          <p:cNvSpPr txBox="1"/>
          <p:nvPr/>
        </p:nvSpPr>
        <p:spPr>
          <a:xfrm>
            <a:off x="60960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2" name="node2.dot"/>
          <p:cNvSpPr/>
          <p:nvPr/>
        </p:nvSpPr>
        <p:spPr>
          <a:xfrm>
            <a:off x="2854960" y="2908300"/>
            <a:ext cx="177800" cy="177800"/>
          </a:xfrm>
          <a:prstGeom prst="ellipse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node2.time"/>
          <p:cNvSpPr txBox="1"/>
          <p:nvPr/>
        </p:nvSpPr>
        <p:spPr>
          <a:xfrm>
            <a:off x="280416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A4A"/>
                </a:solidFill>
                <a:latin typeface="Arial"/>
                <a:ea typeface="微软雅黑"/>
              </a:rPr>
              <a:t>2023</a:t>
            </a:r>
          </a:p>
        </p:txBody>
      </p:sp>
      <p:sp>
        <p:nvSpPr>
          <p:cNvPr id="14" name="node2.title"/>
          <p:cNvSpPr txBox="1"/>
          <p:nvPr/>
        </p:nvSpPr>
        <p:spPr>
          <a:xfrm>
            <a:off x="280416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0293A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5" name="node2.body"/>
          <p:cNvSpPr txBox="1"/>
          <p:nvPr/>
        </p:nvSpPr>
        <p:spPr>
          <a:xfrm>
            <a:off x="280416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6" name="node3.dot"/>
          <p:cNvSpPr/>
          <p:nvPr/>
        </p:nvSpPr>
        <p:spPr>
          <a:xfrm>
            <a:off x="5049520" y="2908300"/>
            <a:ext cx="177800" cy="177800"/>
          </a:xfrm>
          <a:prstGeom prst="ellipse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ode3.time"/>
          <p:cNvSpPr txBox="1"/>
          <p:nvPr/>
        </p:nvSpPr>
        <p:spPr>
          <a:xfrm>
            <a:off x="499872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A4A"/>
                </a:solidFill>
                <a:latin typeface="Arial"/>
                <a:ea typeface="微软雅黑"/>
              </a:rPr>
              <a:t>2024</a:t>
            </a:r>
          </a:p>
        </p:txBody>
      </p:sp>
      <p:sp>
        <p:nvSpPr>
          <p:cNvPr id="18" name="node3.title"/>
          <p:cNvSpPr txBox="1"/>
          <p:nvPr/>
        </p:nvSpPr>
        <p:spPr>
          <a:xfrm>
            <a:off x="499872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0293A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9" name="node3.body"/>
          <p:cNvSpPr txBox="1"/>
          <p:nvPr/>
        </p:nvSpPr>
        <p:spPr>
          <a:xfrm>
            <a:off x="499872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0" name="node4.dot"/>
          <p:cNvSpPr/>
          <p:nvPr/>
        </p:nvSpPr>
        <p:spPr>
          <a:xfrm>
            <a:off x="7244080" y="2908300"/>
            <a:ext cx="177800" cy="177800"/>
          </a:xfrm>
          <a:prstGeom prst="ellipse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node4.time"/>
          <p:cNvSpPr txBox="1"/>
          <p:nvPr/>
        </p:nvSpPr>
        <p:spPr>
          <a:xfrm>
            <a:off x="719328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A4A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22" name="node4.title"/>
          <p:cNvSpPr txBox="1"/>
          <p:nvPr/>
        </p:nvSpPr>
        <p:spPr>
          <a:xfrm>
            <a:off x="719328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0293A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3" name="node4.body"/>
          <p:cNvSpPr txBox="1"/>
          <p:nvPr/>
        </p:nvSpPr>
        <p:spPr>
          <a:xfrm>
            <a:off x="719328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4" name="node5.dot"/>
          <p:cNvSpPr/>
          <p:nvPr/>
        </p:nvSpPr>
        <p:spPr>
          <a:xfrm>
            <a:off x="9438640" y="2908300"/>
            <a:ext cx="177800" cy="177800"/>
          </a:xfrm>
          <a:prstGeom prst="ellipse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node5.time"/>
          <p:cNvSpPr txBox="1"/>
          <p:nvPr/>
        </p:nvSpPr>
        <p:spPr>
          <a:xfrm>
            <a:off x="938784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A4A"/>
                </a:solidFill>
                <a:latin typeface="Arial"/>
                <a:ea typeface="微软雅黑"/>
              </a:rPr>
              <a:t>2026</a:t>
            </a:r>
          </a:p>
        </p:txBody>
      </p:sp>
      <p:sp>
        <p:nvSpPr>
          <p:cNvPr id="26" name="node5.title"/>
          <p:cNvSpPr txBox="1"/>
          <p:nvPr/>
        </p:nvSpPr>
        <p:spPr>
          <a:xfrm>
            <a:off x="938784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0293A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7" name="node5.body"/>
          <p:cNvSpPr txBox="1"/>
          <p:nvPr/>
        </p:nvSpPr>
        <p:spPr>
          <a:xfrm>
            <a:off x="938784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6707F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示例：表格页的标题写出需要关注的结论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CC299AEC-30AC-4302-9456-21D723FC87AA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09600" y="1498600"/>
          <a:ext cx="10972798" cy="25400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180114"/>
                <a:gridCol w="2873828"/>
                <a:gridCol w="2090057"/>
                <a:gridCol w="1828799"/>
              </a:tblGrid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示例：事项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责任单位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完成时限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进展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示例：重点任务一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已完成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示例：重点任务二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示例：重点任务三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2027-03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示例：重点任务四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2027-06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未启动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609600" y="42672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6707F"/>
                </a:solidFill>
                <a:latin typeface="Arial"/>
                <a:ea typeface="微软雅黑"/>
              </a:rPr>
              <a:t>示例：表下说明一句需要领导关注或协调的事项。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示例：五项指标四项达标，回款率需要关注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75059274-521E-4A30-B29D-4C3A626283E3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09600" y="1498600"/>
          <a:ext cx="10972796" cy="30480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101008"/>
                <a:gridCol w="1431234"/>
                <a:gridCol w="1431234"/>
                <a:gridCol w="1431234"/>
                <a:gridCol w="3578086"/>
              </a:tblGrid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示例：指标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目标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实际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完成率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说明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营业收入（亿元）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120.0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128.6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107%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示例：超额完成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净利润（亿元）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10.0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10.8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108%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示例：结构优化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1">
                          <a:solidFill>
                            <a:srgbClr val="B3261E"/>
                          </a:solidFill>
                          <a:latin typeface="Arial"/>
                          <a:ea typeface="微软雅黑"/>
                        </a:rPr>
                        <a:t>回款率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1">
                          <a:solidFill>
                            <a:srgbClr val="B3261E"/>
                          </a:solidFill>
                          <a:latin typeface="Arial"/>
                          <a:ea typeface="微软雅黑"/>
                        </a:rPr>
                        <a:t>95%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1">
                          <a:solidFill>
                            <a:srgbClr val="B3261E"/>
                          </a:solidFill>
                          <a:latin typeface="Arial"/>
                          <a:ea typeface="微软雅黑"/>
                        </a:rPr>
                        <a:t>86%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1">
                          <a:solidFill>
                            <a:srgbClr val="B3261E"/>
                          </a:solidFill>
                          <a:latin typeface="Arial"/>
                          <a:ea typeface="微软雅黑"/>
                        </a:rPr>
                        <a:t>91%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1">
                          <a:solidFill>
                            <a:srgbClr val="B3261E"/>
                          </a:solidFill>
                          <a:latin typeface="Arial"/>
                          <a:ea typeface="微软雅黑"/>
                        </a:rPr>
                        <a:t>示例：两个大项目延期付款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BE9E7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新签合同（亿元）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150.0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162.3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108%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示例：新签大单两项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安全生产事故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达标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0293A"/>
                          </a:solidFill>
                          <a:latin typeface="Arial"/>
                          <a:ea typeface="微软雅黑"/>
                        </a:rPr>
                        <a:t>示例：全年无事故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F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alert.bg"/>
          <p:cNvSpPr/>
          <p:nvPr/>
        </p:nvSpPr>
        <p:spPr>
          <a:xfrm>
            <a:off x="609600" y="4749800"/>
            <a:ext cx="10972800" cy="660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lert.flag"/>
          <p:cNvSpPr/>
          <p:nvPr/>
        </p:nvSpPr>
        <p:spPr>
          <a:xfrm>
            <a:off x="609600" y="4749800"/>
            <a:ext cx="76200" cy="6604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alert.text"/>
          <p:cNvSpPr txBox="1"/>
          <p:nvPr/>
        </p:nvSpPr>
        <p:spPr>
          <a:xfrm>
            <a:off x="889000" y="4749800"/>
            <a:ext cx="104648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0293A"/>
                </a:solidFill>
                <a:latin typeface="Arial"/>
                <a:ea typeface="微软雅黑"/>
              </a:rPr>
              <a:t>示例：异常说明——哪一项没达标、原因、补救动作和时间。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304800"/>
            <a:ext cx="355600" cy="38100"/>
          </a:xfrm>
          <a:prstGeom prst="rect">
            <a:avLst/>
          </a:prstGeom>
          <a:solidFill>
            <a:srgbClr val="B89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955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B2A4A"/>
                </a:solidFill>
                <a:latin typeface="Arial"/>
                <a:ea typeface="微软雅黑"/>
              </a:rPr>
              <a:t>示例：收入增长主要来自销量，汇率拖累 1.6 亿元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4770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6707F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451600"/>
            <a:ext cx="762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26EE1BDD-72DA-415A-9F35-6D833EB3DE58}" type="slidenum">
              <a:rPr lang="zh-CN" sz="1000">
                <a:solidFill>
                  <a:srgbClr val="66707F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609600" y="1498600"/>
          <a:ext cx="7366000" cy="419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sight.bg"/>
          <p:cNvSpPr/>
          <p:nvPr/>
        </p:nvSpPr>
        <p:spPr>
          <a:xfrm>
            <a:off x="8280400" y="1498600"/>
            <a:ext cx="3302000" cy="4191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nsight.title"/>
          <p:cNvSpPr txBox="1"/>
          <p:nvPr/>
        </p:nvSpPr>
        <p:spPr>
          <a:xfrm>
            <a:off x="8534400" y="17780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0293A"/>
                </a:solidFill>
                <a:latin typeface="Arial"/>
                <a:ea typeface="微软雅黑"/>
              </a:rPr>
              <a:t>示例：对账结论</a:t>
            </a:r>
          </a:p>
        </p:txBody>
      </p:sp>
      <p:sp>
        <p:nvSpPr>
          <p:cNvPr id="10" name="insight.body"/>
          <p:cNvSpPr txBox="1"/>
          <p:nvPr/>
        </p:nvSpPr>
        <p:spPr>
          <a:xfrm>
            <a:off x="8534400" y="2463800"/>
            <a:ext cx="2794000" cy="292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示例：起点加各项贡献等于终点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示例：最大正向贡献及原因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B8955A"/>
              </a:buClr>
              <a:buFont typeface="Arial"/>
              <a:buChar char="•"/>
            </a:pPr>
            <a:r>
              <a:rPr sz="1400" b="0">
                <a:solidFill>
                  <a:srgbClr val="20293A"/>
                </a:solidFill>
                <a:latin typeface="Arial"/>
                <a:ea typeface="微软雅黑"/>
              </a:rPr>
              <a:t>示例：最大拖累及应对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609600" y="5816600"/>
            <a:ext cx="736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707F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14400" y="2413000"/>
            <a:ext cx="8128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微软雅黑"/>
              </a:rPr>
              <a:t>感谢聆听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4544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3CCDA"/>
                </a:solidFill>
                <a:latin typeface="Arial"/>
                <a:ea typeface="微软雅黑"/>
              </a:rPr>
              <a:t>示例：恳请各位领导批评指正</a:t>
            </a:r>
          </a:p>
        </p:txBody>
      </p:sp>
      <p:sp>
        <p:nvSpPr>
          <p:cNvPr id="5" name="contact"/>
          <p:cNvSpPr txBox="1"/>
          <p:nvPr/>
        </p:nvSpPr>
        <p:spPr>
          <a:xfrm>
            <a:off x="914400" y="55880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CDA"/>
                </a:solidFill>
                <a:latin typeface="Arial"/>
                <a:ea typeface="微软雅黑"/>
              </a:rPr>
              <a:t>示例单位 · 联系人 ·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rating">
  <a:themeElements>
    <a:clrScheme name="operating">
      <a:dk1>
        <a:srgbClr val="20293A"/>
      </a:dk1>
      <a:lt1>
        <a:srgbClr val="FFFFFF"/>
      </a:lt1>
      <a:dk2>
        <a:srgbClr val="1B2A4A"/>
      </a:dk2>
      <a:lt2>
        <a:srgbClr val="F3F5F8"/>
      </a:lt2>
      <a:accent1>
        <a:srgbClr val="1B2A4A"/>
      </a:accent1>
      <a:accent2>
        <a:srgbClr val="B8955A"/>
      </a:accent2>
      <a:accent3>
        <a:srgbClr val="44618C"/>
      </a:accent3>
      <a:accent4>
        <a:srgbClr val="66707F"/>
      </a:accent4>
      <a:accent5>
        <a:srgbClr val="C3CCDA"/>
      </a:accent5>
      <a:accent6>
        <a:srgbClr val="DADFE6"/>
      </a:accent6>
      <a:hlink>
        <a:srgbClr val="44618C"/>
      </a:hlink>
      <a:folHlink>
        <a:srgbClr val="66707F"/>
      </a:folHlink>
    </a:clrScheme>
    <a:fontScheme name="operating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经营 模板</dc:title>
  <dc:subject/>
  <dc:creator/>
  <cp:keywords/>
  <dc:description>generated using python-pptx</dc:description>
  <cp:lastModifiedBy/>
  <cp:revision>1</cp:revision>
  <dcterms:created xsi:type="dcterms:W3CDTF">2026-10-27T00:00:00Z</dcterms:created>
  <dcterms:modified xsi:type="dcterms:W3CDTF">2026-10-27T00:00:00Z</dcterms:modified>
  <cp:category/>
</cp:coreProperties>
</file>