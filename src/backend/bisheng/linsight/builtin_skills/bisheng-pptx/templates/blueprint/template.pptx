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示例：营业收入（亿元）</c:v>
                </c:pt>
              </c:strCache>
            </c:strRef>
          </c:tx>
          <c:spPr>
            <a:solidFill>
              <a:srgbClr val="123A6B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24303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82.1</c:v>
                </c:pt>
                <c:pt idx="1">
                  <c:v>95.4</c:v>
                </c:pt>
                <c:pt idx="2">
                  <c:v>108.7</c:v>
                </c:pt>
                <c:pt idx="3">
                  <c:v>121.3</c:v>
                </c:pt>
                <c:pt idx="4">
                  <c:v>136.0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EE8"/>
            </a:solidFill>
          </a:ln>
        </c:spPr>
        <c:txPr>
          <a:bodyPr/>
          <a:lstStyle/>
          <a:p>
            <a:pPr>
              <a:defRPr sz="1000">
                <a:solidFill>
                  <a:srgbClr val="5F6B7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5DE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F6B7A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F6B7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cover（封面）：文稿开头；主标题写核心判断或文稿名称。页面上的文字均为示例，使用时整体替换。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agenda（目录）：4–5 个章节的目录。页面上的文字均为示例，使用时整体替换。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section（章节页）：章节过渡，一句话交代本章问题。页面上的文字均为示例，使用时整体替换。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statement（观点页）：一句结论加一段依据，用于关键判断。页面上的文字均为示例，使用时整体替换。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two-column（图文两栏）：左侧要点、右侧照片或截图。页面上的文字均为示例，使用时整体替换。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cards-3（三卡片）：三个并列的举措、成果或特点。页面上的文字均为示例，使用时整体替换。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cards-4（四卡片）：四个维度或四项工作。页面上的文字均为示例，使用时整体替换。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kpi-4（关键指标）：3–4 个关键数字加一句解读。页面上的文字均为示例，使用时整体替换。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chart-insight（图表加解读）：一张趋势或对比图，右侧写读图结论。页面上的文字均为示例，使用时整体替换。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compare（对比）：两个方案、改革前后、我们与对标的对比。页面上的文字均为示例，使用时整体替换。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process（流程）：3–4 个有先后顺序的步骤。页面上的文字均为示例，使用时整体替换。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timeline（时间轴）：3–5 个时间节点的历程或计划。页面上的文字均为示例，使用时整体替换。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table（表格）：任务清单、责任分工、多维对照。页面上的文字均为示例，使用时整体替换。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architecture（分层架构）：系统或组织的分层结构，自下而上。页面上的文字均为示例，使用时整体替换。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risk-register（风险登记）：主要风险、等级、应对措施与责任人。页面上的文字均为示例，使用时整体替换。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示例版式 closing（结尾页）：致谢与联系方式。页面上的文字均为示例，使用时整体替换。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kicker"/>
          <p:cNvSpPr txBox="1"/>
          <p:nvPr/>
        </p:nvSpPr>
        <p:spPr>
          <a:xfrm>
            <a:off x="914400" y="1498600"/>
            <a:ext cx="787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39A2D"/>
                </a:solidFill>
                <a:latin typeface="Arial"/>
                <a:ea typeface="微软雅黑"/>
              </a:rPr>
              <a:t>示例 · 2026 年度工作汇报</a:t>
            </a:r>
          </a:p>
        </p:txBody>
      </p:sp>
      <p:sp>
        <p:nvSpPr>
          <p:cNvPr id="15" name="deco.tab"/>
          <p:cNvSpPr/>
          <p:nvPr/>
        </p:nvSpPr>
        <p:spPr>
          <a:xfrm>
            <a:off x="914400" y="1854200"/>
            <a:ext cx="558800" cy="63500"/>
          </a:xfrm>
          <a:prstGeom prst="rect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itle"/>
          <p:cNvSpPr txBox="1"/>
          <p:nvPr/>
        </p:nvSpPr>
        <p:spPr>
          <a:xfrm>
            <a:off x="914400" y="2057400"/>
            <a:ext cx="78740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示例：主标题写一句核心判断或文稿名称</a:t>
            </a:r>
          </a:p>
        </p:txBody>
      </p:sp>
      <p:sp>
        <p:nvSpPr>
          <p:cNvPr id="17" name="subtitle"/>
          <p:cNvSpPr txBox="1"/>
          <p:nvPr/>
        </p:nvSpPr>
        <p:spPr>
          <a:xfrm>
            <a:off x="914400" y="3886200"/>
            <a:ext cx="7874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C9DE"/>
                </a:solidFill>
                <a:latin typeface="Arial"/>
                <a:ea typeface="微软雅黑"/>
              </a:rPr>
              <a:t>示例：副标题补充范围、时间或汇报对象</a:t>
            </a:r>
          </a:p>
        </p:txBody>
      </p:sp>
      <p:sp>
        <p:nvSpPr>
          <p:cNvPr id="18" name="org"/>
          <p:cNvSpPr txBox="1"/>
          <p:nvPr/>
        </p:nvSpPr>
        <p:spPr>
          <a:xfrm>
            <a:off x="914400" y="5867400"/>
            <a:ext cx="660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ial"/>
                <a:ea typeface="微软雅黑"/>
              </a:rPr>
              <a:t>示例单位名称</a:t>
            </a:r>
          </a:p>
        </p:txBody>
      </p:sp>
      <p:sp>
        <p:nvSpPr>
          <p:cNvPr id="19" name="date"/>
          <p:cNvSpPr txBox="1"/>
          <p:nvPr/>
        </p:nvSpPr>
        <p:spPr>
          <a:xfrm>
            <a:off x="914400" y="6197600"/>
            <a:ext cx="660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B8C9DE"/>
                </a:solidFill>
                <a:latin typeface="Arial"/>
                <a:ea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1625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E39A2D"/>
                </a:solidFill>
                <a:latin typeface="Arial"/>
                <a:ea typeface="微软雅黑"/>
              </a:rPr>
              <a:t>CONTENTS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1905000"/>
            <a:ext cx="406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23A6B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item1.no"/>
          <p:cNvSpPr txBox="1"/>
          <p:nvPr/>
        </p:nvSpPr>
        <p:spPr>
          <a:xfrm>
            <a:off x="5334000" y="1524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item1.text"/>
          <p:cNvSpPr txBox="1"/>
          <p:nvPr/>
        </p:nvSpPr>
        <p:spPr>
          <a:xfrm>
            <a:off x="6248400" y="1600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示例：经营概况</a:t>
            </a:r>
          </a:p>
        </p:txBody>
      </p:sp>
      <p:cxnSp>
        <p:nvCxnSpPr>
          <p:cNvPr id="6" name="item1.rule"/>
          <p:cNvCxnSpPr/>
          <p:nvPr/>
        </p:nvCxnSpPr>
        <p:spPr>
          <a:xfrm>
            <a:off x="5334000" y="2235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tem2.no"/>
          <p:cNvSpPr txBox="1"/>
          <p:nvPr/>
        </p:nvSpPr>
        <p:spPr>
          <a:xfrm>
            <a:off x="5334000" y="2413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item2.text"/>
          <p:cNvSpPr txBox="1"/>
          <p:nvPr/>
        </p:nvSpPr>
        <p:spPr>
          <a:xfrm>
            <a:off x="6248400" y="2489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示例：重点工作进展</a:t>
            </a:r>
          </a:p>
        </p:txBody>
      </p:sp>
      <p:cxnSp>
        <p:nvCxnSpPr>
          <p:cNvPr id="9" name="item2.rule"/>
          <p:cNvCxnSpPr/>
          <p:nvPr/>
        </p:nvCxnSpPr>
        <p:spPr>
          <a:xfrm>
            <a:off x="5334000" y="3124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tem3.no"/>
          <p:cNvSpPr txBox="1"/>
          <p:nvPr/>
        </p:nvSpPr>
        <p:spPr>
          <a:xfrm>
            <a:off x="5334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item3.text"/>
          <p:cNvSpPr txBox="1"/>
          <p:nvPr/>
        </p:nvSpPr>
        <p:spPr>
          <a:xfrm>
            <a:off x="6248400" y="3378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示例：问题与原因分析</a:t>
            </a:r>
          </a:p>
        </p:txBody>
      </p:sp>
      <p:cxnSp>
        <p:nvCxnSpPr>
          <p:cNvPr id="12" name="item3.rule"/>
          <p:cNvCxnSpPr/>
          <p:nvPr/>
        </p:nvCxnSpPr>
        <p:spPr>
          <a:xfrm>
            <a:off x="5334000" y="4013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tem4.no"/>
          <p:cNvSpPr txBox="1"/>
          <p:nvPr/>
        </p:nvSpPr>
        <p:spPr>
          <a:xfrm>
            <a:off x="5334000" y="4191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item4.text"/>
          <p:cNvSpPr txBox="1"/>
          <p:nvPr/>
        </p:nvSpPr>
        <p:spPr>
          <a:xfrm>
            <a:off x="6248400" y="4267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示例：下一步计划</a:t>
            </a:r>
          </a:p>
        </p:txBody>
      </p:sp>
      <p:cxnSp>
        <p:nvCxnSpPr>
          <p:cNvPr id="15" name="item4.rule"/>
          <p:cNvCxnSpPr/>
          <p:nvPr/>
        </p:nvCxnSpPr>
        <p:spPr>
          <a:xfrm>
            <a:off x="5334000" y="4902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tem5.no"/>
          <p:cNvSpPr txBox="1"/>
          <p:nvPr/>
        </p:nvSpPr>
        <p:spPr>
          <a:xfrm>
            <a:off x="5334000" y="5080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item5.text"/>
          <p:cNvSpPr txBox="1"/>
          <p:nvPr/>
        </p:nvSpPr>
        <p:spPr>
          <a:xfrm>
            <a:off x="6248400" y="5156200"/>
            <a:ext cx="5334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24303F"/>
                </a:solidFill>
                <a:latin typeface="Arial"/>
                <a:ea typeface="微软雅黑"/>
              </a:rPr>
              <a:t>示例：需协调事项</a:t>
            </a:r>
          </a:p>
        </p:txBody>
      </p:sp>
      <p:cxnSp>
        <p:nvCxnSpPr>
          <p:cNvPr id="18" name="item5.rule"/>
          <p:cNvCxnSpPr/>
          <p:nvPr/>
        </p:nvCxnSpPr>
        <p:spPr>
          <a:xfrm>
            <a:off x="5334000" y="5791200"/>
            <a:ext cx="62484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20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00A07FD-6E3D-4CB8-8F8E-6F43BA89C6E6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no"/>
          <p:cNvSpPr txBox="1"/>
          <p:nvPr/>
        </p:nvSpPr>
        <p:spPr>
          <a:xfrm>
            <a:off x="914400" y="1905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8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5" name="title"/>
          <p:cNvSpPr txBox="1"/>
          <p:nvPr/>
        </p:nvSpPr>
        <p:spPr>
          <a:xfrm>
            <a:off x="914400" y="3429000"/>
            <a:ext cx="812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示例：章节标题</a:t>
            </a:r>
          </a:p>
        </p:txBody>
      </p:sp>
      <p:sp>
        <p:nvSpPr>
          <p:cNvPr id="16" name="subtitle"/>
          <p:cNvSpPr txBox="1"/>
          <p:nvPr/>
        </p:nvSpPr>
        <p:spPr>
          <a:xfrm>
            <a:off x="914400" y="4318000"/>
            <a:ext cx="812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B8C9DE"/>
                </a:solidFill>
                <a:latin typeface="Arial"/>
                <a:ea typeface="微软雅黑"/>
              </a:rPr>
              <a:t>示例：一句话说明本章要回答的问题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B8C9DE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18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6A5A11E-7E7A-4A1B-A256-853E3D0A1B1D}" type="slidenum">
              <a:rPr lang="zh-CN" sz="1000">
                <a:solidFill>
                  <a:srgbClr val="B8C9DE"/>
                </a:solidFill>
                <a:latin typeface="Arial"/>
              </a:rPr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核心观点</a:t>
            </a:r>
          </a:p>
        </p:txBody>
      </p:sp>
      <p:cxnSp>
        <p:nvCxnSpPr>
          <p:cNvPr id="3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5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1966269-A7D2-406F-BF8B-640934E36604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6" name="deco.quote"/>
          <p:cNvSpPr/>
          <p:nvPr/>
        </p:nvSpPr>
        <p:spPr>
          <a:xfrm>
            <a:off x="609600" y="1701800"/>
            <a:ext cx="508000" cy="63500"/>
          </a:xfrm>
          <a:prstGeom prst="rect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statement"/>
          <p:cNvSpPr txBox="1"/>
          <p:nvPr/>
        </p:nvSpPr>
        <p:spPr>
          <a:xfrm>
            <a:off x="609600" y="1981200"/>
            <a:ext cx="10160000" cy="20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24303F"/>
                </a:solidFill>
                <a:latin typeface="Arial"/>
                <a:ea typeface="微软雅黑"/>
              </a:rPr>
              <a:t>示例：用一句完整的话写出本页结论，让听众不看其他内容也能带走它</a:t>
            </a:r>
          </a:p>
        </p:txBody>
      </p:sp>
      <p:sp>
        <p:nvSpPr>
          <p:cNvPr id="8" name="support"/>
          <p:cNvSpPr txBox="1"/>
          <p:nvPr/>
        </p:nvSpPr>
        <p:spPr>
          <a:xfrm>
            <a:off x="609600" y="4267200"/>
            <a:ext cx="83820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5F6B7A"/>
                </a:solidFill>
                <a:latin typeface="Arial"/>
                <a:ea typeface="微软雅黑"/>
              </a:rPr>
              <a:t>示例：用一两句话交代支撑这个判断的事实、数据或依据。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609600" y="59690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示例来源：填写数据或材料出处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示例：图文页的标题写本页结论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BDE97EA-91A8-46B9-BE8C-1BE09C9B3B27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549400"/>
            <a:ext cx="508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示例：先用一句加粗的话点题，再展开要点。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09600" y="2438400"/>
            <a:ext cx="5080000" cy="330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0000"/>
              </a:lnSpc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示例要点一：写事实或做法，一行一个要点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示例要点二：数字要带单位和期间</a:t>
            </a:r>
          </a:p>
          <a:p>
            <a:pPr algn="l" marL="177800" indent="-177800">
              <a:lnSpc>
                <a:spcPct val="130000"/>
              </a:lnSpc>
              <a:spcBef>
                <a:spcPts val="525"/>
              </a:spcBef>
              <a:buClr>
                <a:srgbClr val="E39A2D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  <a:latin typeface="Arial"/>
                <a:ea typeface="微软雅黑"/>
              </a:rPr>
              <a:t>示例要点三：最多五条，放不下就拆页</a:t>
            </a:r>
          </a:p>
        </p:txBody>
      </p:sp>
      <p:sp>
        <p:nvSpPr>
          <p:cNvPr id="9" name="image.box"/>
          <p:cNvSpPr/>
          <p:nvPr/>
        </p:nvSpPr>
        <p:spPr>
          <a:xfrm>
            <a:off x="6096000" y="1498600"/>
            <a:ext cx="5486400" cy="43688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mage.label"/>
          <p:cNvSpPr txBox="1"/>
          <p:nvPr/>
        </p:nvSpPr>
        <p:spPr>
          <a:xfrm>
            <a:off x="6400800" y="3530600"/>
            <a:ext cx="4876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示例：图片区，替换为现场照片或产品截图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示例：三个并列要点的总标题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34F16BD-E57F-448C-8565-4EB8D6D10871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ad"/>
          <p:cNvSpPr txBox="1"/>
          <p:nvPr/>
        </p:nvSpPr>
        <p:spPr>
          <a:xfrm>
            <a:off x="609600" y="1498600"/>
            <a:ext cx="109728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F6B7A"/>
                </a:solidFill>
                <a:latin typeface="Arial"/>
                <a:ea typeface="微软雅黑"/>
              </a:rPr>
              <a:t>示例：一句话说明这三点之间的关系或共同指向。</a:t>
            </a:r>
          </a:p>
        </p:txBody>
      </p:sp>
      <p:sp>
        <p:nvSpPr>
          <p:cNvPr id="8" name="card1.bg"/>
          <p:cNvSpPr/>
          <p:nvPr/>
        </p:nvSpPr>
        <p:spPr>
          <a:xfrm>
            <a:off x="6096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rd1.no"/>
          <p:cNvSpPr txBox="1"/>
          <p:nvPr/>
        </p:nvSpPr>
        <p:spPr>
          <a:xfrm>
            <a:off x="9144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0" name="card1.title"/>
          <p:cNvSpPr txBox="1"/>
          <p:nvPr/>
        </p:nvSpPr>
        <p:spPr>
          <a:xfrm>
            <a:off x="9144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示例：要点一的小标题</a:t>
            </a:r>
          </a:p>
        </p:txBody>
      </p:sp>
      <p:sp>
        <p:nvSpPr>
          <p:cNvPr id="11" name="card1.body"/>
          <p:cNvSpPr txBox="1"/>
          <p:nvPr/>
        </p:nvSpPr>
        <p:spPr>
          <a:xfrm>
            <a:off x="9144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2" name="card2.bg"/>
          <p:cNvSpPr/>
          <p:nvPr/>
        </p:nvSpPr>
        <p:spPr>
          <a:xfrm>
            <a:off x="43688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rd2.no"/>
          <p:cNvSpPr txBox="1"/>
          <p:nvPr/>
        </p:nvSpPr>
        <p:spPr>
          <a:xfrm>
            <a:off x="46736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card2.title"/>
          <p:cNvSpPr txBox="1"/>
          <p:nvPr/>
        </p:nvSpPr>
        <p:spPr>
          <a:xfrm>
            <a:off x="46736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示例：要点二的小标题</a:t>
            </a:r>
          </a:p>
        </p:txBody>
      </p:sp>
      <p:sp>
        <p:nvSpPr>
          <p:cNvPr id="15" name="card2.body"/>
          <p:cNvSpPr txBox="1"/>
          <p:nvPr/>
        </p:nvSpPr>
        <p:spPr>
          <a:xfrm>
            <a:off x="46736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  <p:sp>
        <p:nvSpPr>
          <p:cNvPr id="16" name="card3.bg"/>
          <p:cNvSpPr/>
          <p:nvPr/>
        </p:nvSpPr>
        <p:spPr>
          <a:xfrm>
            <a:off x="8128000" y="2159000"/>
            <a:ext cx="3454400" cy="31750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rd3.no"/>
          <p:cNvSpPr txBox="1"/>
          <p:nvPr/>
        </p:nvSpPr>
        <p:spPr>
          <a:xfrm>
            <a:off x="8432800" y="24384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8" name="card3.title"/>
          <p:cNvSpPr txBox="1"/>
          <p:nvPr/>
        </p:nvSpPr>
        <p:spPr>
          <a:xfrm>
            <a:off x="8432800" y="2997200"/>
            <a:ext cx="2844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示例：要点三的小标题</a:t>
            </a:r>
          </a:p>
        </p:txBody>
      </p:sp>
      <p:sp>
        <p:nvSpPr>
          <p:cNvPr id="19" name="card3.body"/>
          <p:cNvSpPr txBox="1"/>
          <p:nvPr/>
        </p:nvSpPr>
        <p:spPr>
          <a:xfrm>
            <a:off x="8432800" y="3759200"/>
            <a:ext cx="2844800" cy="1346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示例：两三句话说明做了什么、带来什么变化，最好有一个数字。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示例：四项工作或四个维度的总标题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285035C-927C-4A3E-BCC9-AE9092F2D680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card1.bg"/>
          <p:cNvSpPr/>
          <p:nvPr/>
        </p:nvSpPr>
        <p:spPr>
          <a:xfrm>
            <a:off x="609600" y="14986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ard1.no"/>
          <p:cNvSpPr txBox="1"/>
          <p:nvPr/>
        </p:nvSpPr>
        <p:spPr>
          <a:xfrm>
            <a:off x="9144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" name="card1.title"/>
          <p:cNvSpPr txBox="1"/>
          <p:nvPr/>
        </p:nvSpPr>
        <p:spPr>
          <a:xfrm>
            <a:off x="9144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示例：维度一</a:t>
            </a:r>
          </a:p>
        </p:txBody>
      </p:sp>
      <p:sp>
        <p:nvSpPr>
          <p:cNvPr id="10" name="card1.body"/>
          <p:cNvSpPr txBox="1"/>
          <p:nvPr/>
        </p:nvSpPr>
        <p:spPr>
          <a:xfrm>
            <a:off x="9144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1" name="card2.bg"/>
          <p:cNvSpPr/>
          <p:nvPr/>
        </p:nvSpPr>
        <p:spPr>
          <a:xfrm>
            <a:off x="6223000" y="14986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rd2.no"/>
          <p:cNvSpPr txBox="1"/>
          <p:nvPr/>
        </p:nvSpPr>
        <p:spPr>
          <a:xfrm>
            <a:off x="6527800" y="17780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3" name="card2.title"/>
          <p:cNvSpPr txBox="1"/>
          <p:nvPr/>
        </p:nvSpPr>
        <p:spPr>
          <a:xfrm>
            <a:off x="6527800" y="23368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示例：维度二</a:t>
            </a:r>
          </a:p>
        </p:txBody>
      </p:sp>
      <p:sp>
        <p:nvSpPr>
          <p:cNvPr id="14" name="card2.body"/>
          <p:cNvSpPr txBox="1"/>
          <p:nvPr/>
        </p:nvSpPr>
        <p:spPr>
          <a:xfrm>
            <a:off x="6527800" y="27432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5" name="card3.bg"/>
          <p:cNvSpPr/>
          <p:nvPr/>
        </p:nvSpPr>
        <p:spPr>
          <a:xfrm>
            <a:off x="609600" y="38862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rd3.no"/>
          <p:cNvSpPr txBox="1"/>
          <p:nvPr/>
        </p:nvSpPr>
        <p:spPr>
          <a:xfrm>
            <a:off x="9144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card3.title"/>
          <p:cNvSpPr txBox="1"/>
          <p:nvPr/>
        </p:nvSpPr>
        <p:spPr>
          <a:xfrm>
            <a:off x="9144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示例：维度三</a:t>
            </a:r>
          </a:p>
        </p:txBody>
      </p:sp>
      <p:sp>
        <p:nvSpPr>
          <p:cNvPr id="18" name="card3.body"/>
          <p:cNvSpPr txBox="1"/>
          <p:nvPr/>
        </p:nvSpPr>
        <p:spPr>
          <a:xfrm>
            <a:off x="9144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  <p:sp>
        <p:nvSpPr>
          <p:cNvPr id="19" name="card4.bg"/>
          <p:cNvSpPr/>
          <p:nvPr/>
        </p:nvSpPr>
        <p:spPr>
          <a:xfrm>
            <a:off x="6223000" y="3886200"/>
            <a:ext cx="5359400" cy="2133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rd4.no"/>
          <p:cNvSpPr txBox="1"/>
          <p:nvPr/>
        </p:nvSpPr>
        <p:spPr>
          <a:xfrm>
            <a:off x="6527800" y="4165600"/>
            <a:ext cx="1016000" cy="431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39A2D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1" name="card4.title"/>
          <p:cNvSpPr txBox="1"/>
          <p:nvPr/>
        </p:nvSpPr>
        <p:spPr>
          <a:xfrm>
            <a:off x="6527800" y="4724400"/>
            <a:ext cx="47498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示例：维度四</a:t>
            </a:r>
          </a:p>
        </p:txBody>
      </p:sp>
      <p:sp>
        <p:nvSpPr>
          <p:cNvPr id="22" name="card4.body"/>
          <p:cNvSpPr txBox="1"/>
          <p:nvPr/>
        </p:nvSpPr>
        <p:spPr>
          <a:xfrm>
            <a:off x="6527800" y="5130800"/>
            <a:ext cx="47498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F6B7A"/>
                </a:solidFill>
                <a:latin typeface="Arial"/>
                <a:ea typeface="微软雅黑"/>
              </a:rPr>
              <a:t>示例：一两句话写清现状与成效。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示例：用四个关键指标概括本期成绩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6E586EE-7B6D-4FE0-A273-28A032BC40E1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kpi1.number"/>
          <p:cNvSpPr txBox="1"/>
          <p:nvPr/>
        </p:nvSpPr>
        <p:spPr>
          <a:xfrm>
            <a:off x="6096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128.6</a:t>
            </a:r>
          </a:p>
        </p:txBody>
      </p:sp>
      <p:sp>
        <p:nvSpPr>
          <p:cNvPr id="8" name="kpi1.unit"/>
          <p:cNvSpPr txBox="1"/>
          <p:nvPr/>
        </p:nvSpPr>
        <p:spPr>
          <a:xfrm>
            <a:off x="6096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示例单位：亿元</a:t>
            </a:r>
          </a:p>
        </p:txBody>
      </p:sp>
      <p:sp>
        <p:nvSpPr>
          <p:cNvPr id="9" name="kpi1.label"/>
          <p:cNvSpPr txBox="1"/>
          <p:nvPr/>
        </p:nvSpPr>
        <p:spPr>
          <a:xfrm>
            <a:off x="6096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示例：营业收入</a:t>
            </a:r>
          </a:p>
        </p:txBody>
      </p:sp>
      <p:sp>
        <p:nvSpPr>
          <p:cNvPr id="10" name="kpi1.note"/>
          <p:cNvSpPr txBox="1"/>
          <p:nvPr/>
        </p:nvSpPr>
        <p:spPr>
          <a:xfrm>
            <a:off x="6096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1" name="kpi2.rule"/>
          <p:cNvCxnSpPr/>
          <p:nvPr/>
        </p:nvCxnSpPr>
        <p:spPr>
          <a:xfrm>
            <a:off x="32766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kpi2.number"/>
          <p:cNvSpPr txBox="1"/>
          <p:nvPr/>
        </p:nvSpPr>
        <p:spPr>
          <a:xfrm>
            <a:off x="34290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12.4%</a:t>
            </a:r>
          </a:p>
        </p:txBody>
      </p:sp>
      <p:sp>
        <p:nvSpPr>
          <p:cNvPr id="13" name="kpi2.unit"/>
          <p:cNvSpPr txBox="1"/>
          <p:nvPr/>
        </p:nvSpPr>
        <p:spPr>
          <a:xfrm>
            <a:off x="34290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示例单位：同比</a:t>
            </a:r>
          </a:p>
        </p:txBody>
      </p:sp>
      <p:sp>
        <p:nvSpPr>
          <p:cNvPr id="14" name="kpi2.label"/>
          <p:cNvSpPr txBox="1"/>
          <p:nvPr/>
        </p:nvSpPr>
        <p:spPr>
          <a:xfrm>
            <a:off x="34290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示例：增长率</a:t>
            </a:r>
          </a:p>
        </p:txBody>
      </p:sp>
      <p:sp>
        <p:nvSpPr>
          <p:cNvPr id="15" name="kpi2.note"/>
          <p:cNvSpPr txBox="1"/>
          <p:nvPr/>
        </p:nvSpPr>
        <p:spPr>
          <a:xfrm>
            <a:off x="34290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16" name="kpi3.rule"/>
          <p:cNvCxnSpPr/>
          <p:nvPr/>
        </p:nvCxnSpPr>
        <p:spPr>
          <a:xfrm>
            <a:off x="60960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kpi3.number"/>
          <p:cNvSpPr txBox="1"/>
          <p:nvPr/>
        </p:nvSpPr>
        <p:spPr>
          <a:xfrm>
            <a:off x="62484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18" name="kpi3.unit"/>
          <p:cNvSpPr txBox="1"/>
          <p:nvPr/>
        </p:nvSpPr>
        <p:spPr>
          <a:xfrm>
            <a:off x="62484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示例单位：个</a:t>
            </a:r>
          </a:p>
        </p:txBody>
      </p:sp>
      <p:sp>
        <p:nvSpPr>
          <p:cNvPr id="19" name="kpi3.label"/>
          <p:cNvSpPr txBox="1"/>
          <p:nvPr/>
        </p:nvSpPr>
        <p:spPr>
          <a:xfrm>
            <a:off x="62484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示例：新签项目</a:t>
            </a:r>
          </a:p>
        </p:txBody>
      </p:sp>
      <p:sp>
        <p:nvSpPr>
          <p:cNvPr id="20" name="kpi3.note"/>
          <p:cNvSpPr txBox="1"/>
          <p:nvPr/>
        </p:nvSpPr>
        <p:spPr>
          <a:xfrm>
            <a:off x="62484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cxnSp>
        <p:nvCxnSpPr>
          <p:cNvPr id="21" name="kpi4.rule"/>
          <p:cNvCxnSpPr/>
          <p:nvPr/>
        </p:nvCxnSpPr>
        <p:spPr>
          <a:xfrm>
            <a:off x="8915400" y="2006600"/>
            <a:ext cx="0" cy="254000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kpi4.number"/>
          <p:cNvSpPr txBox="1"/>
          <p:nvPr/>
        </p:nvSpPr>
        <p:spPr>
          <a:xfrm>
            <a:off x="9067800" y="19558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23A6B"/>
                </a:solidFill>
                <a:latin typeface="Arial"/>
                <a:ea typeface="微软雅黑"/>
              </a:rPr>
              <a:t>98.7%</a:t>
            </a:r>
          </a:p>
        </p:txBody>
      </p:sp>
      <p:sp>
        <p:nvSpPr>
          <p:cNvPr id="23" name="kpi4.unit"/>
          <p:cNvSpPr txBox="1"/>
          <p:nvPr/>
        </p:nvSpPr>
        <p:spPr>
          <a:xfrm>
            <a:off x="9067800" y="2819400"/>
            <a:ext cx="2514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示例单位：全年</a:t>
            </a:r>
          </a:p>
        </p:txBody>
      </p:sp>
      <p:sp>
        <p:nvSpPr>
          <p:cNvPr id="24" name="kpi4.label"/>
          <p:cNvSpPr txBox="1"/>
          <p:nvPr/>
        </p:nvSpPr>
        <p:spPr>
          <a:xfrm>
            <a:off x="9067800" y="3225800"/>
            <a:ext cx="25146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24303F"/>
                </a:solidFill>
                <a:latin typeface="Arial"/>
                <a:ea typeface="微软雅黑"/>
              </a:rPr>
              <a:t>示例：交付准时率</a:t>
            </a:r>
          </a:p>
        </p:txBody>
      </p:sp>
      <p:sp>
        <p:nvSpPr>
          <p:cNvPr id="25" name="kpi4.note"/>
          <p:cNvSpPr txBox="1"/>
          <p:nvPr/>
        </p:nvSpPr>
        <p:spPr>
          <a:xfrm>
            <a:off x="9067800" y="3632200"/>
            <a:ext cx="2514600" cy="812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示例：一句话说明口径或变化原因</a:t>
            </a:r>
          </a:p>
        </p:txBody>
      </p:sp>
      <p:sp>
        <p:nvSpPr>
          <p:cNvPr id="26" name="takeaway.bg"/>
          <p:cNvSpPr/>
          <p:nvPr/>
        </p:nvSpPr>
        <p:spPr>
          <a:xfrm>
            <a:off x="609600" y="4876800"/>
            <a:ext cx="10972800" cy="762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akeaway.text"/>
          <p:cNvSpPr txBox="1"/>
          <p:nvPr/>
        </p:nvSpPr>
        <p:spPr>
          <a:xfrm>
            <a:off x="863600" y="4876800"/>
            <a:ext cx="104648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示例：一句话解读这组数字说明了什么。</a:t>
            </a:r>
          </a:p>
        </p:txBody>
      </p:sp>
      <p:sp>
        <p:nvSpPr>
          <p:cNvPr id="28" name="source"/>
          <p:cNvSpPr txBox="1"/>
          <p:nvPr/>
        </p:nvSpPr>
        <p:spPr>
          <a:xfrm>
            <a:off x="609600" y="5791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示例：图表页的标题直接写出数据结论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550375E-4FF3-4DCB-A53B-5C4B5AC01CE6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chart"/>
          <p:cNvGraphicFramePr>
            <a:graphicFrameLocks noGrp="1"/>
          </p:cNvGraphicFramePr>
          <p:nvPr/>
        </p:nvGraphicFramePr>
        <p:xfrm>
          <a:off x="609600" y="1498600"/>
          <a:ext cx="7112000" cy="4191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.bg"/>
          <p:cNvSpPr/>
          <p:nvPr/>
        </p:nvSpPr>
        <p:spPr>
          <a:xfrm>
            <a:off x="8026400" y="1498600"/>
            <a:ext cx="3556000" cy="4191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nsight.title"/>
          <p:cNvSpPr txBox="1"/>
          <p:nvPr/>
        </p:nvSpPr>
        <p:spPr>
          <a:xfrm>
            <a:off x="8280400" y="17780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4303F"/>
                </a:solidFill>
                <a:latin typeface="Arial"/>
                <a:ea typeface="微软雅黑"/>
              </a:rPr>
              <a:t>示例：读图要点</a:t>
            </a:r>
          </a:p>
        </p:txBody>
      </p:sp>
      <p:sp>
        <p:nvSpPr>
          <p:cNvPr id="10" name="insight.body"/>
          <p:cNvSpPr txBox="1"/>
          <p:nvPr/>
        </p:nvSpPr>
        <p:spPr>
          <a:xfrm>
            <a:off x="8280400" y="2463800"/>
            <a:ext cx="3048000" cy="292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示例：拐点或异常出现在哪里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示例：原因是什么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示例：意味着什么、要做什么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609600" y="58166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F6B7A"/>
                </a:solidFill>
                <a:latin typeface="Arial"/>
                <a:ea typeface="微软雅黑"/>
              </a:rPr>
              <a:t>示例来源：填写数据口径与出处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示例：对比页的标题写出取舍结论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512D654-86C3-48D3-B1C2-0193244755C8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eft.bg"/>
          <p:cNvSpPr/>
          <p:nvPr/>
        </p:nvSpPr>
        <p:spPr>
          <a:xfrm>
            <a:off x="609600" y="1498600"/>
            <a:ext cx="5334000" cy="3556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eft.head"/>
          <p:cNvSpPr/>
          <p:nvPr/>
        </p:nvSpPr>
        <p:spPr>
          <a:xfrm>
            <a:off x="609600" y="1498600"/>
            <a:ext cx="5334000" cy="5842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eft.title"/>
          <p:cNvSpPr txBox="1"/>
          <p:nvPr/>
        </p:nvSpPr>
        <p:spPr>
          <a:xfrm>
            <a:off x="8636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A / 改革前</a:t>
            </a:r>
          </a:p>
        </p:txBody>
      </p:sp>
      <p:sp>
        <p:nvSpPr>
          <p:cNvPr id="10" name="left.body"/>
          <p:cNvSpPr txBox="1"/>
          <p:nvPr/>
        </p:nvSpPr>
        <p:spPr>
          <a:xfrm>
            <a:off x="8636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1" name="right.bg"/>
          <p:cNvSpPr/>
          <p:nvPr/>
        </p:nvSpPr>
        <p:spPr>
          <a:xfrm>
            <a:off x="6248400" y="1498600"/>
            <a:ext cx="5334000" cy="3556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ight.head"/>
          <p:cNvSpPr/>
          <p:nvPr/>
        </p:nvSpPr>
        <p:spPr>
          <a:xfrm>
            <a:off x="6248400" y="1498600"/>
            <a:ext cx="5334000" cy="5842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ght.title"/>
          <p:cNvSpPr txBox="1"/>
          <p:nvPr/>
        </p:nvSpPr>
        <p:spPr>
          <a:xfrm>
            <a:off x="6502400" y="1498600"/>
            <a:ext cx="4826000" cy="584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Arial"/>
                <a:ea typeface="微软雅黑"/>
              </a:rPr>
              <a:t>示例：方案 B / 改革后</a:t>
            </a:r>
          </a:p>
        </p:txBody>
      </p:sp>
      <p:sp>
        <p:nvSpPr>
          <p:cNvPr id="14" name="right.body"/>
          <p:cNvSpPr txBox="1"/>
          <p:nvPr/>
        </p:nvSpPr>
        <p:spPr>
          <a:xfrm>
            <a:off x="6502400" y="2311400"/>
            <a:ext cx="4826000" cy="2489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5000"/>
              </a:lnSpc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示例：对比维度一的表现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示例：对比维度二的表现</a:t>
            </a:r>
          </a:p>
          <a:p>
            <a:pPr algn="l" marL="177800" indent="-177800">
              <a:lnSpc>
                <a:spcPct val="135000"/>
              </a:lnSpc>
              <a:spcBef>
                <a:spcPts val="489"/>
              </a:spcBef>
              <a:buClr>
                <a:srgbClr val="E39A2D"/>
              </a:buClr>
              <a:buFont typeface="Arial"/>
              <a:buChar char="•"/>
            </a:pPr>
            <a:r>
              <a:rPr sz="1400" b="0">
                <a:solidFill>
                  <a:srgbClr val="24303F"/>
                </a:solidFill>
                <a:latin typeface="Arial"/>
                <a:ea typeface="微软雅黑"/>
              </a:rPr>
              <a:t>示例：对比维度三的表现</a:t>
            </a:r>
          </a:p>
        </p:txBody>
      </p:sp>
      <p:sp>
        <p:nvSpPr>
          <p:cNvPr id="15" name="conclusion.bg"/>
          <p:cNvSpPr/>
          <p:nvPr/>
        </p:nvSpPr>
        <p:spPr>
          <a:xfrm>
            <a:off x="609600" y="5257800"/>
            <a:ext cx="10972800" cy="660400"/>
          </a:xfrm>
          <a:prstGeom prst="rect">
            <a:avLst/>
          </a:prstGeom>
          <a:solidFill>
            <a:srgbClr val="FFFFFF"/>
          </a:solidFill>
          <a:ln w="15875">
            <a:solidFill>
              <a:srgbClr val="E39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onclusion.text"/>
          <p:cNvSpPr txBox="1"/>
          <p:nvPr/>
        </p:nvSpPr>
        <p:spPr>
          <a:xfrm>
            <a:off x="863600" y="5257800"/>
            <a:ext cx="104648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示例结论：在什么条件下选哪一个，理由是什么。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示例：流程页的标题说明整体做法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5AF8C11-DCA5-40E1-9946-1C3E2E497930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step1.dot"/>
          <p:cNvSpPr/>
          <p:nvPr/>
        </p:nvSpPr>
        <p:spPr>
          <a:xfrm>
            <a:off x="6096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step1.no"/>
          <p:cNvSpPr txBox="1"/>
          <p:nvPr/>
        </p:nvSpPr>
        <p:spPr>
          <a:xfrm>
            <a:off x="6096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9" name="step1.bg"/>
          <p:cNvSpPr/>
          <p:nvPr/>
        </p:nvSpPr>
        <p:spPr>
          <a:xfrm>
            <a:off x="6096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step1.title"/>
          <p:cNvSpPr txBox="1"/>
          <p:nvPr/>
        </p:nvSpPr>
        <p:spPr>
          <a:xfrm>
            <a:off x="8382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示例：第一步</a:t>
            </a:r>
          </a:p>
        </p:txBody>
      </p:sp>
      <p:sp>
        <p:nvSpPr>
          <p:cNvPr id="11" name="step1.body"/>
          <p:cNvSpPr txBox="1"/>
          <p:nvPr/>
        </p:nvSpPr>
        <p:spPr>
          <a:xfrm>
            <a:off x="8382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2" name="step2.dot"/>
          <p:cNvSpPr/>
          <p:nvPr/>
        </p:nvSpPr>
        <p:spPr>
          <a:xfrm>
            <a:off x="34544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ep2.no"/>
          <p:cNvSpPr txBox="1"/>
          <p:nvPr/>
        </p:nvSpPr>
        <p:spPr>
          <a:xfrm>
            <a:off x="34544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2</a:t>
            </a:r>
          </a:p>
        </p:txBody>
      </p:sp>
      <p:cxnSp>
        <p:nvCxnSpPr>
          <p:cNvPr id="14" name="step2.link"/>
          <p:cNvCxnSpPr/>
          <p:nvPr/>
        </p:nvCxnSpPr>
        <p:spPr>
          <a:xfrm>
            <a:off x="14224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ep2.bg"/>
          <p:cNvSpPr/>
          <p:nvPr/>
        </p:nvSpPr>
        <p:spPr>
          <a:xfrm>
            <a:off x="34544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step2.title"/>
          <p:cNvSpPr txBox="1"/>
          <p:nvPr/>
        </p:nvSpPr>
        <p:spPr>
          <a:xfrm>
            <a:off x="36830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示例：第二步</a:t>
            </a:r>
          </a:p>
        </p:txBody>
      </p:sp>
      <p:sp>
        <p:nvSpPr>
          <p:cNvPr id="17" name="step2.body"/>
          <p:cNvSpPr txBox="1"/>
          <p:nvPr/>
        </p:nvSpPr>
        <p:spPr>
          <a:xfrm>
            <a:off x="36830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18" name="step3.dot"/>
          <p:cNvSpPr/>
          <p:nvPr/>
        </p:nvSpPr>
        <p:spPr>
          <a:xfrm>
            <a:off x="62992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ep3.no"/>
          <p:cNvSpPr txBox="1"/>
          <p:nvPr/>
        </p:nvSpPr>
        <p:spPr>
          <a:xfrm>
            <a:off x="62992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3</a:t>
            </a:r>
          </a:p>
        </p:txBody>
      </p:sp>
      <p:cxnSp>
        <p:nvCxnSpPr>
          <p:cNvPr id="20" name="step3.link"/>
          <p:cNvCxnSpPr/>
          <p:nvPr/>
        </p:nvCxnSpPr>
        <p:spPr>
          <a:xfrm>
            <a:off x="42672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3.bg"/>
          <p:cNvSpPr/>
          <p:nvPr/>
        </p:nvSpPr>
        <p:spPr>
          <a:xfrm>
            <a:off x="62992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tep3.title"/>
          <p:cNvSpPr txBox="1"/>
          <p:nvPr/>
        </p:nvSpPr>
        <p:spPr>
          <a:xfrm>
            <a:off x="65278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示例：第三步</a:t>
            </a:r>
          </a:p>
        </p:txBody>
      </p:sp>
      <p:sp>
        <p:nvSpPr>
          <p:cNvPr id="23" name="step3.body"/>
          <p:cNvSpPr txBox="1"/>
          <p:nvPr/>
        </p:nvSpPr>
        <p:spPr>
          <a:xfrm>
            <a:off x="65278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  <p:sp>
        <p:nvSpPr>
          <p:cNvPr id="24" name="step4.dot"/>
          <p:cNvSpPr/>
          <p:nvPr/>
        </p:nvSpPr>
        <p:spPr>
          <a:xfrm>
            <a:off x="9144000" y="1701800"/>
            <a:ext cx="660400" cy="660400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ep4.no"/>
          <p:cNvSpPr txBox="1"/>
          <p:nvPr/>
        </p:nvSpPr>
        <p:spPr>
          <a:xfrm>
            <a:off x="9144000" y="1701800"/>
            <a:ext cx="660400" cy="660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微软雅黑"/>
              </a:rPr>
              <a:t>4</a:t>
            </a:r>
          </a:p>
        </p:txBody>
      </p:sp>
      <p:cxnSp>
        <p:nvCxnSpPr>
          <p:cNvPr id="26" name="step4.link"/>
          <p:cNvCxnSpPr/>
          <p:nvPr/>
        </p:nvCxnSpPr>
        <p:spPr>
          <a:xfrm>
            <a:off x="7112000" y="2032000"/>
            <a:ext cx="1879600" cy="0"/>
          </a:xfrm>
          <a:prstGeom prst="line">
            <a:avLst/>
          </a:prstGeom>
          <a:ln w="1905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4.bg"/>
          <p:cNvSpPr/>
          <p:nvPr/>
        </p:nvSpPr>
        <p:spPr>
          <a:xfrm>
            <a:off x="9144000" y="2616200"/>
            <a:ext cx="2438400" cy="26670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tep4.title"/>
          <p:cNvSpPr txBox="1"/>
          <p:nvPr/>
        </p:nvSpPr>
        <p:spPr>
          <a:xfrm>
            <a:off x="9372600" y="2844800"/>
            <a:ext cx="198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24303F"/>
                </a:solidFill>
                <a:latin typeface="Arial"/>
                <a:ea typeface="微软雅黑"/>
              </a:rPr>
              <a:t>示例：第四步</a:t>
            </a:r>
          </a:p>
        </p:txBody>
      </p:sp>
      <p:sp>
        <p:nvSpPr>
          <p:cNvPr id="29" name="step4.body"/>
          <p:cNvSpPr txBox="1"/>
          <p:nvPr/>
        </p:nvSpPr>
        <p:spPr>
          <a:xfrm>
            <a:off x="9372600" y="3556000"/>
            <a:ext cx="19812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示例：这一步做什么、谁负责、产出什么。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示例：时间轴页的标题写出发展主线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935D2CF-64B4-4CAE-9E39-58A9E3895EB1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cxnSp>
        <p:nvCxnSpPr>
          <p:cNvPr id="7" name="deco.axis"/>
          <p:cNvCxnSpPr/>
          <p:nvPr/>
        </p:nvCxnSpPr>
        <p:spPr>
          <a:xfrm>
            <a:off x="609600" y="2997200"/>
            <a:ext cx="10972800" cy="0"/>
          </a:xfrm>
          <a:prstGeom prst="line">
            <a:avLst/>
          </a:prstGeom>
          <a:ln w="25400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node1.dot"/>
          <p:cNvSpPr/>
          <p:nvPr/>
        </p:nvSpPr>
        <p:spPr>
          <a:xfrm>
            <a:off x="66040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node1.time"/>
          <p:cNvSpPr txBox="1"/>
          <p:nvPr/>
        </p:nvSpPr>
        <p:spPr>
          <a:xfrm>
            <a:off x="60960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2022</a:t>
            </a:r>
          </a:p>
        </p:txBody>
      </p:sp>
      <p:sp>
        <p:nvSpPr>
          <p:cNvPr id="10" name="node1.title"/>
          <p:cNvSpPr txBox="1"/>
          <p:nvPr/>
        </p:nvSpPr>
        <p:spPr>
          <a:xfrm>
            <a:off x="60960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1" name="node1.body"/>
          <p:cNvSpPr txBox="1"/>
          <p:nvPr/>
        </p:nvSpPr>
        <p:spPr>
          <a:xfrm>
            <a:off x="60960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2" name="node2.dot"/>
          <p:cNvSpPr/>
          <p:nvPr/>
        </p:nvSpPr>
        <p:spPr>
          <a:xfrm>
            <a:off x="285496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node2.time"/>
          <p:cNvSpPr txBox="1"/>
          <p:nvPr/>
        </p:nvSpPr>
        <p:spPr>
          <a:xfrm>
            <a:off x="280416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2023</a:t>
            </a:r>
          </a:p>
        </p:txBody>
      </p:sp>
      <p:sp>
        <p:nvSpPr>
          <p:cNvPr id="14" name="node2.title"/>
          <p:cNvSpPr txBox="1"/>
          <p:nvPr/>
        </p:nvSpPr>
        <p:spPr>
          <a:xfrm>
            <a:off x="280416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5" name="node2.body"/>
          <p:cNvSpPr txBox="1"/>
          <p:nvPr/>
        </p:nvSpPr>
        <p:spPr>
          <a:xfrm>
            <a:off x="280416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16" name="node3.dot"/>
          <p:cNvSpPr/>
          <p:nvPr/>
        </p:nvSpPr>
        <p:spPr>
          <a:xfrm>
            <a:off x="504952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3.time"/>
          <p:cNvSpPr txBox="1"/>
          <p:nvPr/>
        </p:nvSpPr>
        <p:spPr>
          <a:xfrm>
            <a:off x="499872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2024</a:t>
            </a:r>
          </a:p>
        </p:txBody>
      </p:sp>
      <p:sp>
        <p:nvSpPr>
          <p:cNvPr id="18" name="node3.title"/>
          <p:cNvSpPr txBox="1"/>
          <p:nvPr/>
        </p:nvSpPr>
        <p:spPr>
          <a:xfrm>
            <a:off x="499872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19" name="node3.body"/>
          <p:cNvSpPr txBox="1"/>
          <p:nvPr/>
        </p:nvSpPr>
        <p:spPr>
          <a:xfrm>
            <a:off x="499872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0" name="node4.dot"/>
          <p:cNvSpPr/>
          <p:nvPr/>
        </p:nvSpPr>
        <p:spPr>
          <a:xfrm>
            <a:off x="724408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node4.time"/>
          <p:cNvSpPr txBox="1"/>
          <p:nvPr/>
        </p:nvSpPr>
        <p:spPr>
          <a:xfrm>
            <a:off x="719328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2025</a:t>
            </a:r>
          </a:p>
        </p:txBody>
      </p:sp>
      <p:sp>
        <p:nvSpPr>
          <p:cNvPr id="22" name="node4.title"/>
          <p:cNvSpPr txBox="1"/>
          <p:nvPr/>
        </p:nvSpPr>
        <p:spPr>
          <a:xfrm>
            <a:off x="719328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3" name="node4.body"/>
          <p:cNvSpPr txBox="1"/>
          <p:nvPr/>
        </p:nvSpPr>
        <p:spPr>
          <a:xfrm>
            <a:off x="719328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  <p:sp>
        <p:nvSpPr>
          <p:cNvPr id="24" name="node5.dot"/>
          <p:cNvSpPr/>
          <p:nvPr/>
        </p:nvSpPr>
        <p:spPr>
          <a:xfrm>
            <a:off x="9438640" y="2908300"/>
            <a:ext cx="177800" cy="177800"/>
          </a:xfrm>
          <a:prstGeom prst="ellipse">
            <a:avLst/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node5.time"/>
          <p:cNvSpPr txBox="1"/>
          <p:nvPr/>
        </p:nvSpPr>
        <p:spPr>
          <a:xfrm>
            <a:off x="9387840" y="2235200"/>
            <a:ext cx="199136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23A6B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26" name="node5.title"/>
          <p:cNvSpPr txBox="1"/>
          <p:nvPr/>
        </p:nvSpPr>
        <p:spPr>
          <a:xfrm>
            <a:off x="9387840" y="3302000"/>
            <a:ext cx="1991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示例：关键事件</a:t>
            </a:r>
          </a:p>
        </p:txBody>
      </p:sp>
      <p:sp>
        <p:nvSpPr>
          <p:cNvPr id="27" name="node5.body"/>
          <p:cNvSpPr txBox="1"/>
          <p:nvPr/>
        </p:nvSpPr>
        <p:spPr>
          <a:xfrm>
            <a:off x="9387840" y="3962400"/>
            <a:ext cx="199136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示例：一两句话说明意义或成果。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示例：表格页的标题写出需要关注的结论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E03BE59-B902-4DEE-BCF2-3F1D9FA37983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609600" y="1498600"/>
          <a:ext cx="10972798" cy="2540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180114"/>
                <a:gridCol w="2873828"/>
                <a:gridCol w="2090057"/>
                <a:gridCol w="1828799"/>
              </a:tblGrid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示例：事项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责任单位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完成时限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进展</a:t>
                      </a:r>
                    </a:p>
                  </a:txBody>
                  <a:tcPr anchor="ctr">
                    <a:solidFill>
                      <a:srgbClr val="123A6B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示例：重点任务一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已完成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2026-12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示例：重点任务三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2027-03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推进中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示例：重点任务四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示例部门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2027-06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 lIns="101600" rIns="101600" tIns="50800" bIns="50800"/>
                    <a:lstStyle/>
                    <a:p>
                      <a:r>
                        <a:rPr sz="1200" b="0">
                          <a:solidFill>
                            <a:srgbClr val="24303F"/>
                          </a:solidFill>
                          <a:latin typeface="Arial"/>
                          <a:ea typeface="微软雅黑"/>
                        </a:rPr>
                        <a:t>未启动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609600" y="42672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F6B7A"/>
                </a:solidFill>
                <a:latin typeface="Arial"/>
                <a:ea typeface="微软雅黑"/>
              </a:rPr>
              <a:t>示例：表下说明一句需要领导关注或协调的事项。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示例：总体架构分四层，自下而上支撑业务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9CCD8DF-3936-423E-BA3F-1D43B5ABBF1B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layer1.box"/>
          <p:cNvSpPr/>
          <p:nvPr/>
        </p:nvSpPr>
        <p:spPr>
          <a:xfrm>
            <a:off x="609600" y="14986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layer1.name"/>
          <p:cNvSpPr txBox="1"/>
          <p:nvPr/>
        </p:nvSpPr>
        <p:spPr>
          <a:xfrm>
            <a:off x="762000" y="14986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示例：应用层</a:t>
            </a:r>
          </a:p>
        </p:txBody>
      </p:sp>
      <p:sp>
        <p:nvSpPr>
          <p:cNvPr id="9" name="layer1.c1bg"/>
          <p:cNvSpPr/>
          <p:nvPr/>
        </p:nvSpPr>
        <p:spPr>
          <a:xfrm>
            <a:off x="2717800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layer1.c1"/>
          <p:cNvSpPr txBox="1"/>
          <p:nvPr/>
        </p:nvSpPr>
        <p:spPr>
          <a:xfrm>
            <a:off x="2870200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11" name="layer1.c2bg"/>
          <p:cNvSpPr/>
          <p:nvPr/>
        </p:nvSpPr>
        <p:spPr>
          <a:xfrm>
            <a:off x="5723466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ayer1.c2"/>
          <p:cNvSpPr txBox="1"/>
          <p:nvPr/>
        </p:nvSpPr>
        <p:spPr>
          <a:xfrm>
            <a:off x="5875866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13" name="layer1.c3bg"/>
          <p:cNvSpPr/>
          <p:nvPr/>
        </p:nvSpPr>
        <p:spPr>
          <a:xfrm>
            <a:off x="8729133" y="14986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ayer1.c3"/>
          <p:cNvSpPr txBox="1"/>
          <p:nvPr/>
        </p:nvSpPr>
        <p:spPr>
          <a:xfrm>
            <a:off x="8881533" y="14986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15" name="layer2.box"/>
          <p:cNvSpPr/>
          <p:nvPr/>
        </p:nvSpPr>
        <p:spPr>
          <a:xfrm>
            <a:off x="609600" y="26162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ayer2.name"/>
          <p:cNvSpPr txBox="1"/>
          <p:nvPr/>
        </p:nvSpPr>
        <p:spPr>
          <a:xfrm>
            <a:off x="762000" y="26162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示例：服务层</a:t>
            </a:r>
          </a:p>
        </p:txBody>
      </p:sp>
      <p:sp>
        <p:nvSpPr>
          <p:cNvPr id="17" name="layer2.c1bg"/>
          <p:cNvSpPr/>
          <p:nvPr/>
        </p:nvSpPr>
        <p:spPr>
          <a:xfrm>
            <a:off x="2717800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layer2.c1"/>
          <p:cNvSpPr txBox="1"/>
          <p:nvPr/>
        </p:nvSpPr>
        <p:spPr>
          <a:xfrm>
            <a:off x="2870200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19" name="layer2.c2bg"/>
          <p:cNvSpPr/>
          <p:nvPr/>
        </p:nvSpPr>
        <p:spPr>
          <a:xfrm>
            <a:off x="5723466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ayer2.c2"/>
          <p:cNvSpPr txBox="1"/>
          <p:nvPr/>
        </p:nvSpPr>
        <p:spPr>
          <a:xfrm>
            <a:off x="5875866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21" name="layer2.c3bg"/>
          <p:cNvSpPr/>
          <p:nvPr/>
        </p:nvSpPr>
        <p:spPr>
          <a:xfrm>
            <a:off x="8729133" y="26162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layer2.c3"/>
          <p:cNvSpPr txBox="1"/>
          <p:nvPr/>
        </p:nvSpPr>
        <p:spPr>
          <a:xfrm>
            <a:off x="8881533" y="26162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23" name="layer3.box"/>
          <p:cNvSpPr/>
          <p:nvPr/>
        </p:nvSpPr>
        <p:spPr>
          <a:xfrm>
            <a:off x="609600" y="37338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layer3.name"/>
          <p:cNvSpPr txBox="1"/>
          <p:nvPr/>
        </p:nvSpPr>
        <p:spPr>
          <a:xfrm>
            <a:off x="762000" y="37338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示例：数据层</a:t>
            </a:r>
          </a:p>
        </p:txBody>
      </p:sp>
      <p:sp>
        <p:nvSpPr>
          <p:cNvPr id="25" name="layer3.c1bg"/>
          <p:cNvSpPr/>
          <p:nvPr/>
        </p:nvSpPr>
        <p:spPr>
          <a:xfrm>
            <a:off x="2717800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layer3.c1"/>
          <p:cNvSpPr txBox="1"/>
          <p:nvPr/>
        </p:nvSpPr>
        <p:spPr>
          <a:xfrm>
            <a:off x="2870200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27" name="layer3.c2bg"/>
          <p:cNvSpPr/>
          <p:nvPr/>
        </p:nvSpPr>
        <p:spPr>
          <a:xfrm>
            <a:off x="5723466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layer3.c2"/>
          <p:cNvSpPr txBox="1"/>
          <p:nvPr/>
        </p:nvSpPr>
        <p:spPr>
          <a:xfrm>
            <a:off x="5875866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29" name="layer3.c3bg"/>
          <p:cNvSpPr/>
          <p:nvPr/>
        </p:nvSpPr>
        <p:spPr>
          <a:xfrm>
            <a:off x="8729133" y="37338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layer3.c3"/>
          <p:cNvSpPr txBox="1"/>
          <p:nvPr/>
        </p:nvSpPr>
        <p:spPr>
          <a:xfrm>
            <a:off x="8881533" y="37338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  <p:sp>
        <p:nvSpPr>
          <p:cNvPr id="31" name="layer4.box"/>
          <p:cNvSpPr/>
          <p:nvPr/>
        </p:nvSpPr>
        <p:spPr>
          <a:xfrm>
            <a:off x="609600" y="4851400"/>
            <a:ext cx="1905000" cy="990600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layer4.name"/>
          <p:cNvSpPr txBox="1"/>
          <p:nvPr/>
        </p:nvSpPr>
        <p:spPr>
          <a:xfrm>
            <a:off x="762000" y="4851400"/>
            <a:ext cx="1600200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rial"/>
                <a:ea typeface="微软雅黑"/>
              </a:rPr>
              <a:t>示例：基础设施</a:t>
            </a:r>
          </a:p>
        </p:txBody>
      </p:sp>
      <p:sp>
        <p:nvSpPr>
          <p:cNvPr id="33" name="layer4.c1bg"/>
          <p:cNvSpPr/>
          <p:nvPr/>
        </p:nvSpPr>
        <p:spPr>
          <a:xfrm>
            <a:off x="2717800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layer4.c1"/>
          <p:cNvSpPr txBox="1"/>
          <p:nvPr/>
        </p:nvSpPr>
        <p:spPr>
          <a:xfrm>
            <a:off x="2870200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示例：组件一</a:t>
            </a:r>
          </a:p>
        </p:txBody>
      </p:sp>
      <p:sp>
        <p:nvSpPr>
          <p:cNvPr id="35" name="layer4.c2bg"/>
          <p:cNvSpPr/>
          <p:nvPr/>
        </p:nvSpPr>
        <p:spPr>
          <a:xfrm>
            <a:off x="5723466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layer4.c2"/>
          <p:cNvSpPr txBox="1"/>
          <p:nvPr/>
        </p:nvSpPr>
        <p:spPr>
          <a:xfrm>
            <a:off x="5875866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示例：组件二</a:t>
            </a:r>
          </a:p>
        </p:txBody>
      </p:sp>
      <p:sp>
        <p:nvSpPr>
          <p:cNvPr id="37" name="layer4.c3bg"/>
          <p:cNvSpPr/>
          <p:nvPr/>
        </p:nvSpPr>
        <p:spPr>
          <a:xfrm>
            <a:off x="8729133" y="4851400"/>
            <a:ext cx="2853266" cy="990600"/>
          </a:xfrm>
          <a:prstGeom prst="rect">
            <a:avLst/>
          </a:prstGeom>
          <a:solidFill>
            <a:srgbClr val="EEF3F9"/>
          </a:solidFill>
          <a:ln w="9525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layer4.c3"/>
          <p:cNvSpPr txBox="1"/>
          <p:nvPr/>
        </p:nvSpPr>
        <p:spPr>
          <a:xfrm>
            <a:off x="8881533" y="4851400"/>
            <a:ext cx="2548466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示例：组件三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09600" y="381000"/>
            <a:ext cx="660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6DA4"/>
                </a:solidFill>
                <a:latin typeface="Arial"/>
                <a:ea typeface="微软雅黑"/>
              </a:rPr>
              <a:t>01 · 示例章节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35000"/>
            <a:ext cx="109728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23A6B"/>
                </a:solidFill>
                <a:latin typeface="Arial"/>
                <a:ea typeface="微软雅黑"/>
              </a:rPr>
              <a:t>示例：主要风险可控，两项需要重点盯防</a:t>
            </a:r>
          </a:p>
        </p:txBody>
      </p:sp>
      <p:cxnSp>
        <p:nvCxnSpPr>
          <p:cNvPr id="4" name="deco.rule"/>
          <p:cNvCxnSpPr/>
          <p:nvPr/>
        </p:nvCxnSpPr>
        <p:spPr>
          <a:xfrm>
            <a:off x="609600" y="12700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"/>
          <p:cNvSpPr txBox="1"/>
          <p:nvPr/>
        </p:nvSpPr>
        <p:spPr>
          <a:xfrm>
            <a:off x="609600" y="6477000"/>
            <a:ext cx="7112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5F6B7A"/>
                </a:solidFill>
                <a:latin typeface="Arial"/>
                <a:ea typeface="微软雅黑"/>
              </a:rPr>
              <a:t>示例单位 · 文稿名称</a:t>
            </a:r>
          </a:p>
        </p:txBody>
      </p:sp>
      <p:sp>
        <p:nvSpPr>
          <p:cNvPr id="6" name="deco.page"/>
          <p:cNvSpPr txBox="1"/>
          <p:nvPr/>
        </p:nvSpPr>
        <p:spPr>
          <a:xfrm>
            <a:off x="10820400" y="6451600"/>
            <a:ext cx="762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D032C7C-ACFB-4FED-A505-D2F4B24F16D1}" type="slidenum">
              <a:rPr lang="zh-CN" sz="1000">
                <a:solidFill>
                  <a:srgbClr val="5F6B7A"/>
                </a:solidFill>
                <a:latin typeface="Arial"/>
              </a:rPr>
              <a:t>‹#›</a:t>
            </a:fld>
          </a:p>
        </p:txBody>
      </p:sp>
      <p:sp>
        <p:nvSpPr>
          <p:cNvPr id="7" name="deco.h48"/>
          <p:cNvSpPr txBox="1"/>
          <p:nvPr/>
        </p:nvSpPr>
        <p:spPr>
          <a:xfrm>
            <a:off x="609600" y="14986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等级</a:t>
            </a:r>
          </a:p>
        </p:txBody>
      </p:sp>
      <p:sp>
        <p:nvSpPr>
          <p:cNvPr id="8" name="deco.h132"/>
          <p:cNvSpPr txBox="1"/>
          <p:nvPr/>
        </p:nvSpPr>
        <p:spPr>
          <a:xfrm>
            <a:off x="1676400" y="1498600"/>
            <a:ext cx="355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风险</a:t>
            </a:r>
          </a:p>
        </p:txBody>
      </p:sp>
      <p:sp>
        <p:nvSpPr>
          <p:cNvPr id="9" name="deco.h436"/>
          <p:cNvSpPr txBox="1"/>
          <p:nvPr/>
        </p:nvSpPr>
        <p:spPr>
          <a:xfrm>
            <a:off x="5537200" y="14986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应对措施</a:t>
            </a:r>
          </a:p>
        </p:txBody>
      </p:sp>
      <p:sp>
        <p:nvSpPr>
          <p:cNvPr id="10" name="deco.h780"/>
          <p:cNvSpPr txBox="1"/>
          <p:nvPr/>
        </p:nvSpPr>
        <p:spPr>
          <a:xfrm>
            <a:off x="9906000" y="149860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F6B7A"/>
                </a:solidFill>
                <a:latin typeface="Arial"/>
                <a:ea typeface="微软雅黑"/>
              </a:rPr>
              <a:t>责任人</a:t>
            </a:r>
          </a:p>
        </p:txBody>
      </p:sp>
      <p:cxnSp>
        <p:nvCxnSpPr>
          <p:cNvPr id="11" name="deco.head"/>
          <p:cNvCxnSpPr/>
          <p:nvPr/>
        </p:nvCxnSpPr>
        <p:spPr>
          <a:xfrm>
            <a:off x="609600" y="1828800"/>
            <a:ext cx="10972800" cy="0"/>
          </a:xfrm>
          <a:prstGeom prst="line">
            <a:avLst/>
          </a:prstGeom>
          <a:ln w="15875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sk1.pill"/>
          <p:cNvSpPr/>
          <p:nvPr/>
        </p:nvSpPr>
        <p:spPr>
          <a:xfrm>
            <a:off x="609600" y="21082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isk1.level"/>
          <p:cNvSpPr txBox="1"/>
          <p:nvPr/>
        </p:nvSpPr>
        <p:spPr>
          <a:xfrm>
            <a:off x="609600" y="21082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高</a:t>
            </a:r>
          </a:p>
        </p:txBody>
      </p:sp>
      <p:sp>
        <p:nvSpPr>
          <p:cNvPr id="14" name="risk1.title"/>
          <p:cNvSpPr txBox="1"/>
          <p:nvPr/>
        </p:nvSpPr>
        <p:spPr>
          <a:xfrm>
            <a:off x="1676400" y="20574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示例：风险事项一</a:t>
            </a:r>
          </a:p>
        </p:txBody>
      </p:sp>
      <p:sp>
        <p:nvSpPr>
          <p:cNvPr id="15" name="risk1.desc"/>
          <p:cNvSpPr txBox="1"/>
          <p:nvPr/>
        </p:nvSpPr>
        <p:spPr>
          <a:xfrm>
            <a:off x="1676400" y="2413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16" name="risk1.measure"/>
          <p:cNvSpPr txBox="1"/>
          <p:nvPr/>
        </p:nvSpPr>
        <p:spPr>
          <a:xfrm>
            <a:off x="5537200" y="20574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17" name="risk1.owner"/>
          <p:cNvSpPr txBox="1"/>
          <p:nvPr/>
        </p:nvSpPr>
        <p:spPr>
          <a:xfrm>
            <a:off x="9906000" y="20574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18" name="risk1.rule"/>
          <p:cNvCxnSpPr/>
          <p:nvPr/>
        </p:nvCxnSpPr>
        <p:spPr>
          <a:xfrm>
            <a:off x="609600" y="28956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isk2.pill"/>
          <p:cNvSpPr/>
          <p:nvPr/>
        </p:nvSpPr>
        <p:spPr>
          <a:xfrm>
            <a:off x="609600" y="30988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isk2.level"/>
          <p:cNvSpPr txBox="1"/>
          <p:nvPr/>
        </p:nvSpPr>
        <p:spPr>
          <a:xfrm>
            <a:off x="609600" y="30988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高</a:t>
            </a:r>
          </a:p>
        </p:txBody>
      </p:sp>
      <p:sp>
        <p:nvSpPr>
          <p:cNvPr id="21" name="risk2.title"/>
          <p:cNvSpPr txBox="1"/>
          <p:nvPr/>
        </p:nvSpPr>
        <p:spPr>
          <a:xfrm>
            <a:off x="1676400" y="30480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示例：风险事项二</a:t>
            </a:r>
          </a:p>
        </p:txBody>
      </p:sp>
      <p:sp>
        <p:nvSpPr>
          <p:cNvPr id="22" name="risk2.desc"/>
          <p:cNvSpPr txBox="1"/>
          <p:nvPr/>
        </p:nvSpPr>
        <p:spPr>
          <a:xfrm>
            <a:off x="1676400" y="3403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23" name="risk2.measure"/>
          <p:cNvSpPr txBox="1"/>
          <p:nvPr/>
        </p:nvSpPr>
        <p:spPr>
          <a:xfrm>
            <a:off x="5537200" y="30480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24" name="risk2.owner"/>
          <p:cNvSpPr txBox="1"/>
          <p:nvPr/>
        </p:nvSpPr>
        <p:spPr>
          <a:xfrm>
            <a:off x="9906000" y="30480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25" name="risk2.rule"/>
          <p:cNvCxnSpPr/>
          <p:nvPr/>
        </p:nvCxnSpPr>
        <p:spPr>
          <a:xfrm>
            <a:off x="609600" y="38862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isk3.pill"/>
          <p:cNvSpPr/>
          <p:nvPr/>
        </p:nvSpPr>
        <p:spPr>
          <a:xfrm>
            <a:off x="609600" y="40894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isk3.level"/>
          <p:cNvSpPr txBox="1"/>
          <p:nvPr/>
        </p:nvSpPr>
        <p:spPr>
          <a:xfrm>
            <a:off x="609600" y="40894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中</a:t>
            </a:r>
          </a:p>
        </p:txBody>
      </p:sp>
      <p:sp>
        <p:nvSpPr>
          <p:cNvPr id="28" name="risk3.title"/>
          <p:cNvSpPr txBox="1"/>
          <p:nvPr/>
        </p:nvSpPr>
        <p:spPr>
          <a:xfrm>
            <a:off x="1676400" y="40386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示例：风险事项三</a:t>
            </a:r>
          </a:p>
        </p:txBody>
      </p:sp>
      <p:sp>
        <p:nvSpPr>
          <p:cNvPr id="29" name="risk3.desc"/>
          <p:cNvSpPr txBox="1"/>
          <p:nvPr/>
        </p:nvSpPr>
        <p:spPr>
          <a:xfrm>
            <a:off x="1676400" y="4394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30" name="risk3.measure"/>
          <p:cNvSpPr txBox="1"/>
          <p:nvPr/>
        </p:nvSpPr>
        <p:spPr>
          <a:xfrm>
            <a:off x="5537200" y="40386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31" name="risk3.owner"/>
          <p:cNvSpPr txBox="1"/>
          <p:nvPr/>
        </p:nvSpPr>
        <p:spPr>
          <a:xfrm>
            <a:off x="9906000" y="40386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32" name="risk3.rule"/>
          <p:cNvCxnSpPr/>
          <p:nvPr/>
        </p:nvCxnSpPr>
        <p:spPr>
          <a:xfrm>
            <a:off x="609600" y="48768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isk4.pill"/>
          <p:cNvSpPr/>
          <p:nvPr/>
        </p:nvSpPr>
        <p:spPr>
          <a:xfrm>
            <a:off x="609600" y="5080000"/>
            <a:ext cx="609600" cy="304800"/>
          </a:xfrm>
          <a:prstGeom prst="roundRect">
            <a:avLst>
              <a:gd name="adj" fmla="val 50000"/>
            </a:avLst>
          </a:prstGeom>
          <a:solidFill>
            <a:srgbClr val="E39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isk4.level"/>
          <p:cNvSpPr txBox="1"/>
          <p:nvPr/>
        </p:nvSpPr>
        <p:spPr>
          <a:xfrm>
            <a:off x="609600" y="5080000"/>
            <a:ext cx="609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rial"/>
                <a:ea typeface="微软雅黑"/>
              </a:rPr>
              <a:t>中</a:t>
            </a:r>
          </a:p>
        </p:txBody>
      </p:sp>
      <p:sp>
        <p:nvSpPr>
          <p:cNvPr id="35" name="risk4.title"/>
          <p:cNvSpPr txBox="1"/>
          <p:nvPr/>
        </p:nvSpPr>
        <p:spPr>
          <a:xfrm>
            <a:off x="1676400" y="5029200"/>
            <a:ext cx="3556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4303F"/>
                </a:solidFill>
                <a:latin typeface="Arial"/>
                <a:ea typeface="微软雅黑"/>
              </a:rPr>
              <a:t>示例：风险事项四</a:t>
            </a:r>
          </a:p>
        </p:txBody>
      </p:sp>
      <p:sp>
        <p:nvSpPr>
          <p:cNvPr id="36" name="risk4.desc"/>
          <p:cNvSpPr txBox="1"/>
          <p:nvPr/>
        </p:nvSpPr>
        <p:spPr>
          <a:xfrm>
            <a:off x="16764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F6B7A"/>
                </a:solidFill>
                <a:latin typeface="Arial"/>
                <a:ea typeface="微软雅黑"/>
              </a:rPr>
              <a:t>示例：触发条件与可能影响</a:t>
            </a:r>
          </a:p>
        </p:txBody>
      </p:sp>
      <p:sp>
        <p:nvSpPr>
          <p:cNvPr id="37" name="risk4.measure"/>
          <p:cNvSpPr txBox="1"/>
          <p:nvPr/>
        </p:nvSpPr>
        <p:spPr>
          <a:xfrm>
            <a:off x="5537200" y="5029200"/>
            <a:ext cx="4064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示例：具体应对措施与验证标准</a:t>
            </a:r>
          </a:p>
        </p:txBody>
      </p:sp>
      <p:sp>
        <p:nvSpPr>
          <p:cNvPr id="38" name="risk4.owner"/>
          <p:cNvSpPr txBox="1"/>
          <p:nvPr/>
        </p:nvSpPr>
        <p:spPr>
          <a:xfrm>
            <a:off x="9906000" y="5029200"/>
            <a:ext cx="1676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4303F"/>
                </a:solidFill>
                <a:latin typeface="Arial"/>
                <a:ea typeface="微软雅黑"/>
              </a:rPr>
              <a:t>示例部门</a:t>
            </a:r>
          </a:p>
        </p:txBody>
      </p:sp>
      <p:cxnSp>
        <p:nvCxnSpPr>
          <p:cNvPr id="39" name="risk4.rule"/>
          <p:cNvCxnSpPr/>
          <p:nvPr/>
        </p:nvCxnSpPr>
        <p:spPr>
          <a:xfrm>
            <a:off x="609600" y="5867400"/>
            <a:ext cx="10972800" cy="0"/>
          </a:xfrm>
          <a:prstGeom prst="line">
            <a:avLst/>
          </a:prstGeom>
          <a:ln w="9525">
            <a:solidFill>
              <a:srgbClr val="D5DE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A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deco.gv0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deco.gv1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eco.gv2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eco.gv3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eco.gv4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eco.gv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co.gv6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co.gv7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eco.gv8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deco.gh0"/>
          <p:cNvCxnSpPr/>
          <p:nvPr/>
        </p:nvCxnSpPr>
        <p:spPr>
          <a:xfrm>
            <a:off x="0" y="1714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deco.gh1"/>
          <p:cNvCxnSpPr/>
          <p:nvPr/>
        </p:nvCxnSpPr>
        <p:spPr>
          <a:xfrm>
            <a:off x="0" y="34290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deco.gh2"/>
          <p:cNvCxnSpPr/>
          <p:nvPr/>
        </p:nvCxnSpPr>
        <p:spPr>
          <a:xfrm>
            <a:off x="0" y="5143500"/>
            <a:ext cx="12192000" cy="0"/>
          </a:xfrm>
          <a:prstGeom prst="line">
            <a:avLst/>
          </a:prstGeom>
          <a:ln w="6350">
            <a:solidFill>
              <a:srgbClr val="2A51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"/>
          <p:cNvSpPr txBox="1"/>
          <p:nvPr/>
        </p:nvSpPr>
        <p:spPr>
          <a:xfrm>
            <a:off x="914400" y="2413000"/>
            <a:ext cx="8128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微软雅黑"/>
              </a:rPr>
              <a:t>感谢聆听</a:t>
            </a:r>
          </a:p>
        </p:txBody>
      </p:sp>
      <p:sp>
        <p:nvSpPr>
          <p:cNvPr id="15" name="subtitle"/>
          <p:cNvSpPr txBox="1"/>
          <p:nvPr/>
        </p:nvSpPr>
        <p:spPr>
          <a:xfrm>
            <a:off x="914400" y="34544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C9DE"/>
                </a:solidFill>
                <a:latin typeface="Arial"/>
                <a:ea typeface="微软雅黑"/>
              </a:rPr>
              <a:t>示例：恳请各位领导批评指正</a:t>
            </a:r>
          </a:p>
        </p:txBody>
      </p:sp>
      <p:sp>
        <p:nvSpPr>
          <p:cNvPr id="16" name="contact"/>
          <p:cNvSpPr txBox="1"/>
          <p:nvPr/>
        </p:nvSpPr>
        <p:spPr>
          <a:xfrm>
            <a:off x="914400" y="5588000"/>
            <a:ext cx="8128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B8C9DE"/>
                </a:solidFill>
                <a:latin typeface="Arial"/>
                <a:ea typeface="微软雅黑"/>
              </a:rPr>
              <a:t>示例单位 · 联系人 · 联系方式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print">
  <a:themeElements>
    <a:clrScheme name="blueprint">
      <a:dk1>
        <a:srgbClr val="24303F"/>
      </a:dk1>
      <a:lt1>
        <a:srgbClr val="FFFFFF"/>
      </a:lt1>
      <a:dk2>
        <a:srgbClr val="123A6B"/>
      </a:dk2>
      <a:lt2>
        <a:srgbClr val="EEF3F9"/>
      </a:lt2>
      <a:accent1>
        <a:srgbClr val="123A6B"/>
      </a:accent1>
      <a:accent2>
        <a:srgbClr val="E39A2D"/>
      </a:accent2>
      <a:accent3>
        <a:srgbClr val="2E6DA4"/>
      </a:accent3>
      <a:accent4>
        <a:srgbClr val="5F6B7A"/>
      </a:accent4>
      <a:accent5>
        <a:srgbClr val="B8C9DE"/>
      </a:accent5>
      <a:accent6>
        <a:srgbClr val="D5DEE8"/>
      </a:accent6>
      <a:hlink>
        <a:srgbClr val="2E6DA4"/>
      </a:hlink>
      <a:folHlink>
        <a:srgbClr val="5F6B7A"/>
      </a:folHlink>
    </a:clrScheme>
    <a:fontScheme name="blueprint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蓝图 模板</dc:title>
  <dc:subject/>
  <dc:creator/>
  <cp:keywords/>
  <dc:description>generated using python-pptx</dc:description>
  <cp:lastModifiedBy/>
  <cp:revision>1</cp:revision>
  <dcterms:created xsi:type="dcterms:W3CDTF">2026-10-27T00:00:00Z</dcterms:created>
  <dcterms:modified xsi:type="dcterms:W3CDTF">2026-10-27T00:00:00Z</dcterms:modified>
  <cp:category/>
</cp:coreProperties>
</file>